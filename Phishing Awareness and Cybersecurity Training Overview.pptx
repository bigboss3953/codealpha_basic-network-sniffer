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Tomorrow Bold" charset="1" panose="00000000000000000000"/>
      <p:regular r:id="rId21"/>
    </p:embeddedFont>
    <p:embeddedFont>
      <p:font typeface="Tomorrow" charset="1" panose="00000000000000000000"/>
      <p:regular r:id="rId22"/>
    </p:embeddedFont>
    <p:embeddedFont>
      <p:font typeface="Open Sauce Light" charset="1" panose="00000400000000000000"/>
      <p:regular r:id="rId23"/>
    </p:embeddedFont>
    <p:embeddedFont>
      <p:font typeface="Open Sauce Medium" charset="1" panose="00000600000000000000"/>
      <p:regular r:id="rId24"/>
    </p:embeddedFont>
    <p:embeddedFont>
      <p:font typeface="Open Sauce Bold" charset="1" panose="0000080000000000000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 Id="rId6" Target="../media/image23.png" Type="http://schemas.openxmlformats.org/officeDocument/2006/relationships/image"/><Relationship Id="rId7" Target="../media/image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4.png" Type="http://schemas.openxmlformats.org/officeDocument/2006/relationships/image"/><Relationship Id="rId7"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17.png" Type="http://schemas.openxmlformats.org/officeDocument/2006/relationships/image"/><Relationship Id="rId7" Target="../media/image18.svg" Type="http://schemas.openxmlformats.org/officeDocument/2006/relationships/image"/><Relationship Id="rId8"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7.png" Type="http://schemas.openxmlformats.org/officeDocument/2006/relationships/image"/><Relationship Id="rId9" Target="../media/image1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29.png" Type="http://schemas.openxmlformats.org/officeDocument/2006/relationships/image"/><Relationship Id="rId7"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0.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1.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2.pn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3.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4.pn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5.png" Type="http://schemas.openxmlformats.org/officeDocument/2006/relationships/image"/><Relationship Id="rId3" Target="../media/image36.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7.pn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grpSp>
        <p:nvGrpSpPr>
          <p:cNvPr name="Group 3" id="3"/>
          <p:cNvGrpSpPr/>
          <p:nvPr/>
        </p:nvGrpSpPr>
        <p:grpSpPr>
          <a:xfrm rot="0">
            <a:off x="0" y="0"/>
            <a:ext cx="11303092" cy="10287000"/>
            <a:chOff x="0" y="0"/>
            <a:chExt cx="2976946" cy="2709333"/>
          </a:xfrm>
        </p:grpSpPr>
        <p:sp>
          <p:nvSpPr>
            <p:cNvPr name="Freeform 4" id="4"/>
            <p:cNvSpPr/>
            <p:nvPr/>
          </p:nvSpPr>
          <p:spPr>
            <a:xfrm flipH="false" flipV="false" rot="0">
              <a:off x="0" y="0"/>
              <a:ext cx="2976946" cy="2709333"/>
            </a:xfrm>
            <a:custGeom>
              <a:avLst/>
              <a:gdLst/>
              <a:ahLst/>
              <a:cxnLst/>
              <a:rect r="r" b="b" t="t" l="l"/>
              <a:pathLst>
                <a:path h="2709333" w="2976946">
                  <a:moveTo>
                    <a:pt x="0" y="0"/>
                  </a:moveTo>
                  <a:lnTo>
                    <a:pt x="2976946" y="0"/>
                  </a:lnTo>
                  <a:lnTo>
                    <a:pt x="2976946" y="2709333"/>
                  </a:lnTo>
                  <a:lnTo>
                    <a:pt x="0" y="2709333"/>
                  </a:lnTo>
                  <a:close/>
                </a:path>
              </a:pathLst>
            </a:custGeom>
            <a:gradFill rotWithShape="true">
              <a:gsLst>
                <a:gs pos="0">
                  <a:srgbClr val="000000">
                    <a:alpha val="70000"/>
                  </a:srgbClr>
                </a:gs>
                <a:gs pos="100000">
                  <a:srgbClr val="000000">
                    <a:alpha val="0"/>
                  </a:srgbClr>
                </a:gs>
              </a:gsLst>
              <a:lin ang="0"/>
            </a:gradFill>
          </p:spPr>
        </p:sp>
        <p:sp>
          <p:nvSpPr>
            <p:cNvPr name="TextBox 5" id="5"/>
            <p:cNvSpPr txBox="true"/>
            <p:nvPr/>
          </p:nvSpPr>
          <p:spPr>
            <a:xfrm>
              <a:off x="0" y="-38100"/>
              <a:ext cx="2976946"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6" id="6"/>
          <p:cNvSpPr/>
          <p:nvPr/>
        </p:nvSpPr>
        <p:spPr>
          <a:xfrm>
            <a:off x="1028700" y="8789644"/>
            <a:ext cx="16230600" cy="0"/>
          </a:xfrm>
          <a:prstGeom prst="line">
            <a:avLst/>
          </a:prstGeom>
          <a:ln cap="flat" w="28575">
            <a:gradFill>
              <a:gsLst>
                <a:gs pos="0">
                  <a:srgbClr val="FFFFFF">
                    <a:alpha val="100000"/>
                  </a:srgbClr>
                </a:gs>
                <a:gs pos="100000">
                  <a:srgbClr val="EDD46F">
                    <a:alpha val="100000"/>
                  </a:srgbClr>
                </a:gs>
              </a:gsLst>
              <a:lin ang="0"/>
            </a:gradFill>
            <a:prstDash val="solid"/>
            <a:headEnd type="none" len="sm" w="sm"/>
            <a:tailEnd type="none" len="sm" w="sm"/>
          </a:ln>
        </p:spPr>
      </p:sp>
      <p:sp>
        <p:nvSpPr>
          <p:cNvPr name="Freeform 7" id="7"/>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8" id="8"/>
          <p:cNvGrpSpPr/>
          <p:nvPr/>
        </p:nvGrpSpPr>
        <p:grpSpPr>
          <a:xfrm rot="0">
            <a:off x="17034934" y="-1304251"/>
            <a:ext cx="1671476" cy="8299445"/>
            <a:chOff x="0" y="0"/>
            <a:chExt cx="440224" cy="2185862"/>
          </a:xfrm>
        </p:grpSpPr>
        <p:sp>
          <p:nvSpPr>
            <p:cNvPr name="Freeform 9" id="9"/>
            <p:cNvSpPr/>
            <p:nvPr/>
          </p:nvSpPr>
          <p:spPr>
            <a:xfrm flipH="false" flipV="false" rot="0">
              <a:off x="0" y="0"/>
              <a:ext cx="440224" cy="2185862"/>
            </a:xfrm>
            <a:custGeom>
              <a:avLst/>
              <a:gdLst/>
              <a:ahLst/>
              <a:cxnLst/>
              <a:rect r="r" b="b" t="t" l="l"/>
              <a:pathLst>
                <a:path h="2185862" w="440224">
                  <a:moveTo>
                    <a:pt x="166744" y="0"/>
                  </a:moveTo>
                  <a:lnTo>
                    <a:pt x="273480" y="0"/>
                  </a:lnTo>
                  <a:cubicBezTo>
                    <a:pt x="365570" y="0"/>
                    <a:pt x="440224" y="74654"/>
                    <a:pt x="440224" y="166744"/>
                  </a:cubicBezTo>
                  <a:lnTo>
                    <a:pt x="440224" y="2019118"/>
                  </a:lnTo>
                  <a:cubicBezTo>
                    <a:pt x="440224" y="2111208"/>
                    <a:pt x="365570" y="2185862"/>
                    <a:pt x="273480" y="2185862"/>
                  </a:cubicBezTo>
                  <a:lnTo>
                    <a:pt x="166744" y="2185862"/>
                  </a:lnTo>
                  <a:cubicBezTo>
                    <a:pt x="74654" y="2185862"/>
                    <a:pt x="0" y="2111208"/>
                    <a:pt x="0" y="2019118"/>
                  </a:cubicBezTo>
                  <a:lnTo>
                    <a:pt x="0" y="166744"/>
                  </a:lnTo>
                  <a:cubicBezTo>
                    <a:pt x="0" y="74654"/>
                    <a:pt x="74654" y="0"/>
                    <a:pt x="166744" y="0"/>
                  </a:cubicBezTo>
                  <a:close/>
                </a:path>
              </a:pathLst>
            </a:custGeom>
            <a:gradFill rotWithShape="true">
              <a:gsLst>
                <a:gs pos="0">
                  <a:srgbClr val="EDD46F">
                    <a:alpha val="100000"/>
                  </a:srgbClr>
                </a:gs>
                <a:gs pos="100000">
                  <a:srgbClr val="000000">
                    <a:alpha val="0"/>
                  </a:srgbClr>
                </a:gs>
              </a:gsLst>
              <a:lin ang="2700000"/>
            </a:gradFill>
          </p:spPr>
        </p:sp>
        <p:sp>
          <p:nvSpPr>
            <p:cNvPr name="TextBox 10" id="10"/>
            <p:cNvSpPr txBox="true"/>
            <p:nvPr/>
          </p:nvSpPr>
          <p:spPr>
            <a:xfrm>
              <a:off x="0" y="-38100"/>
              <a:ext cx="440224" cy="2223962"/>
            </a:xfrm>
            <a:prstGeom prst="rect">
              <a:avLst/>
            </a:prstGeom>
          </p:spPr>
          <p:txBody>
            <a:bodyPr anchor="ctr" rtlCol="false" tIns="50800" lIns="50800" bIns="50800" rIns="50800"/>
            <a:lstStyle/>
            <a:p>
              <a:pPr algn="ctr" marL="0" indent="0" lvl="0">
                <a:lnSpc>
                  <a:spcPts val="2710"/>
                </a:lnSpc>
              </a:pPr>
            </a:p>
          </p:txBody>
        </p:sp>
      </p:grpSp>
      <p:grpSp>
        <p:nvGrpSpPr>
          <p:cNvPr name="Group 11" id="11"/>
          <p:cNvGrpSpPr/>
          <p:nvPr/>
        </p:nvGrpSpPr>
        <p:grpSpPr>
          <a:xfrm rot="0">
            <a:off x="16087177" y="-1304251"/>
            <a:ext cx="676332" cy="8299445"/>
            <a:chOff x="0" y="0"/>
            <a:chExt cx="178128" cy="2185862"/>
          </a:xfrm>
        </p:grpSpPr>
        <p:sp>
          <p:nvSpPr>
            <p:cNvPr name="Freeform 12" id="12"/>
            <p:cNvSpPr/>
            <p:nvPr/>
          </p:nvSpPr>
          <p:spPr>
            <a:xfrm flipH="false" flipV="false" rot="0">
              <a:off x="0" y="0"/>
              <a:ext cx="178128" cy="2185862"/>
            </a:xfrm>
            <a:custGeom>
              <a:avLst/>
              <a:gdLst/>
              <a:ahLst/>
              <a:cxnLst/>
              <a:rect r="r" b="b" t="t" l="l"/>
              <a:pathLst>
                <a:path h="2185862" w="178128">
                  <a:moveTo>
                    <a:pt x="89064" y="0"/>
                  </a:moveTo>
                  <a:lnTo>
                    <a:pt x="89064" y="0"/>
                  </a:lnTo>
                  <a:cubicBezTo>
                    <a:pt x="138253" y="0"/>
                    <a:pt x="178128" y="39875"/>
                    <a:pt x="178128" y="89064"/>
                  </a:cubicBezTo>
                  <a:lnTo>
                    <a:pt x="178128" y="2096798"/>
                  </a:lnTo>
                  <a:cubicBezTo>
                    <a:pt x="178128" y="2145987"/>
                    <a:pt x="138253" y="2185862"/>
                    <a:pt x="89064" y="2185862"/>
                  </a:cubicBezTo>
                  <a:lnTo>
                    <a:pt x="89064" y="2185862"/>
                  </a:lnTo>
                  <a:cubicBezTo>
                    <a:pt x="65443" y="2185862"/>
                    <a:pt x="42789" y="2176479"/>
                    <a:pt x="26086" y="2159776"/>
                  </a:cubicBezTo>
                  <a:cubicBezTo>
                    <a:pt x="9384" y="2143073"/>
                    <a:pt x="0" y="2120419"/>
                    <a:pt x="0" y="2096798"/>
                  </a:cubicBezTo>
                  <a:lnTo>
                    <a:pt x="0" y="89064"/>
                  </a:lnTo>
                  <a:cubicBezTo>
                    <a:pt x="0" y="65443"/>
                    <a:pt x="9384" y="42789"/>
                    <a:pt x="26086" y="26086"/>
                  </a:cubicBezTo>
                  <a:cubicBezTo>
                    <a:pt x="42789" y="9384"/>
                    <a:pt x="65443" y="0"/>
                    <a:pt x="89064" y="0"/>
                  </a:cubicBezTo>
                  <a:close/>
                </a:path>
              </a:pathLst>
            </a:custGeom>
            <a:gradFill rotWithShape="true">
              <a:gsLst>
                <a:gs pos="0">
                  <a:srgbClr val="EDD46F">
                    <a:alpha val="100000"/>
                  </a:srgbClr>
                </a:gs>
                <a:gs pos="100000">
                  <a:srgbClr val="000000">
                    <a:alpha val="0"/>
                  </a:srgbClr>
                </a:gs>
              </a:gsLst>
              <a:lin ang="2700000"/>
            </a:gradFill>
          </p:spPr>
        </p:sp>
        <p:sp>
          <p:nvSpPr>
            <p:cNvPr name="TextBox 13" id="13"/>
            <p:cNvSpPr txBox="true"/>
            <p:nvPr/>
          </p:nvSpPr>
          <p:spPr>
            <a:xfrm>
              <a:off x="0" y="-38100"/>
              <a:ext cx="178128" cy="2223962"/>
            </a:xfrm>
            <a:prstGeom prst="rect">
              <a:avLst/>
            </a:prstGeom>
          </p:spPr>
          <p:txBody>
            <a:bodyPr anchor="ctr" rtlCol="false" tIns="50800" lIns="50800" bIns="50800" rIns="50800"/>
            <a:lstStyle/>
            <a:p>
              <a:pPr algn="ctr" marL="0" indent="0" lvl="0">
                <a:lnSpc>
                  <a:spcPts val="2710"/>
                </a:lnSpc>
              </a:pPr>
            </a:p>
          </p:txBody>
        </p:sp>
      </p:grpSp>
      <p:sp>
        <p:nvSpPr>
          <p:cNvPr name="Freeform 14" id="14"/>
          <p:cNvSpPr/>
          <p:nvPr/>
        </p:nvSpPr>
        <p:spPr>
          <a:xfrm flipH="false" flipV="false" rot="0">
            <a:off x="13648950" y="7051207"/>
            <a:ext cx="1292348" cy="684944"/>
          </a:xfrm>
          <a:custGeom>
            <a:avLst/>
            <a:gdLst/>
            <a:ahLst/>
            <a:cxnLst/>
            <a:rect r="r" b="b" t="t" l="l"/>
            <a:pathLst>
              <a:path h="684944" w="1292348">
                <a:moveTo>
                  <a:pt x="0" y="0"/>
                </a:moveTo>
                <a:lnTo>
                  <a:pt x="1292348" y="0"/>
                </a:lnTo>
                <a:lnTo>
                  <a:pt x="1292348" y="684945"/>
                </a:lnTo>
                <a:lnTo>
                  <a:pt x="0" y="684945"/>
                </a:lnTo>
                <a:lnTo>
                  <a:pt x="0" y="0"/>
                </a:lnTo>
                <a:close/>
              </a:path>
            </a:pathLst>
          </a:custGeom>
          <a:blipFill>
            <a:blip r:embed="rId5">
              <a:alphaModFix amt="44999"/>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5400000">
            <a:off x="13204443" y="-545400"/>
            <a:ext cx="5765468" cy="1405333"/>
          </a:xfrm>
          <a:custGeom>
            <a:avLst/>
            <a:gdLst/>
            <a:ahLst/>
            <a:cxnLst/>
            <a:rect r="r" b="b" t="t" l="l"/>
            <a:pathLst>
              <a:path h="1405333" w="5765468">
                <a:moveTo>
                  <a:pt x="0" y="0"/>
                </a:moveTo>
                <a:lnTo>
                  <a:pt x="5765468" y="0"/>
                </a:lnTo>
                <a:lnTo>
                  <a:pt x="5765468" y="1405333"/>
                </a:lnTo>
                <a:lnTo>
                  <a:pt x="0" y="1405333"/>
                </a:lnTo>
                <a:lnTo>
                  <a:pt x="0" y="0"/>
                </a:lnTo>
                <a:close/>
              </a:path>
            </a:pathLst>
          </a:custGeom>
          <a:blipFill>
            <a:blip r:embed="rId7"/>
            <a:stretch>
              <a:fillRect l="0" t="0" r="0" b="0"/>
            </a:stretch>
          </a:blipFill>
        </p:spPr>
      </p:sp>
      <p:sp>
        <p:nvSpPr>
          <p:cNvPr name="Freeform 16" id="16"/>
          <p:cNvSpPr/>
          <p:nvPr/>
        </p:nvSpPr>
        <p:spPr>
          <a:xfrm flipH="false" flipV="false" rot="-5400000">
            <a:off x="14822698" y="6038175"/>
            <a:ext cx="4424472" cy="1078465"/>
          </a:xfrm>
          <a:custGeom>
            <a:avLst/>
            <a:gdLst/>
            <a:ahLst/>
            <a:cxnLst/>
            <a:rect r="r" b="b" t="t" l="l"/>
            <a:pathLst>
              <a:path h="1078465" w="4424472">
                <a:moveTo>
                  <a:pt x="0" y="0"/>
                </a:moveTo>
                <a:lnTo>
                  <a:pt x="4424472" y="0"/>
                </a:lnTo>
                <a:lnTo>
                  <a:pt x="4424472" y="1078465"/>
                </a:lnTo>
                <a:lnTo>
                  <a:pt x="0" y="1078465"/>
                </a:lnTo>
                <a:lnTo>
                  <a:pt x="0" y="0"/>
                </a:lnTo>
                <a:close/>
              </a:path>
            </a:pathLst>
          </a:custGeom>
          <a:blipFill>
            <a:blip r:embed="rId7"/>
            <a:stretch>
              <a:fillRect l="0" t="0" r="0" b="0"/>
            </a:stretch>
          </a:blipFill>
        </p:spPr>
      </p:sp>
      <p:sp>
        <p:nvSpPr>
          <p:cNvPr name="Freeform 17" id="17"/>
          <p:cNvSpPr/>
          <p:nvPr/>
        </p:nvSpPr>
        <p:spPr>
          <a:xfrm flipH="false" flipV="false" rot="-5400000">
            <a:off x="-4220308" y="3621937"/>
            <a:ext cx="8440615" cy="2057400"/>
          </a:xfrm>
          <a:custGeom>
            <a:avLst/>
            <a:gdLst/>
            <a:ahLst/>
            <a:cxnLst/>
            <a:rect r="r" b="b" t="t" l="l"/>
            <a:pathLst>
              <a:path h="2057400" w="8440615">
                <a:moveTo>
                  <a:pt x="0" y="0"/>
                </a:moveTo>
                <a:lnTo>
                  <a:pt x="8440616" y="0"/>
                </a:lnTo>
                <a:lnTo>
                  <a:pt x="8440616" y="2057400"/>
                </a:lnTo>
                <a:lnTo>
                  <a:pt x="0" y="2057400"/>
                </a:lnTo>
                <a:lnTo>
                  <a:pt x="0" y="0"/>
                </a:lnTo>
                <a:close/>
              </a:path>
            </a:pathLst>
          </a:custGeom>
          <a:blipFill>
            <a:blip r:embed="rId8"/>
            <a:stretch>
              <a:fillRect l="0" t="0" r="0" b="0"/>
            </a:stretch>
          </a:blipFill>
        </p:spPr>
      </p:sp>
      <p:sp>
        <p:nvSpPr>
          <p:cNvPr name="TextBox 18" id="18"/>
          <p:cNvSpPr txBox="true"/>
          <p:nvPr/>
        </p:nvSpPr>
        <p:spPr>
          <a:xfrm rot="0">
            <a:off x="1531322" y="3129881"/>
            <a:ext cx="12691400" cy="2867086"/>
          </a:xfrm>
          <a:prstGeom prst="rect">
            <a:avLst/>
          </a:prstGeom>
        </p:spPr>
        <p:txBody>
          <a:bodyPr anchor="t" rtlCol="false" tIns="0" lIns="0" bIns="0" rIns="0">
            <a:spAutoFit/>
          </a:bodyPr>
          <a:lstStyle/>
          <a:p>
            <a:pPr algn="l" marL="0" indent="0" lvl="0">
              <a:lnSpc>
                <a:spcPts val="11546"/>
              </a:lnSpc>
              <a:spcBef>
                <a:spcPct val="0"/>
              </a:spcBef>
            </a:pPr>
            <a:r>
              <a:rPr lang="en-US" b="true" sz="8247">
                <a:solidFill>
                  <a:srgbClr val="DFC869"/>
                </a:solidFill>
                <a:latin typeface="Tomorrow Bold"/>
                <a:ea typeface="Tomorrow Bold"/>
                <a:cs typeface="Tomorrow Bold"/>
                <a:sym typeface="Tomorrow Bold"/>
              </a:rPr>
              <a:t>PHISHING AWARENESS</a:t>
            </a:r>
          </a:p>
        </p:txBody>
      </p:sp>
      <p:sp>
        <p:nvSpPr>
          <p:cNvPr name="TextBox 19" id="19"/>
          <p:cNvSpPr txBox="true"/>
          <p:nvPr/>
        </p:nvSpPr>
        <p:spPr>
          <a:xfrm rot="0">
            <a:off x="1577945" y="5873142"/>
            <a:ext cx="12691400" cy="1097335"/>
          </a:xfrm>
          <a:prstGeom prst="rect">
            <a:avLst/>
          </a:prstGeom>
        </p:spPr>
        <p:txBody>
          <a:bodyPr anchor="t" rtlCol="false" tIns="0" lIns="0" bIns="0" rIns="0">
            <a:spAutoFit/>
          </a:bodyPr>
          <a:lstStyle/>
          <a:p>
            <a:pPr algn="l" marL="0" indent="0" lvl="0">
              <a:lnSpc>
                <a:spcPts val="8972"/>
              </a:lnSpc>
              <a:spcBef>
                <a:spcPct val="0"/>
              </a:spcBef>
            </a:pPr>
            <a:r>
              <a:rPr lang="en-US" sz="6408">
                <a:solidFill>
                  <a:srgbClr val="FFFFFF"/>
                </a:solidFill>
                <a:latin typeface="Tomorrow"/>
                <a:ea typeface="Tomorrow"/>
                <a:cs typeface="Tomorrow"/>
                <a:sym typeface="Tomorrow"/>
              </a:rPr>
              <a:t>AND CYBERSECURITY TRAINING</a:t>
            </a:r>
          </a:p>
        </p:txBody>
      </p:sp>
      <p:sp>
        <p:nvSpPr>
          <p:cNvPr name="TextBox 20" id="20"/>
          <p:cNvSpPr txBox="true"/>
          <p:nvPr/>
        </p:nvSpPr>
        <p:spPr>
          <a:xfrm rot="0">
            <a:off x="1531322" y="7157244"/>
            <a:ext cx="7862451" cy="425245"/>
          </a:xfrm>
          <a:prstGeom prst="rect">
            <a:avLst/>
          </a:prstGeom>
        </p:spPr>
        <p:txBody>
          <a:bodyPr anchor="t" rtlCol="false" tIns="0" lIns="0" bIns="0" rIns="0">
            <a:spAutoFit/>
          </a:bodyPr>
          <a:lstStyle/>
          <a:p>
            <a:pPr algn="l" marL="0" indent="0" lvl="0">
              <a:lnSpc>
                <a:spcPts val="3481"/>
              </a:lnSpc>
              <a:spcBef>
                <a:spcPct val="0"/>
              </a:spcBef>
            </a:pPr>
            <a:r>
              <a:rPr lang="en-US" sz="2486">
                <a:solidFill>
                  <a:srgbClr val="FFFFFF"/>
                </a:solidFill>
                <a:latin typeface="Open Sauce Light"/>
                <a:ea typeface="Open Sauce Light"/>
                <a:cs typeface="Open Sauce Light"/>
                <a:sym typeface="Open Sauce Light"/>
              </a:rPr>
              <a:t>Protect Yourself from Cyber Threats</a:t>
            </a:r>
          </a:p>
        </p:txBody>
      </p:sp>
      <p:sp>
        <p:nvSpPr>
          <p:cNvPr name="TextBox 21" id="21"/>
          <p:cNvSpPr txBox="true"/>
          <p:nvPr/>
        </p:nvSpPr>
        <p:spPr>
          <a:xfrm rot="0">
            <a:off x="1028700" y="9360024"/>
            <a:ext cx="1414611" cy="210306"/>
          </a:xfrm>
          <a:prstGeom prst="rect">
            <a:avLst/>
          </a:prstGeom>
        </p:spPr>
        <p:txBody>
          <a:bodyPr anchor="t" rtlCol="false" tIns="0" lIns="0" bIns="0" rIns="0">
            <a:spAutoFit/>
          </a:bodyPr>
          <a:lstStyle/>
          <a:p>
            <a:pPr algn="l" marL="0" indent="0" lvl="0">
              <a:lnSpc>
                <a:spcPts val="1679"/>
              </a:lnSpc>
              <a:spcBef>
                <a:spcPct val="0"/>
              </a:spcBef>
            </a:pPr>
            <a:r>
              <a:rPr lang="en-US" sz="1199">
                <a:solidFill>
                  <a:srgbClr val="DDDDDD"/>
                </a:solidFill>
                <a:latin typeface="Open Sauce Light"/>
                <a:ea typeface="Open Sauce Light"/>
                <a:cs typeface="Open Sauce Light"/>
                <a:sym typeface="Open Sauce Light"/>
              </a:rPr>
              <a:t>Presented by:</a:t>
            </a:r>
          </a:p>
        </p:txBody>
      </p:sp>
      <p:sp>
        <p:nvSpPr>
          <p:cNvPr name="TextBox 22" id="22"/>
          <p:cNvSpPr txBox="true"/>
          <p:nvPr/>
        </p:nvSpPr>
        <p:spPr>
          <a:xfrm rot="0">
            <a:off x="1736006" y="918754"/>
            <a:ext cx="2280392" cy="261690"/>
          </a:xfrm>
          <a:prstGeom prst="rect">
            <a:avLst/>
          </a:prstGeom>
        </p:spPr>
        <p:txBody>
          <a:bodyPr anchor="t" rtlCol="false" tIns="0" lIns="0" bIns="0" rIns="0">
            <a:spAutoFit/>
          </a:bodyPr>
          <a:lstStyle/>
          <a:p>
            <a:pPr algn="l" marL="0" indent="0" lvl="0">
              <a:lnSpc>
                <a:spcPts val="2148"/>
              </a:lnSpc>
              <a:spcBef>
                <a:spcPct val="0"/>
              </a:spcBef>
            </a:pPr>
            <a:r>
              <a:rPr lang="en-US" sz="1534">
                <a:solidFill>
                  <a:srgbClr val="DDDDDD"/>
                </a:solidFill>
                <a:latin typeface="Open Sauce Light"/>
                <a:ea typeface="Open Sauce Light"/>
                <a:cs typeface="Open Sauce Light"/>
                <a:sym typeface="Open Sauce Light"/>
              </a:rPr>
              <a:t>CyberSecurity Training</a:t>
            </a:r>
          </a:p>
        </p:txBody>
      </p:sp>
      <p:sp>
        <p:nvSpPr>
          <p:cNvPr name="TextBox 23" id="23"/>
          <p:cNvSpPr txBox="true"/>
          <p:nvPr/>
        </p:nvSpPr>
        <p:spPr>
          <a:xfrm rot="0">
            <a:off x="2071344" y="9304536"/>
            <a:ext cx="2664910" cy="323362"/>
          </a:xfrm>
          <a:prstGeom prst="rect">
            <a:avLst/>
          </a:prstGeom>
        </p:spPr>
        <p:txBody>
          <a:bodyPr anchor="t" rtlCol="false" tIns="0" lIns="0" bIns="0" rIns="0">
            <a:spAutoFit/>
          </a:bodyPr>
          <a:lstStyle/>
          <a:p>
            <a:pPr algn="l" marL="0" indent="0" lvl="0">
              <a:lnSpc>
                <a:spcPts val="2651"/>
              </a:lnSpc>
              <a:spcBef>
                <a:spcPct val="0"/>
              </a:spcBef>
            </a:pPr>
            <a:r>
              <a:rPr lang="en-US" b="true" sz="1894">
                <a:solidFill>
                  <a:srgbClr val="DFC869"/>
                </a:solidFill>
                <a:latin typeface="Open Sauce Medium"/>
                <a:ea typeface="Open Sauce Medium"/>
                <a:cs typeface="Open Sauce Medium"/>
                <a:sym typeface="Open Sauce Medium"/>
              </a:rPr>
              <a:t>Promise Anthony</a:t>
            </a:r>
          </a:p>
        </p:txBody>
      </p:sp>
      <p:sp>
        <p:nvSpPr>
          <p:cNvPr name="TextBox 24" id="24"/>
          <p:cNvSpPr txBox="true"/>
          <p:nvPr/>
        </p:nvSpPr>
        <p:spPr>
          <a:xfrm rot="0">
            <a:off x="13805433" y="9304536"/>
            <a:ext cx="3453867" cy="323362"/>
          </a:xfrm>
          <a:prstGeom prst="rect">
            <a:avLst/>
          </a:prstGeom>
        </p:spPr>
        <p:txBody>
          <a:bodyPr anchor="t" rtlCol="false" tIns="0" lIns="0" bIns="0" rIns="0">
            <a:spAutoFit/>
          </a:bodyPr>
          <a:lstStyle/>
          <a:p>
            <a:pPr algn="r" marL="0" indent="0" lvl="0">
              <a:lnSpc>
                <a:spcPts val="2651"/>
              </a:lnSpc>
              <a:spcBef>
                <a:spcPct val="0"/>
              </a:spcBef>
            </a:pPr>
            <a:r>
              <a:rPr lang="en-US" b="true" sz="1894">
                <a:solidFill>
                  <a:srgbClr val="DDDDDD"/>
                </a:solidFill>
                <a:latin typeface="Open Sauce Medium"/>
                <a:ea typeface="Open Sauce Medium"/>
                <a:cs typeface="Open Sauce Medium"/>
                <a:sym typeface="Open Sauce Medium"/>
              </a:rPr>
              <a:t>September 19, 2026</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079354" y="1849739"/>
            <a:ext cx="8179946" cy="7408561"/>
            <a:chOff x="0" y="0"/>
            <a:chExt cx="1005678" cy="910841"/>
          </a:xfrm>
        </p:grpSpPr>
        <p:sp>
          <p:nvSpPr>
            <p:cNvPr name="Freeform 4" id="4"/>
            <p:cNvSpPr/>
            <p:nvPr/>
          </p:nvSpPr>
          <p:spPr>
            <a:xfrm flipH="false" flipV="false" rot="0">
              <a:off x="0" y="0"/>
              <a:ext cx="1005678" cy="910841"/>
            </a:xfrm>
            <a:custGeom>
              <a:avLst/>
              <a:gdLst/>
              <a:ahLst/>
              <a:cxnLst/>
              <a:rect r="r" b="b" t="t" l="l"/>
              <a:pathLst>
                <a:path h="910841" w="1005678">
                  <a:moveTo>
                    <a:pt x="49215" y="0"/>
                  </a:moveTo>
                  <a:lnTo>
                    <a:pt x="956463" y="0"/>
                  </a:lnTo>
                  <a:cubicBezTo>
                    <a:pt x="969516" y="0"/>
                    <a:pt x="982034" y="5185"/>
                    <a:pt x="991263" y="14415"/>
                  </a:cubicBezTo>
                  <a:cubicBezTo>
                    <a:pt x="1000493" y="23645"/>
                    <a:pt x="1005678" y="36163"/>
                    <a:pt x="1005678" y="49215"/>
                  </a:cubicBezTo>
                  <a:lnTo>
                    <a:pt x="1005678" y="861626"/>
                  </a:lnTo>
                  <a:cubicBezTo>
                    <a:pt x="1005678" y="874678"/>
                    <a:pt x="1000493" y="887196"/>
                    <a:pt x="991263" y="896426"/>
                  </a:cubicBezTo>
                  <a:cubicBezTo>
                    <a:pt x="982034" y="905656"/>
                    <a:pt x="969516" y="910841"/>
                    <a:pt x="956463" y="910841"/>
                  </a:cubicBezTo>
                  <a:lnTo>
                    <a:pt x="49215" y="910841"/>
                  </a:lnTo>
                  <a:cubicBezTo>
                    <a:pt x="36163" y="910841"/>
                    <a:pt x="23645" y="905656"/>
                    <a:pt x="14415" y="896426"/>
                  </a:cubicBezTo>
                  <a:cubicBezTo>
                    <a:pt x="5185" y="887196"/>
                    <a:pt x="0" y="874678"/>
                    <a:pt x="0" y="861626"/>
                  </a:cubicBezTo>
                  <a:lnTo>
                    <a:pt x="0" y="49215"/>
                  </a:lnTo>
                  <a:cubicBezTo>
                    <a:pt x="0" y="36163"/>
                    <a:pt x="5185" y="23645"/>
                    <a:pt x="14415" y="14415"/>
                  </a:cubicBezTo>
                  <a:cubicBezTo>
                    <a:pt x="23645" y="5185"/>
                    <a:pt x="36163" y="0"/>
                    <a:pt x="49215" y="0"/>
                  </a:cubicBezTo>
                  <a:close/>
                </a:path>
              </a:pathLst>
            </a:custGeom>
            <a:blipFill>
              <a:blip r:embed="rId4"/>
              <a:stretch>
                <a:fillRect l="-527" t="0" r="-527" b="0"/>
              </a:stretch>
            </a:blipFill>
          </p:spPr>
        </p:sp>
      </p:grpSp>
      <p:grpSp>
        <p:nvGrpSpPr>
          <p:cNvPr name="Group 5" id="5"/>
          <p:cNvGrpSpPr/>
          <p:nvPr/>
        </p:nvGrpSpPr>
        <p:grpSpPr>
          <a:xfrm rot="0">
            <a:off x="1303322" y="6824532"/>
            <a:ext cx="8797862" cy="2433768"/>
            <a:chOff x="0" y="0"/>
            <a:chExt cx="2317132" cy="640992"/>
          </a:xfrm>
        </p:grpSpPr>
        <p:sp>
          <p:nvSpPr>
            <p:cNvPr name="Freeform 6" id="6"/>
            <p:cNvSpPr/>
            <p:nvPr/>
          </p:nvSpPr>
          <p:spPr>
            <a:xfrm flipH="false" flipV="false" rot="0">
              <a:off x="0" y="0"/>
              <a:ext cx="2317133" cy="640992"/>
            </a:xfrm>
            <a:custGeom>
              <a:avLst/>
              <a:gdLst/>
              <a:ahLst/>
              <a:cxnLst/>
              <a:rect r="r" b="b" t="t" l="l"/>
              <a:pathLst>
                <a:path h="640992" w="2317133">
                  <a:moveTo>
                    <a:pt x="24639" y="0"/>
                  </a:moveTo>
                  <a:lnTo>
                    <a:pt x="2292493" y="0"/>
                  </a:lnTo>
                  <a:cubicBezTo>
                    <a:pt x="2306101" y="0"/>
                    <a:pt x="2317133" y="11031"/>
                    <a:pt x="2317133" y="24639"/>
                  </a:cubicBezTo>
                  <a:lnTo>
                    <a:pt x="2317133" y="616353"/>
                  </a:lnTo>
                  <a:cubicBezTo>
                    <a:pt x="2317133" y="629961"/>
                    <a:pt x="2306101" y="640992"/>
                    <a:pt x="2292493" y="640992"/>
                  </a:cubicBezTo>
                  <a:lnTo>
                    <a:pt x="24639" y="640992"/>
                  </a:lnTo>
                  <a:cubicBezTo>
                    <a:pt x="11031" y="640992"/>
                    <a:pt x="0" y="629961"/>
                    <a:pt x="0" y="616353"/>
                  </a:cubicBezTo>
                  <a:lnTo>
                    <a:pt x="0" y="24639"/>
                  </a:lnTo>
                  <a:cubicBezTo>
                    <a:pt x="0" y="11031"/>
                    <a:pt x="11031" y="0"/>
                    <a:pt x="24639" y="0"/>
                  </a:cubicBezTo>
                  <a:close/>
                </a:path>
              </a:pathLst>
            </a:custGeom>
            <a:gradFill rotWithShape="true">
              <a:gsLst>
                <a:gs pos="0">
                  <a:srgbClr val="EDD46F">
                    <a:alpha val="100000"/>
                  </a:srgbClr>
                </a:gs>
                <a:gs pos="100000">
                  <a:srgbClr val="726321">
                    <a:alpha val="100000"/>
                  </a:srgbClr>
                </a:gs>
              </a:gsLst>
              <a:lin ang="2700000"/>
            </a:gradFill>
          </p:spPr>
        </p:sp>
        <p:sp>
          <p:nvSpPr>
            <p:cNvPr name="TextBox 7" id="7"/>
            <p:cNvSpPr txBox="true"/>
            <p:nvPr/>
          </p:nvSpPr>
          <p:spPr>
            <a:xfrm>
              <a:off x="0" y="-28575"/>
              <a:ext cx="2317132" cy="669567"/>
            </a:xfrm>
            <a:prstGeom prst="rect">
              <a:avLst/>
            </a:prstGeom>
          </p:spPr>
          <p:txBody>
            <a:bodyPr anchor="ctr" rtlCol="false" tIns="50800" lIns="50800" bIns="50800" rIns="50800"/>
            <a:lstStyle/>
            <a:p>
              <a:pPr algn="ctr" marL="0" indent="0" lvl="0">
                <a:lnSpc>
                  <a:spcPts val="2196"/>
                </a:lnSpc>
              </a:pPr>
            </a:p>
          </p:txBody>
        </p:sp>
      </p:grpSp>
      <p:sp>
        <p:nvSpPr>
          <p:cNvPr name="Freeform 8" id="8"/>
          <p:cNvSpPr/>
          <p:nvPr/>
        </p:nvSpPr>
        <p:spPr>
          <a:xfrm flipH="false" flipV="false" rot="0">
            <a:off x="1691266" y="7165138"/>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9" id="9"/>
          <p:cNvSpPr/>
          <p:nvPr/>
        </p:nvSpPr>
        <p:spPr>
          <a:xfrm flipH="false" flipV="false" rot="0">
            <a:off x="1691266" y="7666463"/>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0" id="10"/>
          <p:cNvSpPr/>
          <p:nvPr/>
        </p:nvSpPr>
        <p:spPr>
          <a:xfrm flipH="false" flipV="false" rot="0">
            <a:off x="1691266" y="8167788"/>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91266" y="8669112"/>
            <a:ext cx="248581" cy="248581"/>
          </a:xfrm>
          <a:custGeom>
            <a:avLst/>
            <a:gdLst/>
            <a:ahLst/>
            <a:cxnLst/>
            <a:rect r="r" b="b" t="t" l="l"/>
            <a:pathLst>
              <a:path h="248581" w="248581">
                <a:moveTo>
                  <a:pt x="0" y="0"/>
                </a:moveTo>
                <a:lnTo>
                  <a:pt x="248581" y="0"/>
                </a:lnTo>
                <a:lnTo>
                  <a:pt x="248581" y="248582"/>
                </a:lnTo>
                <a:lnTo>
                  <a:pt x="0" y="2485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5400000">
            <a:off x="13862779" y="4444689"/>
            <a:ext cx="6793042" cy="1655804"/>
          </a:xfrm>
          <a:custGeom>
            <a:avLst/>
            <a:gdLst/>
            <a:ahLst/>
            <a:cxnLst/>
            <a:rect r="r" b="b" t="t" l="l"/>
            <a:pathLst>
              <a:path h="1655804" w="6793042">
                <a:moveTo>
                  <a:pt x="0" y="0"/>
                </a:moveTo>
                <a:lnTo>
                  <a:pt x="6793042" y="0"/>
                </a:lnTo>
                <a:lnTo>
                  <a:pt x="6793042" y="1655804"/>
                </a:lnTo>
                <a:lnTo>
                  <a:pt x="0" y="1655804"/>
                </a:lnTo>
                <a:lnTo>
                  <a:pt x="0" y="0"/>
                </a:lnTo>
                <a:close/>
              </a:path>
            </a:pathLst>
          </a:custGeom>
          <a:blipFill>
            <a:blip r:embed="rId7"/>
            <a:stretch>
              <a:fillRect l="0" t="0" r="0" b="0"/>
            </a:stretch>
          </a:blipFill>
        </p:spPr>
      </p:sp>
      <p:sp>
        <p:nvSpPr>
          <p:cNvPr name="Freeform 13" id="13"/>
          <p:cNvSpPr/>
          <p:nvPr/>
        </p:nvSpPr>
        <p:spPr>
          <a:xfrm flipH="false" flipV="false" rot="-5400000">
            <a:off x="-3396521" y="5996630"/>
            <a:ext cx="6793042" cy="1655804"/>
          </a:xfrm>
          <a:custGeom>
            <a:avLst/>
            <a:gdLst/>
            <a:ahLst/>
            <a:cxnLst/>
            <a:rect r="r" b="b" t="t" l="l"/>
            <a:pathLst>
              <a:path h="1655804" w="6793042">
                <a:moveTo>
                  <a:pt x="0" y="0"/>
                </a:moveTo>
                <a:lnTo>
                  <a:pt x="6793042" y="0"/>
                </a:lnTo>
                <a:lnTo>
                  <a:pt x="6793042" y="1655804"/>
                </a:lnTo>
                <a:lnTo>
                  <a:pt x="0" y="1655804"/>
                </a:lnTo>
                <a:lnTo>
                  <a:pt x="0" y="0"/>
                </a:lnTo>
                <a:close/>
              </a:path>
            </a:pathLst>
          </a:custGeom>
          <a:blipFill>
            <a:blip r:embed="rId7"/>
            <a:stretch>
              <a:fillRect l="0" t="0" r="0" b="0"/>
            </a:stretch>
          </a:blipFill>
        </p:spPr>
      </p:sp>
      <p:sp>
        <p:nvSpPr>
          <p:cNvPr name="TextBox 14" id="14"/>
          <p:cNvSpPr txBox="true"/>
          <p:nvPr/>
        </p:nvSpPr>
        <p:spPr>
          <a:xfrm rot="0">
            <a:off x="1736006" y="918754"/>
            <a:ext cx="1818906" cy="544601"/>
          </a:xfrm>
          <a:prstGeom prst="rect">
            <a:avLst/>
          </a:prstGeom>
        </p:spPr>
        <p:txBody>
          <a:bodyPr anchor="t" rtlCol="false" tIns="0" lIns="0" bIns="0" rIns="0">
            <a:spAutoFit/>
          </a:bodyPr>
          <a:lstStyle/>
          <a:p>
            <a:pPr algn="l" marL="0" indent="0" lvl="0">
              <a:lnSpc>
                <a:spcPts val="2194"/>
              </a:lnSpc>
              <a:spcBef>
                <a:spcPct val="0"/>
              </a:spcBef>
            </a:pPr>
            <a:r>
              <a:rPr lang="en-US" sz="1567">
                <a:solidFill>
                  <a:srgbClr val="DDDDDD"/>
                </a:solidFill>
                <a:latin typeface="Open Sauce Light"/>
                <a:ea typeface="Open Sauce Light"/>
                <a:cs typeface="Open Sauce Light"/>
                <a:sym typeface="Open Sauce Light"/>
              </a:rPr>
              <a:t>Cybersecurity Training</a:t>
            </a:r>
          </a:p>
        </p:txBody>
      </p:sp>
      <p:sp>
        <p:nvSpPr>
          <p:cNvPr name="TextBox 15" id="15"/>
          <p:cNvSpPr txBox="true"/>
          <p:nvPr/>
        </p:nvSpPr>
        <p:spPr>
          <a:xfrm rot="0">
            <a:off x="15198136" y="918754"/>
            <a:ext cx="2061164" cy="264977"/>
          </a:xfrm>
          <a:prstGeom prst="rect">
            <a:avLst/>
          </a:prstGeom>
        </p:spPr>
        <p:txBody>
          <a:bodyPr anchor="t" rtlCol="false" tIns="0" lIns="0" bIns="0" rIns="0">
            <a:spAutoFit/>
          </a:bodyPr>
          <a:lstStyle/>
          <a:p>
            <a:pPr algn="r" marL="0" indent="0" lvl="0">
              <a:lnSpc>
                <a:spcPts val="2194"/>
              </a:lnSpc>
              <a:spcBef>
                <a:spcPct val="0"/>
              </a:spcBef>
            </a:pPr>
            <a:r>
              <a:rPr lang="en-US" sz="1567">
                <a:solidFill>
                  <a:srgbClr val="DDDDDD"/>
                </a:solidFill>
                <a:latin typeface="Open Sauce Light"/>
                <a:ea typeface="Open Sauce Light"/>
                <a:cs typeface="Open Sauce Light"/>
                <a:sym typeface="Open Sauce Light"/>
              </a:rPr>
              <a:t>September 19, 2026</a:t>
            </a:r>
          </a:p>
        </p:txBody>
      </p:sp>
      <p:sp>
        <p:nvSpPr>
          <p:cNvPr name="TextBox 16" id="16"/>
          <p:cNvSpPr txBox="true"/>
          <p:nvPr/>
        </p:nvSpPr>
        <p:spPr>
          <a:xfrm rot="0">
            <a:off x="1303322" y="2532881"/>
            <a:ext cx="7177847" cy="917859"/>
          </a:xfrm>
          <a:prstGeom prst="rect">
            <a:avLst/>
          </a:prstGeom>
        </p:spPr>
        <p:txBody>
          <a:bodyPr anchor="t" rtlCol="false" tIns="0" lIns="0" bIns="0" rIns="0">
            <a:spAutoFit/>
          </a:bodyPr>
          <a:lstStyle/>
          <a:p>
            <a:pPr algn="l" marL="0" indent="0" lvl="0">
              <a:lnSpc>
                <a:spcPts val="7407"/>
              </a:lnSpc>
              <a:spcBef>
                <a:spcPct val="0"/>
              </a:spcBef>
            </a:pPr>
            <a:r>
              <a:rPr lang="en-US" b="true" sz="5290">
                <a:solidFill>
                  <a:srgbClr val="DFC869"/>
                </a:solidFill>
                <a:latin typeface="Tomorrow Bold"/>
                <a:ea typeface="Tomorrow Bold"/>
                <a:cs typeface="Tomorrow Bold"/>
                <a:sym typeface="Tomorrow Bold"/>
              </a:rPr>
              <a:t>WHAT IS PHISHING?</a:t>
            </a:r>
          </a:p>
        </p:txBody>
      </p:sp>
      <p:sp>
        <p:nvSpPr>
          <p:cNvPr name="TextBox 17" id="17"/>
          <p:cNvSpPr txBox="true"/>
          <p:nvPr/>
        </p:nvSpPr>
        <p:spPr>
          <a:xfrm rot="0">
            <a:off x="1303322" y="4213831"/>
            <a:ext cx="6720659" cy="192493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Phishing is a cyberattack designed to trick individuals into revealing sensitive information. Attackers pose as trustworthy entities to deceive victims into providing credentials, financial details, or personal data. These malicious tactics are used for credential theft, financial fraud, and malware infection.</a:t>
            </a:r>
          </a:p>
        </p:txBody>
      </p:sp>
      <p:sp>
        <p:nvSpPr>
          <p:cNvPr name="TextBox 18" id="18"/>
          <p:cNvSpPr txBox="true"/>
          <p:nvPr/>
        </p:nvSpPr>
        <p:spPr>
          <a:xfrm rot="0">
            <a:off x="2117457" y="7084534"/>
            <a:ext cx="7798586" cy="371730"/>
          </a:xfrm>
          <a:prstGeom prst="rect">
            <a:avLst/>
          </a:prstGeom>
        </p:spPr>
        <p:txBody>
          <a:bodyPr anchor="t" rtlCol="false" tIns="0" lIns="0" bIns="0" rIns="0">
            <a:spAutoFit/>
          </a:bodyPr>
          <a:lstStyle/>
          <a:p>
            <a:pPr algn="l" marL="0" indent="0" lvl="0">
              <a:lnSpc>
                <a:spcPts val="3135"/>
              </a:lnSpc>
              <a:spcBef>
                <a:spcPct val="0"/>
              </a:spcBef>
            </a:pPr>
            <a:r>
              <a:rPr lang="en-US" b="true" sz="2239">
                <a:solidFill>
                  <a:srgbClr val="000000"/>
                </a:solidFill>
                <a:latin typeface="Open Sauce Bold"/>
                <a:ea typeface="Open Sauce Bold"/>
                <a:cs typeface="Open Sauce Bold"/>
                <a:sym typeface="Open Sauce Bold"/>
              </a:rPr>
              <a:t>Stealing login credentials and passwords</a:t>
            </a:r>
          </a:p>
        </p:txBody>
      </p:sp>
      <p:sp>
        <p:nvSpPr>
          <p:cNvPr name="TextBox 19" id="19"/>
          <p:cNvSpPr txBox="true"/>
          <p:nvPr/>
        </p:nvSpPr>
        <p:spPr>
          <a:xfrm rot="0">
            <a:off x="2117457" y="7585858"/>
            <a:ext cx="7798586" cy="371730"/>
          </a:xfrm>
          <a:prstGeom prst="rect">
            <a:avLst/>
          </a:prstGeom>
        </p:spPr>
        <p:txBody>
          <a:bodyPr anchor="t" rtlCol="false" tIns="0" lIns="0" bIns="0" rIns="0">
            <a:spAutoFit/>
          </a:bodyPr>
          <a:lstStyle/>
          <a:p>
            <a:pPr algn="l" marL="0" indent="0" lvl="0">
              <a:lnSpc>
                <a:spcPts val="3135"/>
              </a:lnSpc>
              <a:spcBef>
                <a:spcPct val="0"/>
              </a:spcBef>
            </a:pPr>
            <a:r>
              <a:rPr lang="en-US" b="true" sz="2239">
                <a:solidFill>
                  <a:srgbClr val="000000"/>
                </a:solidFill>
                <a:latin typeface="Open Sauce Bold"/>
                <a:ea typeface="Open Sauce Bold"/>
                <a:cs typeface="Open Sauce Bold"/>
                <a:sym typeface="Open Sauce Bold"/>
              </a:rPr>
              <a:t>Committing financial fraud and identity theft</a:t>
            </a:r>
          </a:p>
        </p:txBody>
      </p:sp>
      <p:sp>
        <p:nvSpPr>
          <p:cNvPr name="TextBox 20" id="20"/>
          <p:cNvSpPr txBox="true"/>
          <p:nvPr/>
        </p:nvSpPr>
        <p:spPr>
          <a:xfrm rot="0">
            <a:off x="2117457" y="8087183"/>
            <a:ext cx="7798586" cy="371730"/>
          </a:xfrm>
          <a:prstGeom prst="rect">
            <a:avLst/>
          </a:prstGeom>
        </p:spPr>
        <p:txBody>
          <a:bodyPr anchor="t" rtlCol="false" tIns="0" lIns="0" bIns="0" rIns="0">
            <a:spAutoFit/>
          </a:bodyPr>
          <a:lstStyle/>
          <a:p>
            <a:pPr algn="l" marL="0" indent="0" lvl="0">
              <a:lnSpc>
                <a:spcPts val="3135"/>
              </a:lnSpc>
              <a:spcBef>
                <a:spcPct val="0"/>
              </a:spcBef>
            </a:pPr>
            <a:r>
              <a:rPr lang="en-US" b="true" sz="2239">
                <a:solidFill>
                  <a:srgbClr val="000000"/>
                </a:solidFill>
                <a:latin typeface="Open Sauce Bold"/>
                <a:ea typeface="Open Sauce Bold"/>
                <a:cs typeface="Open Sauce Bold"/>
                <a:sym typeface="Open Sauce Bold"/>
              </a:rPr>
              <a:t>Installing malware on your devices</a:t>
            </a:r>
          </a:p>
        </p:txBody>
      </p:sp>
      <p:sp>
        <p:nvSpPr>
          <p:cNvPr name="TextBox 21" id="21"/>
          <p:cNvSpPr txBox="true"/>
          <p:nvPr/>
        </p:nvSpPr>
        <p:spPr>
          <a:xfrm rot="0">
            <a:off x="2117457" y="8588508"/>
            <a:ext cx="7798586" cy="371730"/>
          </a:xfrm>
          <a:prstGeom prst="rect">
            <a:avLst/>
          </a:prstGeom>
        </p:spPr>
        <p:txBody>
          <a:bodyPr anchor="t" rtlCol="false" tIns="0" lIns="0" bIns="0" rIns="0">
            <a:spAutoFit/>
          </a:bodyPr>
          <a:lstStyle/>
          <a:p>
            <a:pPr algn="l" marL="0" indent="0" lvl="0">
              <a:lnSpc>
                <a:spcPts val="3135"/>
              </a:lnSpc>
              <a:spcBef>
                <a:spcPct val="0"/>
              </a:spcBef>
            </a:pPr>
            <a:r>
              <a:rPr lang="en-US" b="true" sz="2239">
                <a:solidFill>
                  <a:srgbClr val="000000"/>
                </a:solidFill>
                <a:latin typeface="Open Sauce Bold"/>
                <a:ea typeface="Open Sauce Bold"/>
                <a:cs typeface="Open Sauce Bold"/>
                <a:sym typeface="Open Sauce Bold"/>
              </a:rPr>
              <a:t>Gaining unauthorized access to systems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36006" y="1977612"/>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262116" y="1977612"/>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36006" y="4641191"/>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36006" y="7304770"/>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262116" y="4641191"/>
            <a:ext cx="4779097" cy="6286948"/>
            <a:chOff x="0" y="0"/>
            <a:chExt cx="587563" cy="772945"/>
          </a:xfrm>
        </p:grpSpPr>
        <p:sp>
          <p:nvSpPr>
            <p:cNvPr name="Freeform 8" id="8"/>
            <p:cNvSpPr/>
            <p:nvPr/>
          </p:nvSpPr>
          <p:spPr>
            <a:xfrm flipH="false" flipV="false" rot="0">
              <a:off x="0" y="0"/>
              <a:ext cx="587563" cy="772945"/>
            </a:xfrm>
            <a:custGeom>
              <a:avLst/>
              <a:gdLst/>
              <a:ahLst/>
              <a:cxnLst/>
              <a:rect r="r" b="b" t="t" l="l"/>
              <a:pathLst>
                <a:path h="772945" w="587563">
                  <a:moveTo>
                    <a:pt x="69658" y="0"/>
                  </a:moveTo>
                  <a:lnTo>
                    <a:pt x="517905" y="0"/>
                  </a:lnTo>
                  <a:cubicBezTo>
                    <a:pt x="556376" y="0"/>
                    <a:pt x="587563" y="31187"/>
                    <a:pt x="587563" y="69658"/>
                  </a:cubicBezTo>
                  <a:lnTo>
                    <a:pt x="587563" y="703287"/>
                  </a:lnTo>
                  <a:cubicBezTo>
                    <a:pt x="587563" y="741758"/>
                    <a:pt x="556376" y="772945"/>
                    <a:pt x="517905" y="772945"/>
                  </a:cubicBezTo>
                  <a:lnTo>
                    <a:pt x="69658" y="772945"/>
                  </a:lnTo>
                  <a:cubicBezTo>
                    <a:pt x="31187" y="772945"/>
                    <a:pt x="0" y="741758"/>
                    <a:pt x="0" y="703287"/>
                  </a:cubicBezTo>
                  <a:lnTo>
                    <a:pt x="0" y="69658"/>
                  </a:lnTo>
                  <a:cubicBezTo>
                    <a:pt x="0" y="31187"/>
                    <a:pt x="31187" y="0"/>
                    <a:pt x="69658" y="0"/>
                  </a:cubicBezTo>
                  <a:close/>
                </a:path>
              </a:pathLst>
            </a:custGeom>
            <a:blipFill>
              <a:blip r:embed="rId6"/>
              <a:stretch>
                <a:fillRect l="0" t="-258" r="0" b="-258"/>
              </a:stretch>
            </a:blipFill>
          </p:spPr>
        </p:sp>
      </p:grpSp>
      <p:sp>
        <p:nvSpPr>
          <p:cNvPr name="Freeform 9" id="9"/>
          <p:cNvSpPr/>
          <p:nvPr/>
        </p:nvSpPr>
        <p:spPr>
          <a:xfrm flipH="false" flipV="false" rot="-5400000">
            <a:off x="7836690" y="9018142"/>
            <a:ext cx="6409046" cy="1562205"/>
          </a:xfrm>
          <a:custGeom>
            <a:avLst/>
            <a:gdLst/>
            <a:ahLst/>
            <a:cxnLst/>
            <a:rect r="r" b="b" t="t" l="l"/>
            <a:pathLst>
              <a:path h="1562205" w="6409046">
                <a:moveTo>
                  <a:pt x="0" y="0"/>
                </a:moveTo>
                <a:lnTo>
                  <a:pt x="6409046" y="0"/>
                </a:lnTo>
                <a:lnTo>
                  <a:pt x="6409046" y="1562205"/>
                </a:lnTo>
                <a:lnTo>
                  <a:pt x="0" y="1562205"/>
                </a:lnTo>
                <a:lnTo>
                  <a:pt x="0" y="0"/>
                </a:lnTo>
                <a:close/>
              </a:path>
            </a:pathLst>
          </a:custGeom>
          <a:blipFill>
            <a:blip r:embed="rId7"/>
            <a:stretch>
              <a:fillRect l="0" t="0" r="0" b="0"/>
            </a:stretch>
          </a:blipFill>
        </p:spPr>
      </p:sp>
      <p:sp>
        <p:nvSpPr>
          <p:cNvPr name="Freeform 10" id="10"/>
          <p:cNvSpPr/>
          <p:nvPr/>
        </p:nvSpPr>
        <p:spPr>
          <a:xfrm flipH="false" flipV="false" rot="-5400000">
            <a:off x="-3175948" y="1987149"/>
            <a:ext cx="6409046" cy="1562205"/>
          </a:xfrm>
          <a:custGeom>
            <a:avLst/>
            <a:gdLst/>
            <a:ahLst/>
            <a:cxnLst/>
            <a:rect r="r" b="b" t="t" l="l"/>
            <a:pathLst>
              <a:path h="1562205" w="6409046">
                <a:moveTo>
                  <a:pt x="0" y="0"/>
                </a:moveTo>
                <a:lnTo>
                  <a:pt x="6409046" y="0"/>
                </a:lnTo>
                <a:lnTo>
                  <a:pt x="6409046" y="1562205"/>
                </a:lnTo>
                <a:lnTo>
                  <a:pt x="0" y="1562205"/>
                </a:lnTo>
                <a:lnTo>
                  <a:pt x="0" y="0"/>
                </a:lnTo>
                <a:close/>
              </a:path>
            </a:pathLst>
          </a:custGeom>
          <a:blipFill>
            <a:blip r:embed="rId7"/>
            <a:stretch>
              <a:fillRect l="0" t="0" r="0" b="0"/>
            </a:stretch>
          </a:blipFill>
        </p:spPr>
      </p:sp>
      <p:sp>
        <p:nvSpPr>
          <p:cNvPr name="TextBox 11" id="11"/>
          <p:cNvSpPr txBox="true"/>
          <p:nvPr/>
        </p:nvSpPr>
        <p:spPr>
          <a:xfrm rot="0">
            <a:off x="1736006" y="918754"/>
            <a:ext cx="1818906" cy="520287"/>
          </a:xfrm>
          <a:prstGeom prst="rect">
            <a:avLst/>
          </a:prstGeom>
        </p:spPr>
        <p:txBody>
          <a:bodyPr anchor="t" rtlCol="false" tIns="0" lIns="0" bIns="0" rIns="0">
            <a:spAutoFit/>
          </a:bodyPr>
          <a:lstStyle/>
          <a:p>
            <a:pPr algn="l" marL="0" indent="0" lvl="0">
              <a:lnSpc>
                <a:spcPts val="2091"/>
              </a:lnSpc>
              <a:spcBef>
                <a:spcPct val="0"/>
              </a:spcBef>
            </a:pPr>
            <a:r>
              <a:rPr lang="en-US" sz="1493">
                <a:solidFill>
                  <a:srgbClr val="DDDDDD"/>
                </a:solidFill>
                <a:latin typeface="Open Sauce Light"/>
                <a:ea typeface="Open Sauce Light"/>
                <a:cs typeface="Open Sauce Light"/>
                <a:sym typeface="Open Sauce Light"/>
              </a:rPr>
              <a:t>Cybersecurity Training</a:t>
            </a:r>
          </a:p>
        </p:txBody>
      </p:sp>
      <p:sp>
        <p:nvSpPr>
          <p:cNvPr name="TextBox 12" id="12"/>
          <p:cNvSpPr txBox="true"/>
          <p:nvPr/>
        </p:nvSpPr>
        <p:spPr>
          <a:xfrm rot="0">
            <a:off x="15198136" y="918754"/>
            <a:ext cx="2061164" cy="247804"/>
          </a:xfrm>
          <a:prstGeom prst="rect">
            <a:avLst/>
          </a:prstGeom>
        </p:spPr>
        <p:txBody>
          <a:bodyPr anchor="t" rtlCol="false" tIns="0" lIns="0" bIns="0" rIns="0">
            <a:spAutoFit/>
          </a:bodyPr>
          <a:lstStyle/>
          <a:p>
            <a:pPr algn="r" marL="0" indent="0" lvl="0">
              <a:lnSpc>
                <a:spcPts val="2091"/>
              </a:lnSpc>
              <a:spcBef>
                <a:spcPct val="0"/>
              </a:spcBef>
            </a:pPr>
            <a:r>
              <a:rPr lang="en-US" sz="1493">
                <a:solidFill>
                  <a:srgbClr val="DDDDDD"/>
                </a:solidFill>
                <a:latin typeface="Open Sauce Light"/>
                <a:ea typeface="Open Sauce Light"/>
                <a:cs typeface="Open Sauce Light"/>
                <a:sym typeface="Open Sauce Light"/>
              </a:rPr>
              <a:t>September 19, 2026</a:t>
            </a:r>
          </a:p>
        </p:txBody>
      </p:sp>
      <p:sp>
        <p:nvSpPr>
          <p:cNvPr name="TextBox 13" id="13"/>
          <p:cNvSpPr txBox="true"/>
          <p:nvPr/>
        </p:nvSpPr>
        <p:spPr>
          <a:xfrm rot="0">
            <a:off x="11986093" y="4282299"/>
            <a:ext cx="4872367" cy="855765"/>
          </a:xfrm>
          <a:prstGeom prst="rect">
            <a:avLst/>
          </a:prstGeom>
        </p:spPr>
        <p:txBody>
          <a:bodyPr anchor="t" rtlCol="false" tIns="0" lIns="0" bIns="0" rIns="0">
            <a:spAutoFit/>
          </a:bodyPr>
          <a:lstStyle/>
          <a:p>
            <a:pPr algn="l" marL="0" indent="0" lvl="0">
              <a:lnSpc>
                <a:spcPts val="7010"/>
              </a:lnSpc>
              <a:spcBef>
                <a:spcPct val="0"/>
              </a:spcBef>
            </a:pPr>
            <a:r>
              <a:rPr lang="en-US" b="true" sz="5007">
                <a:solidFill>
                  <a:srgbClr val="DFC869"/>
                </a:solidFill>
                <a:latin typeface="Tomorrow Bold"/>
                <a:ea typeface="Tomorrow Bold"/>
                <a:cs typeface="Tomorrow Bold"/>
                <a:sym typeface="Tomorrow Bold"/>
              </a:rPr>
              <a:t>INDICATORS</a:t>
            </a:r>
          </a:p>
        </p:txBody>
      </p:sp>
      <p:sp>
        <p:nvSpPr>
          <p:cNvPr name="TextBox 14" id="14"/>
          <p:cNvSpPr txBox="true"/>
          <p:nvPr/>
        </p:nvSpPr>
        <p:spPr>
          <a:xfrm rot="0">
            <a:off x="11986093" y="2436874"/>
            <a:ext cx="4872367" cy="855765"/>
          </a:xfrm>
          <a:prstGeom prst="rect">
            <a:avLst/>
          </a:prstGeom>
        </p:spPr>
        <p:txBody>
          <a:bodyPr anchor="t" rtlCol="false" tIns="0" lIns="0" bIns="0" rIns="0">
            <a:spAutoFit/>
          </a:bodyPr>
          <a:lstStyle/>
          <a:p>
            <a:pPr algn="l" marL="0" indent="0" lvl="0">
              <a:lnSpc>
                <a:spcPts val="7010"/>
              </a:lnSpc>
              <a:spcBef>
                <a:spcPct val="0"/>
              </a:spcBef>
            </a:pPr>
            <a:r>
              <a:rPr lang="en-US" b="true" sz="5007">
                <a:solidFill>
                  <a:srgbClr val="DFC869"/>
                </a:solidFill>
                <a:latin typeface="Tomorrow Bold"/>
                <a:ea typeface="Tomorrow Bold"/>
                <a:cs typeface="Tomorrow Bold"/>
                <a:sym typeface="Tomorrow Bold"/>
              </a:rPr>
              <a:t>KEY PHISHING</a:t>
            </a:r>
          </a:p>
        </p:txBody>
      </p:sp>
      <p:sp>
        <p:nvSpPr>
          <p:cNvPr name="TextBox 15" id="15"/>
          <p:cNvSpPr txBox="true"/>
          <p:nvPr/>
        </p:nvSpPr>
        <p:spPr>
          <a:xfrm rot="0">
            <a:off x="11986093" y="3368846"/>
            <a:ext cx="4872367" cy="855765"/>
          </a:xfrm>
          <a:prstGeom prst="rect">
            <a:avLst/>
          </a:prstGeom>
        </p:spPr>
        <p:txBody>
          <a:bodyPr anchor="t" rtlCol="false" tIns="0" lIns="0" bIns="0" rIns="0">
            <a:spAutoFit/>
          </a:bodyPr>
          <a:lstStyle/>
          <a:p>
            <a:pPr algn="l" marL="0" indent="0" lvl="0">
              <a:lnSpc>
                <a:spcPts val="7010"/>
              </a:lnSpc>
              <a:spcBef>
                <a:spcPct val="0"/>
              </a:spcBef>
            </a:pPr>
            <a:r>
              <a:rPr lang="en-US" b="true" sz="5007">
                <a:solidFill>
                  <a:srgbClr val="FFFFFF"/>
                </a:solidFill>
                <a:latin typeface="Tomorrow Bold"/>
                <a:ea typeface="Tomorrow Bold"/>
                <a:cs typeface="Tomorrow Bold"/>
                <a:sym typeface="Tomorrow Bold"/>
              </a:rPr>
              <a:t>EMAIL</a:t>
            </a:r>
          </a:p>
        </p:txBody>
      </p:sp>
      <p:sp>
        <p:nvSpPr>
          <p:cNvPr name="TextBox 16" id="16"/>
          <p:cNvSpPr txBox="true"/>
          <p:nvPr/>
        </p:nvSpPr>
        <p:spPr>
          <a:xfrm rot="0">
            <a:off x="11986093" y="5944200"/>
            <a:ext cx="4872367" cy="1812837"/>
          </a:xfrm>
          <a:prstGeom prst="rect">
            <a:avLst/>
          </a:prstGeom>
        </p:spPr>
        <p:txBody>
          <a:bodyPr anchor="t" rtlCol="false" tIns="0" lIns="0" bIns="0" rIns="0">
            <a:spAutoFit/>
          </a:bodyPr>
          <a:lstStyle/>
          <a:p>
            <a:pPr algn="l" marL="0" indent="0" lvl="0">
              <a:lnSpc>
                <a:spcPts val="2454"/>
              </a:lnSpc>
              <a:spcBef>
                <a:spcPct val="0"/>
              </a:spcBef>
            </a:pPr>
            <a:r>
              <a:rPr lang="en-US" sz="1753">
                <a:solidFill>
                  <a:srgbClr val="A2A2A2"/>
                </a:solidFill>
                <a:latin typeface="Open Sauce Light"/>
                <a:ea typeface="Open Sauce Light"/>
                <a:cs typeface="Open Sauce Light"/>
                <a:sym typeface="Open Sauce Light"/>
              </a:rPr>
              <a:t>Being able to recognize phishing emails is your first line of defense against cyber attacks. Always examine emails carefully before clicking links or opening attachments. When in doubt, verify with the sender through a separate communication channel.</a:t>
            </a:r>
          </a:p>
        </p:txBody>
      </p:sp>
      <p:sp>
        <p:nvSpPr>
          <p:cNvPr name="TextBox 17" id="17"/>
          <p:cNvSpPr txBox="true"/>
          <p:nvPr/>
        </p:nvSpPr>
        <p:spPr>
          <a:xfrm rot="0">
            <a:off x="1736006" y="2608222"/>
            <a:ext cx="3227336" cy="1534342"/>
          </a:xfrm>
          <a:prstGeom prst="rect">
            <a:avLst/>
          </a:prstGeom>
        </p:spPr>
        <p:txBody>
          <a:bodyPr anchor="t" rtlCol="false" tIns="0" lIns="0" bIns="0" rIns="0">
            <a:spAutoFit/>
          </a:bodyPr>
          <a:lstStyle/>
          <a:p>
            <a:pPr algn="l" marL="0" indent="0" lvl="0">
              <a:lnSpc>
                <a:spcPts val="2054"/>
              </a:lnSpc>
              <a:spcBef>
                <a:spcPct val="0"/>
              </a:spcBef>
            </a:pPr>
            <a:r>
              <a:rPr lang="en-US" sz="1467">
                <a:solidFill>
                  <a:srgbClr val="A2A2A2"/>
                </a:solidFill>
                <a:latin typeface="Open Sauce Light"/>
                <a:ea typeface="Open Sauce Light"/>
                <a:cs typeface="Open Sauce Light"/>
                <a:sym typeface="Open Sauce Light"/>
              </a:rPr>
              <a:t>Check the sender's email address carefully. Attackers often use addresses that look similar to legitimate ones but contain subtle misspellings or use free email domains.</a:t>
            </a:r>
          </a:p>
        </p:txBody>
      </p:sp>
      <p:sp>
        <p:nvSpPr>
          <p:cNvPr name="TextBox 18" id="18"/>
          <p:cNvSpPr txBox="true"/>
          <p:nvPr/>
        </p:nvSpPr>
        <p:spPr>
          <a:xfrm rot="0">
            <a:off x="6262116" y="2608222"/>
            <a:ext cx="3227336" cy="1277167"/>
          </a:xfrm>
          <a:prstGeom prst="rect">
            <a:avLst/>
          </a:prstGeom>
        </p:spPr>
        <p:txBody>
          <a:bodyPr anchor="t" rtlCol="false" tIns="0" lIns="0" bIns="0" rIns="0">
            <a:spAutoFit/>
          </a:bodyPr>
          <a:lstStyle/>
          <a:p>
            <a:pPr algn="l" marL="0" indent="0" lvl="0">
              <a:lnSpc>
                <a:spcPts val="2054"/>
              </a:lnSpc>
              <a:spcBef>
                <a:spcPct val="0"/>
              </a:spcBef>
            </a:pPr>
            <a:r>
              <a:rPr lang="en-US" sz="1467">
                <a:solidFill>
                  <a:srgbClr val="A2A2A2"/>
                </a:solidFill>
                <a:latin typeface="Open Sauce Light"/>
                <a:ea typeface="Open Sauce Light"/>
                <a:cs typeface="Open Sauce Light"/>
                <a:sym typeface="Open Sauce Light"/>
              </a:rPr>
              <a:t>Phishing emails often create a false sense of urgency with phrases like "immediate action required" or threats of account suspension to pressure quick responses.</a:t>
            </a:r>
          </a:p>
        </p:txBody>
      </p:sp>
      <p:sp>
        <p:nvSpPr>
          <p:cNvPr name="TextBox 19" id="19"/>
          <p:cNvSpPr txBox="true"/>
          <p:nvPr/>
        </p:nvSpPr>
        <p:spPr>
          <a:xfrm rot="0">
            <a:off x="1736006" y="5271801"/>
            <a:ext cx="3227336" cy="1277167"/>
          </a:xfrm>
          <a:prstGeom prst="rect">
            <a:avLst/>
          </a:prstGeom>
        </p:spPr>
        <p:txBody>
          <a:bodyPr anchor="t" rtlCol="false" tIns="0" lIns="0" bIns="0" rIns="0">
            <a:spAutoFit/>
          </a:bodyPr>
          <a:lstStyle/>
          <a:p>
            <a:pPr algn="l" marL="0" indent="0" lvl="0">
              <a:lnSpc>
                <a:spcPts val="2054"/>
              </a:lnSpc>
              <a:spcBef>
                <a:spcPct val="0"/>
              </a:spcBef>
            </a:pPr>
            <a:r>
              <a:rPr lang="en-US" sz="1467">
                <a:solidFill>
                  <a:srgbClr val="A2A2A2"/>
                </a:solidFill>
                <a:latin typeface="Open Sauce Light"/>
                <a:ea typeface="Open Sauce Light"/>
                <a:cs typeface="Open Sauce Light"/>
                <a:sym typeface="Open Sauce Light"/>
              </a:rPr>
              <a:t>Professional communications are carefully proofread. Watch for spelling errors, awkward phrasing, or inconsistent formatting that may indicate a fraudulent message.</a:t>
            </a:r>
          </a:p>
        </p:txBody>
      </p:sp>
      <p:sp>
        <p:nvSpPr>
          <p:cNvPr name="TextBox 20" id="20"/>
          <p:cNvSpPr txBox="true"/>
          <p:nvPr/>
        </p:nvSpPr>
        <p:spPr>
          <a:xfrm rot="0">
            <a:off x="2305339" y="1939512"/>
            <a:ext cx="2011897" cy="277361"/>
          </a:xfrm>
          <a:prstGeom prst="rect">
            <a:avLst/>
          </a:prstGeom>
        </p:spPr>
        <p:txBody>
          <a:bodyPr anchor="t" rtlCol="false" tIns="0" lIns="0" bIns="0" rIns="0">
            <a:spAutoFit/>
          </a:bodyPr>
          <a:lstStyle/>
          <a:p>
            <a:pPr algn="l" marL="0" indent="0" lvl="0">
              <a:lnSpc>
                <a:spcPts val="2215"/>
              </a:lnSpc>
              <a:spcBef>
                <a:spcPct val="0"/>
              </a:spcBef>
            </a:pPr>
            <a:r>
              <a:rPr lang="en-US" b="true" sz="1582">
                <a:solidFill>
                  <a:srgbClr val="DFC869"/>
                </a:solidFill>
                <a:latin typeface="Open Sauce Bold"/>
                <a:ea typeface="Open Sauce Bold"/>
                <a:cs typeface="Open Sauce Bold"/>
                <a:sym typeface="Open Sauce Bold"/>
              </a:rPr>
              <a:t>Suspicious Senders</a:t>
            </a:r>
          </a:p>
        </p:txBody>
      </p:sp>
      <p:sp>
        <p:nvSpPr>
          <p:cNvPr name="TextBox 21" id="21"/>
          <p:cNvSpPr txBox="true"/>
          <p:nvPr/>
        </p:nvSpPr>
        <p:spPr>
          <a:xfrm rot="0">
            <a:off x="6831449" y="1939512"/>
            <a:ext cx="2658003" cy="277361"/>
          </a:xfrm>
          <a:prstGeom prst="rect">
            <a:avLst/>
          </a:prstGeom>
        </p:spPr>
        <p:txBody>
          <a:bodyPr anchor="t" rtlCol="false" tIns="0" lIns="0" bIns="0" rIns="0">
            <a:spAutoFit/>
          </a:bodyPr>
          <a:lstStyle/>
          <a:p>
            <a:pPr algn="l" marL="0" indent="0" lvl="0">
              <a:lnSpc>
                <a:spcPts val="2215"/>
              </a:lnSpc>
              <a:spcBef>
                <a:spcPct val="0"/>
              </a:spcBef>
            </a:pPr>
            <a:r>
              <a:rPr lang="en-US" b="true" sz="1582">
                <a:solidFill>
                  <a:srgbClr val="DFC869"/>
                </a:solidFill>
                <a:latin typeface="Open Sauce Bold"/>
                <a:ea typeface="Open Sauce Bold"/>
                <a:cs typeface="Open Sauce Bold"/>
                <a:sym typeface="Open Sauce Bold"/>
              </a:rPr>
              <a:t>Urgent Language</a:t>
            </a:r>
          </a:p>
        </p:txBody>
      </p:sp>
      <p:sp>
        <p:nvSpPr>
          <p:cNvPr name="TextBox 22" id="22"/>
          <p:cNvSpPr txBox="true"/>
          <p:nvPr/>
        </p:nvSpPr>
        <p:spPr>
          <a:xfrm rot="0">
            <a:off x="2305339" y="4603091"/>
            <a:ext cx="2011897" cy="277361"/>
          </a:xfrm>
          <a:prstGeom prst="rect">
            <a:avLst/>
          </a:prstGeom>
        </p:spPr>
        <p:txBody>
          <a:bodyPr anchor="t" rtlCol="false" tIns="0" lIns="0" bIns="0" rIns="0">
            <a:spAutoFit/>
          </a:bodyPr>
          <a:lstStyle/>
          <a:p>
            <a:pPr algn="l" marL="0" indent="0" lvl="0">
              <a:lnSpc>
                <a:spcPts val="2215"/>
              </a:lnSpc>
              <a:spcBef>
                <a:spcPct val="0"/>
              </a:spcBef>
            </a:pPr>
            <a:r>
              <a:rPr lang="en-US" b="true" sz="1582">
                <a:solidFill>
                  <a:srgbClr val="DFC869"/>
                </a:solidFill>
                <a:latin typeface="Open Sauce Bold"/>
                <a:ea typeface="Open Sauce Bold"/>
                <a:cs typeface="Open Sauce Bold"/>
                <a:sym typeface="Open Sauce Bold"/>
              </a:rPr>
              <a:t>Poor Grammar</a:t>
            </a:r>
          </a:p>
        </p:txBody>
      </p:sp>
      <p:sp>
        <p:nvSpPr>
          <p:cNvPr name="TextBox 23" id="23"/>
          <p:cNvSpPr txBox="true"/>
          <p:nvPr/>
        </p:nvSpPr>
        <p:spPr>
          <a:xfrm rot="0">
            <a:off x="1736006" y="7935380"/>
            <a:ext cx="3227336" cy="1019992"/>
          </a:xfrm>
          <a:prstGeom prst="rect">
            <a:avLst/>
          </a:prstGeom>
        </p:spPr>
        <p:txBody>
          <a:bodyPr anchor="t" rtlCol="false" tIns="0" lIns="0" bIns="0" rIns="0">
            <a:spAutoFit/>
          </a:bodyPr>
          <a:lstStyle/>
          <a:p>
            <a:pPr algn="l" marL="0" indent="0" lvl="0">
              <a:lnSpc>
                <a:spcPts val="2054"/>
              </a:lnSpc>
              <a:spcBef>
                <a:spcPct val="0"/>
              </a:spcBef>
            </a:pPr>
            <a:r>
              <a:rPr lang="en-US" sz="1467">
                <a:solidFill>
                  <a:srgbClr val="A2A2A2"/>
                </a:solidFill>
                <a:latin typeface="Open Sauce Light"/>
                <a:ea typeface="Open Sauce Light"/>
                <a:cs typeface="Open Sauce Light"/>
                <a:sym typeface="Open Sauce Light"/>
              </a:rPr>
              <a:t>Be wary of unexpected attachments or links from unknown senders. Hover over links before clicking to preview the actual destination URL.</a:t>
            </a:r>
          </a:p>
        </p:txBody>
      </p:sp>
      <p:sp>
        <p:nvSpPr>
          <p:cNvPr name="TextBox 24" id="24"/>
          <p:cNvSpPr txBox="true"/>
          <p:nvPr/>
        </p:nvSpPr>
        <p:spPr>
          <a:xfrm rot="0">
            <a:off x="2305339" y="7266670"/>
            <a:ext cx="2484337" cy="277361"/>
          </a:xfrm>
          <a:prstGeom prst="rect">
            <a:avLst/>
          </a:prstGeom>
        </p:spPr>
        <p:txBody>
          <a:bodyPr anchor="t" rtlCol="false" tIns="0" lIns="0" bIns="0" rIns="0">
            <a:spAutoFit/>
          </a:bodyPr>
          <a:lstStyle/>
          <a:p>
            <a:pPr algn="l" marL="0" indent="0" lvl="0">
              <a:lnSpc>
                <a:spcPts val="2215"/>
              </a:lnSpc>
              <a:spcBef>
                <a:spcPct val="0"/>
              </a:spcBef>
            </a:pPr>
            <a:r>
              <a:rPr lang="en-US" b="true" sz="1582">
                <a:solidFill>
                  <a:srgbClr val="DFC869"/>
                </a:solidFill>
                <a:latin typeface="Open Sauce Bold"/>
                <a:ea typeface="Open Sauce Bold"/>
                <a:cs typeface="Open Sauce Bold"/>
                <a:sym typeface="Open Sauce Bold"/>
              </a:rPr>
              <a:t>Unexpected Links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275529" y="2394332"/>
            <a:ext cx="3437707" cy="6863968"/>
            <a:chOff x="0" y="0"/>
            <a:chExt cx="422647" cy="843886"/>
          </a:xfrm>
        </p:grpSpPr>
        <p:sp>
          <p:nvSpPr>
            <p:cNvPr name="Freeform 4" id="4"/>
            <p:cNvSpPr/>
            <p:nvPr/>
          </p:nvSpPr>
          <p:spPr>
            <a:xfrm flipH="false" flipV="false" rot="0">
              <a:off x="0" y="0"/>
              <a:ext cx="422647" cy="843886"/>
            </a:xfrm>
            <a:custGeom>
              <a:avLst/>
              <a:gdLst/>
              <a:ahLst/>
              <a:cxnLst/>
              <a:rect r="r" b="b" t="t" l="l"/>
              <a:pathLst>
                <a:path h="843886" w="422647">
                  <a:moveTo>
                    <a:pt x="96839" y="0"/>
                  </a:moveTo>
                  <a:lnTo>
                    <a:pt x="325808" y="0"/>
                  </a:lnTo>
                  <a:cubicBezTo>
                    <a:pt x="351491" y="0"/>
                    <a:pt x="376123" y="10203"/>
                    <a:pt x="394283" y="28363"/>
                  </a:cubicBezTo>
                  <a:cubicBezTo>
                    <a:pt x="412444" y="46524"/>
                    <a:pt x="422647" y="71155"/>
                    <a:pt x="422647" y="96839"/>
                  </a:cubicBezTo>
                  <a:lnTo>
                    <a:pt x="422647" y="747048"/>
                  </a:lnTo>
                  <a:cubicBezTo>
                    <a:pt x="422647" y="772731"/>
                    <a:pt x="412444" y="797362"/>
                    <a:pt x="394283" y="815523"/>
                  </a:cubicBezTo>
                  <a:cubicBezTo>
                    <a:pt x="376123" y="833684"/>
                    <a:pt x="351491" y="843886"/>
                    <a:pt x="325808" y="843886"/>
                  </a:cubicBezTo>
                  <a:lnTo>
                    <a:pt x="96839" y="843886"/>
                  </a:lnTo>
                  <a:cubicBezTo>
                    <a:pt x="71155" y="843886"/>
                    <a:pt x="46524" y="833684"/>
                    <a:pt x="28363" y="815523"/>
                  </a:cubicBezTo>
                  <a:cubicBezTo>
                    <a:pt x="10203" y="797362"/>
                    <a:pt x="0" y="772731"/>
                    <a:pt x="0" y="747048"/>
                  </a:cubicBezTo>
                  <a:lnTo>
                    <a:pt x="0" y="96839"/>
                  </a:lnTo>
                  <a:cubicBezTo>
                    <a:pt x="0" y="71155"/>
                    <a:pt x="10203" y="46524"/>
                    <a:pt x="28363" y="28363"/>
                  </a:cubicBezTo>
                  <a:cubicBezTo>
                    <a:pt x="46524" y="10203"/>
                    <a:pt x="71155" y="0"/>
                    <a:pt x="96839" y="0"/>
                  </a:cubicBezTo>
                  <a:close/>
                </a:path>
              </a:pathLst>
            </a:custGeom>
            <a:blipFill>
              <a:blip r:embed="rId4"/>
              <a:stretch>
                <a:fillRect l="-415" t="0" r="-415" b="0"/>
              </a:stretch>
            </a:blipFill>
          </p:spPr>
        </p:sp>
      </p:grpSp>
      <p:grpSp>
        <p:nvGrpSpPr>
          <p:cNvPr name="Group 5" id="5"/>
          <p:cNvGrpSpPr/>
          <p:nvPr/>
        </p:nvGrpSpPr>
        <p:grpSpPr>
          <a:xfrm rot="0">
            <a:off x="12082950" y="2849905"/>
            <a:ext cx="4792482" cy="2843061"/>
            <a:chOff x="0" y="0"/>
            <a:chExt cx="1262217" cy="748790"/>
          </a:xfrm>
        </p:grpSpPr>
        <p:sp>
          <p:nvSpPr>
            <p:cNvPr name="Freeform 6" id="6"/>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DFC869">
                    <a:alpha val="66500"/>
                  </a:srgbClr>
                </a:gs>
                <a:gs pos="100000">
                  <a:srgbClr val="000000">
                    <a:alpha val="0"/>
                  </a:srgbClr>
                </a:gs>
              </a:gsLst>
              <a:lin ang="2700000"/>
            </a:gradFill>
            <a:ln w="28575" cap="rnd">
              <a:gradFill>
                <a:gsLst>
                  <a:gs pos="0">
                    <a:srgbClr val="EDD46F">
                      <a:alpha val="100000"/>
                    </a:srgbClr>
                  </a:gs>
                  <a:gs pos="100000">
                    <a:srgbClr val="726321">
                      <a:alpha val="100000"/>
                    </a:srgbClr>
                  </a:gs>
                </a:gsLst>
                <a:lin ang="2700000"/>
              </a:gradFill>
              <a:prstDash val="solid"/>
              <a:round/>
            </a:ln>
          </p:spPr>
        </p:sp>
        <p:sp>
          <p:nvSpPr>
            <p:cNvPr name="TextBox 7" id="7"/>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pPr>
            </a:p>
          </p:txBody>
        </p:sp>
      </p:grpSp>
      <p:grpSp>
        <p:nvGrpSpPr>
          <p:cNvPr name="Group 8" id="8"/>
          <p:cNvGrpSpPr/>
          <p:nvPr/>
        </p:nvGrpSpPr>
        <p:grpSpPr>
          <a:xfrm rot="0">
            <a:off x="12082950" y="5959666"/>
            <a:ext cx="4792482" cy="2843061"/>
            <a:chOff x="0" y="0"/>
            <a:chExt cx="1262217" cy="748790"/>
          </a:xfrm>
        </p:grpSpPr>
        <p:sp>
          <p:nvSpPr>
            <p:cNvPr name="Freeform 9" id="9"/>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EDD46F">
                    <a:alpha val="100000"/>
                  </a:srgbClr>
                </a:gs>
                <a:gs pos="100000">
                  <a:srgbClr val="726321">
                    <a:alpha val="100000"/>
                  </a:srgbClr>
                </a:gs>
              </a:gsLst>
              <a:lin ang="2700000"/>
            </a:gradFill>
          </p:spPr>
        </p:sp>
        <p:sp>
          <p:nvSpPr>
            <p:cNvPr name="TextBox 10" id="10"/>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pPr>
            </a:p>
          </p:txBody>
        </p:sp>
      </p:grpSp>
      <p:sp>
        <p:nvSpPr>
          <p:cNvPr name="TextBox 11" id="11"/>
          <p:cNvSpPr txBox="true"/>
          <p:nvPr/>
        </p:nvSpPr>
        <p:spPr>
          <a:xfrm rot="0">
            <a:off x="12493067" y="4286776"/>
            <a:ext cx="3972247" cy="7895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DDDDDD"/>
                </a:solidFill>
                <a:latin typeface="Open Sauce Light"/>
                <a:ea typeface="Open Sauce Light"/>
                <a:cs typeface="Open Sauce Light"/>
                <a:sym typeface="Open Sauce Light"/>
              </a:rPr>
              <a:t>Look for misspelled or unusual sender addresses. Attackers often spoof legitimate company names to gain trust.</a:t>
            </a:r>
          </a:p>
        </p:txBody>
      </p:sp>
      <p:sp>
        <p:nvSpPr>
          <p:cNvPr name="Freeform 12" id="12"/>
          <p:cNvSpPr/>
          <p:nvPr/>
        </p:nvSpPr>
        <p:spPr>
          <a:xfrm flipH="false" flipV="false" rot="0">
            <a:off x="12493067" y="3390317"/>
            <a:ext cx="468897" cy="468897"/>
          </a:xfrm>
          <a:custGeom>
            <a:avLst/>
            <a:gdLst/>
            <a:ahLst/>
            <a:cxnLst/>
            <a:rect r="r" b="b" t="t" l="l"/>
            <a:pathLst>
              <a:path h="468897" w="468897">
                <a:moveTo>
                  <a:pt x="0" y="0"/>
                </a:moveTo>
                <a:lnTo>
                  <a:pt x="468897" y="0"/>
                </a:lnTo>
                <a:lnTo>
                  <a:pt x="468897" y="468896"/>
                </a:lnTo>
                <a:lnTo>
                  <a:pt x="0" y="4688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12493067" y="6500078"/>
            <a:ext cx="468897" cy="468897"/>
          </a:xfrm>
          <a:custGeom>
            <a:avLst/>
            <a:gdLst/>
            <a:ahLst/>
            <a:cxnLst/>
            <a:rect r="r" b="b" t="t" l="l"/>
            <a:pathLst>
              <a:path h="468897" w="468897">
                <a:moveTo>
                  <a:pt x="0" y="0"/>
                </a:moveTo>
                <a:lnTo>
                  <a:pt x="468897" y="0"/>
                </a:lnTo>
                <a:lnTo>
                  <a:pt x="468897" y="468897"/>
                </a:lnTo>
                <a:lnTo>
                  <a:pt x="0" y="4688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4" id="14"/>
          <p:cNvSpPr/>
          <p:nvPr/>
        </p:nvSpPr>
        <p:spPr>
          <a:xfrm flipH="false" flipV="false" rot="-5400000">
            <a:off x="6063294" y="6697915"/>
            <a:ext cx="4424472" cy="1078465"/>
          </a:xfrm>
          <a:custGeom>
            <a:avLst/>
            <a:gdLst/>
            <a:ahLst/>
            <a:cxnLst/>
            <a:rect r="r" b="b" t="t" l="l"/>
            <a:pathLst>
              <a:path h="1078465" w="4424472">
                <a:moveTo>
                  <a:pt x="0" y="0"/>
                </a:moveTo>
                <a:lnTo>
                  <a:pt x="4424471" y="0"/>
                </a:lnTo>
                <a:lnTo>
                  <a:pt x="4424471" y="1078465"/>
                </a:lnTo>
                <a:lnTo>
                  <a:pt x="0" y="1078465"/>
                </a:lnTo>
                <a:lnTo>
                  <a:pt x="0" y="0"/>
                </a:lnTo>
                <a:close/>
              </a:path>
            </a:pathLst>
          </a:custGeom>
          <a:blipFill>
            <a:blip r:embed="rId9"/>
            <a:stretch>
              <a:fillRect l="0" t="0" r="0" b="0"/>
            </a:stretch>
          </a:blipFill>
        </p:spPr>
      </p:sp>
      <p:sp>
        <p:nvSpPr>
          <p:cNvPr name="Freeform 15" id="15"/>
          <p:cNvSpPr/>
          <p:nvPr/>
        </p:nvSpPr>
        <p:spPr>
          <a:xfrm flipH="false" flipV="false" rot="-5400000">
            <a:off x="14668134" y="3699441"/>
            <a:ext cx="4424472" cy="1078465"/>
          </a:xfrm>
          <a:custGeom>
            <a:avLst/>
            <a:gdLst/>
            <a:ahLst/>
            <a:cxnLst/>
            <a:rect r="r" b="b" t="t" l="l"/>
            <a:pathLst>
              <a:path h="1078465" w="4424472">
                <a:moveTo>
                  <a:pt x="0" y="0"/>
                </a:moveTo>
                <a:lnTo>
                  <a:pt x="4424472" y="0"/>
                </a:lnTo>
                <a:lnTo>
                  <a:pt x="4424472" y="1078465"/>
                </a:lnTo>
                <a:lnTo>
                  <a:pt x="0" y="1078465"/>
                </a:lnTo>
                <a:lnTo>
                  <a:pt x="0" y="0"/>
                </a:lnTo>
                <a:close/>
              </a:path>
            </a:pathLst>
          </a:custGeom>
          <a:blipFill>
            <a:blip r:embed="rId9"/>
            <a:stretch>
              <a:fillRect l="0" t="0" r="0" b="0"/>
            </a:stretch>
          </a:blipFill>
        </p:spPr>
      </p:sp>
      <p:sp>
        <p:nvSpPr>
          <p:cNvPr name="TextBox 16" id="16"/>
          <p:cNvSpPr txBox="true"/>
          <p:nvPr/>
        </p:nvSpPr>
        <p:spPr>
          <a:xfrm rot="0">
            <a:off x="1736006" y="918754"/>
            <a:ext cx="1818906" cy="544601"/>
          </a:xfrm>
          <a:prstGeom prst="rect">
            <a:avLst/>
          </a:prstGeom>
        </p:spPr>
        <p:txBody>
          <a:bodyPr anchor="t" rtlCol="false" tIns="0" lIns="0" bIns="0" rIns="0">
            <a:spAutoFit/>
          </a:bodyPr>
          <a:lstStyle/>
          <a:p>
            <a:pPr algn="l" marL="0" indent="0" lvl="0">
              <a:lnSpc>
                <a:spcPts val="2194"/>
              </a:lnSpc>
              <a:spcBef>
                <a:spcPct val="0"/>
              </a:spcBef>
            </a:pPr>
            <a:r>
              <a:rPr lang="en-US" sz="1567">
                <a:solidFill>
                  <a:srgbClr val="DDDDDD"/>
                </a:solidFill>
                <a:latin typeface="Open Sauce Light"/>
                <a:ea typeface="Open Sauce Light"/>
                <a:cs typeface="Open Sauce Light"/>
                <a:sym typeface="Open Sauce Light"/>
              </a:rPr>
              <a:t>Cybersecurity Training</a:t>
            </a:r>
          </a:p>
        </p:txBody>
      </p:sp>
      <p:sp>
        <p:nvSpPr>
          <p:cNvPr name="TextBox 17" id="17"/>
          <p:cNvSpPr txBox="true"/>
          <p:nvPr/>
        </p:nvSpPr>
        <p:spPr>
          <a:xfrm rot="0">
            <a:off x="15198136" y="918754"/>
            <a:ext cx="2061164" cy="264977"/>
          </a:xfrm>
          <a:prstGeom prst="rect">
            <a:avLst/>
          </a:prstGeom>
        </p:spPr>
        <p:txBody>
          <a:bodyPr anchor="t" rtlCol="false" tIns="0" lIns="0" bIns="0" rIns="0">
            <a:spAutoFit/>
          </a:bodyPr>
          <a:lstStyle/>
          <a:p>
            <a:pPr algn="r" marL="0" indent="0" lvl="0">
              <a:lnSpc>
                <a:spcPts val="2194"/>
              </a:lnSpc>
              <a:spcBef>
                <a:spcPct val="0"/>
              </a:spcBef>
            </a:pPr>
            <a:r>
              <a:rPr lang="en-US" sz="1567">
                <a:solidFill>
                  <a:srgbClr val="DDDDDD"/>
                </a:solidFill>
                <a:latin typeface="Open Sauce Light"/>
                <a:ea typeface="Open Sauce Light"/>
                <a:cs typeface="Open Sauce Light"/>
                <a:sym typeface="Open Sauce Light"/>
              </a:rPr>
              <a:t>September 19, 2026</a:t>
            </a:r>
          </a:p>
        </p:txBody>
      </p:sp>
      <p:sp>
        <p:nvSpPr>
          <p:cNvPr name="TextBox 18" id="18"/>
          <p:cNvSpPr txBox="true"/>
          <p:nvPr/>
        </p:nvSpPr>
        <p:spPr>
          <a:xfrm rot="0">
            <a:off x="1303322" y="3955146"/>
            <a:ext cx="6122900" cy="1027860"/>
          </a:xfrm>
          <a:prstGeom prst="rect">
            <a:avLst/>
          </a:prstGeom>
        </p:spPr>
        <p:txBody>
          <a:bodyPr anchor="t" rtlCol="false" tIns="0" lIns="0" bIns="0" rIns="0">
            <a:spAutoFit/>
          </a:bodyPr>
          <a:lstStyle/>
          <a:p>
            <a:pPr algn="l" marL="0" indent="0" lvl="0">
              <a:lnSpc>
                <a:spcPts val="8421"/>
              </a:lnSpc>
              <a:spcBef>
                <a:spcPct val="0"/>
              </a:spcBef>
            </a:pPr>
            <a:r>
              <a:rPr lang="en-US" b="true" sz="6015">
                <a:solidFill>
                  <a:srgbClr val="DFC869"/>
                </a:solidFill>
                <a:latin typeface="Tomorrow Bold"/>
                <a:ea typeface="Tomorrow Bold"/>
                <a:cs typeface="Tomorrow Bold"/>
                <a:sym typeface="Tomorrow Bold"/>
              </a:rPr>
              <a:t>ANALYSIS</a:t>
            </a:r>
          </a:p>
        </p:txBody>
      </p:sp>
      <p:sp>
        <p:nvSpPr>
          <p:cNvPr name="TextBox 19" id="19"/>
          <p:cNvSpPr txBox="true"/>
          <p:nvPr/>
        </p:nvSpPr>
        <p:spPr>
          <a:xfrm rot="0">
            <a:off x="1303322" y="2109722"/>
            <a:ext cx="6122900" cy="1028304"/>
          </a:xfrm>
          <a:prstGeom prst="rect">
            <a:avLst/>
          </a:prstGeom>
        </p:spPr>
        <p:txBody>
          <a:bodyPr anchor="t" rtlCol="false" tIns="0" lIns="0" bIns="0" rIns="0">
            <a:spAutoFit/>
          </a:bodyPr>
          <a:lstStyle/>
          <a:p>
            <a:pPr algn="l" marL="0" indent="0" lvl="0">
              <a:lnSpc>
                <a:spcPts val="8421"/>
              </a:lnSpc>
              <a:spcBef>
                <a:spcPct val="0"/>
              </a:spcBef>
            </a:pPr>
            <a:r>
              <a:rPr lang="en-US" b="true" sz="6015">
                <a:solidFill>
                  <a:srgbClr val="DFC869"/>
                </a:solidFill>
                <a:latin typeface="Tomorrow Bold"/>
                <a:ea typeface="Tomorrow Bold"/>
                <a:cs typeface="Tomorrow Bold"/>
                <a:sym typeface="Tomorrow Bold"/>
              </a:rPr>
              <a:t>SAMPLE EMAIL</a:t>
            </a:r>
          </a:p>
        </p:txBody>
      </p:sp>
      <p:sp>
        <p:nvSpPr>
          <p:cNvPr name="TextBox 20" id="20"/>
          <p:cNvSpPr txBox="true"/>
          <p:nvPr/>
        </p:nvSpPr>
        <p:spPr>
          <a:xfrm rot="0">
            <a:off x="1303322" y="3041693"/>
            <a:ext cx="6122900" cy="1027860"/>
          </a:xfrm>
          <a:prstGeom prst="rect">
            <a:avLst/>
          </a:prstGeom>
        </p:spPr>
        <p:txBody>
          <a:bodyPr anchor="t" rtlCol="false" tIns="0" lIns="0" bIns="0" rIns="0">
            <a:spAutoFit/>
          </a:bodyPr>
          <a:lstStyle/>
          <a:p>
            <a:pPr algn="l" marL="0" indent="0" lvl="0">
              <a:lnSpc>
                <a:spcPts val="8421"/>
              </a:lnSpc>
              <a:spcBef>
                <a:spcPct val="0"/>
              </a:spcBef>
            </a:pPr>
            <a:r>
              <a:rPr lang="en-US" b="true" sz="6015">
                <a:solidFill>
                  <a:srgbClr val="FFFFFF"/>
                </a:solidFill>
                <a:latin typeface="Tomorrow Bold"/>
                <a:ea typeface="Tomorrow Bold"/>
                <a:cs typeface="Tomorrow Bold"/>
                <a:sym typeface="Tomorrow Bold"/>
              </a:rPr>
              <a:t>PHISHING</a:t>
            </a:r>
          </a:p>
        </p:txBody>
      </p:sp>
      <p:sp>
        <p:nvSpPr>
          <p:cNvPr name="TextBox 21" id="21"/>
          <p:cNvSpPr txBox="true"/>
          <p:nvPr/>
        </p:nvSpPr>
        <p:spPr>
          <a:xfrm rot="0">
            <a:off x="1303322" y="5636097"/>
            <a:ext cx="5557139" cy="160108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This sample phishing email contains multiple red flags. Notice the sender address appears to be from a legitimate company but has slight spelling variations. The subject line uses urgent language to create panic and bypass critical thinking.</a:t>
            </a:r>
          </a:p>
        </p:txBody>
      </p:sp>
      <p:sp>
        <p:nvSpPr>
          <p:cNvPr name="TextBox 22" id="22"/>
          <p:cNvSpPr txBox="true"/>
          <p:nvPr/>
        </p:nvSpPr>
        <p:spPr>
          <a:xfrm rot="0">
            <a:off x="1303322" y="7657250"/>
            <a:ext cx="5557139" cy="160108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The email body contains grammatical errors and requests immediate action. Links appear to lead to the legitimate company but redirect to fraudulent sites. Always verify sender addresses and hover over links before clicking.</a:t>
            </a:r>
          </a:p>
        </p:txBody>
      </p:sp>
      <p:sp>
        <p:nvSpPr>
          <p:cNvPr name="TextBox 23" id="23"/>
          <p:cNvSpPr txBox="true"/>
          <p:nvPr/>
        </p:nvSpPr>
        <p:spPr>
          <a:xfrm rot="0">
            <a:off x="12493067" y="7396537"/>
            <a:ext cx="3972247" cy="10562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000000"/>
                </a:solidFill>
                <a:latin typeface="Open Sauce Light"/>
                <a:ea typeface="Open Sauce Light"/>
                <a:cs typeface="Open Sauce Light"/>
                <a:sym typeface="Open Sauce Light"/>
              </a:rPr>
              <a:t>Phishing emails use urgent language like "immediate action required" or threats to create panic and bypass your critical thinking.</a:t>
            </a:r>
          </a:p>
        </p:txBody>
      </p:sp>
      <p:sp>
        <p:nvSpPr>
          <p:cNvPr name="TextBox 24" id="24"/>
          <p:cNvSpPr txBox="true"/>
          <p:nvPr/>
        </p:nvSpPr>
        <p:spPr>
          <a:xfrm rot="0">
            <a:off x="13194049" y="3161775"/>
            <a:ext cx="2143923" cy="887926"/>
          </a:xfrm>
          <a:prstGeom prst="rect">
            <a:avLst/>
          </a:prstGeom>
        </p:spPr>
        <p:txBody>
          <a:bodyPr anchor="t" rtlCol="false" tIns="0" lIns="0" bIns="0" rIns="0">
            <a:spAutoFit/>
          </a:bodyPr>
          <a:lstStyle/>
          <a:p>
            <a:pPr algn="l" marL="0" indent="0" lvl="0">
              <a:lnSpc>
                <a:spcPts val="3680"/>
              </a:lnSpc>
              <a:spcBef>
                <a:spcPct val="0"/>
              </a:spcBef>
            </a:pPr>
            <a:r>
              <a:rPr lang="en-US" b="true" sz="2628">
                <a:solidFill>
                  <a:srgbClr val="FFFFFF"/>
                </a:solidFill>
                <a:latin typeface="Open Sauce Bold"/>
                <a:ea typeface="Open Sauce Bold"/>
                <a:cs typeface="Open Sauce Bold"/>
                <a:sym typeface="Open Sauce Bold"/>
              </a:rPr>
              <a:t>Suspicious Sender</a:t>
            </a:r>
          </a:p>
        </p:txBody>
      </p:sp>
      <p:sp>
        <p:nvSpPr>
          <p:cNvPr name="TextBox 25" id="25"/>
          <p:cNvSpPr txBox="true"/>
          <p:nvPr/>
        </p:nvSpPr>
        <p:spPr>
          <a:xfrm rot="0">
            <a:off x="13194049" y="6271537"/>
            <a:ext cx="2270789" cy="887926"/>
          </a:xfrm>
          <a:prstGeom prst="rect">
            <a:avLst/>
          </a:prstGeom>
        </p:spPr>
        <p:txBody>
          <a:bodyPr anchor="t" rtlCol="false" tIns="0" lIns="0" bIns="0" rIns="0">
            <a:spAutoFit/>
          </a:bodyPr>
          <a:lstStyle/>
          <a:p>
            <a:pPr algn="l" marL="0" indent="0" lvl="0">
              <a:lnSpc>
                <a:spcPts val="3680"/>
              </a:lnSpc>
              <a:spcBef>
                <a:spcPct val="0"/>
              </a:spcBef>
            </a:pPr>
            <a:r>
              <a:rPr lang="en-US" b="true" sz="2628">
                <a:solidFill>
                  <a:srgbClr val="000000"/>
                </a:solidFill>
                <a:latin typeface="Open Sauce Bold"/>
                <a:ea typeface="Open Sauce Bold"/>
                <a:cs typeface="Open Sauce Bold"/>
                <a:sym typeface="Open Sauce Bold"/>
              </a:rPr>
              <a:t>Urgent &amp; Threatening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73602" y="803174"/>
            <a:ext cx="436131" cy="520338"/>
          </a:xfrm>
          <a:custGeom>
            <a:avLst/>
            <a:gdLst/>
            <a:ahLst/>
            <a:cxnLst/>
            <a:rect r="r" b="b" t="t" l="l"/>
            <a:pathLst>
              <a:path h="520338" w="436131">
                <a:moveTo>
                  <a:pt x="0" y="0"/>
                </a:moveTo>
                <a:lnTo>
                  <a:pt x="436131" y="0"/>
                </a:lnTo>
                <a:lnTo>
                  <a:pt x="436131" y="520338"/>
                </a:lnTo>
                <a:lnTo>
                  <a:pt x="0" y="520338"/>
                </a:lnTo>
                <a:lnTo>
                  <a:pt x="0" y="0"/>
                </a:lnTo>
                <a:close/>
              </a:path>
            </a:pathLst>
          </a:custGeom>
          <a:blipFill>
            <a:blip r:embed="rId2"/>
            <a:stretch>
              <a:fillRect l="0" t="0" r="0" b="0"/>
            </a:stretch>
          </a:blipFill>
        </p:spPr>
      </p:sp>
      <p:grpSp>
        <p:nvGrpSpPr>
          <p:cNvPr name="Group 3" id="3"/>
          <p:cNvGrpSpPr/>
          <p:nvPr/>
        </p:nvGrpSpPr>
        <p:grpSpPr>
          <a:xfrm rot="0">
            <a:off x="6465783" y="6029925"/>
            <a:ext cx="3766663" cy="2843061"/>
            <a:chOff x="0" y="0"/>
            <a:chExt cx="463090" cy="349538"/>
          </a:xfrm>
        </p:grpSpPr>
        <p:sp>
          <p:nvSpPr>
            <p:cNvPr name="Freeform 4" id="4"/>
            <p:cNvSpPr/>
            <p:nvPr/>
          </p:nvSpPr>
          <p:spPr>
            <a:xfrm flipH="false" flipV="false" rot="0">
              <a:off x="0" y="0"/>
              <a:ext cx="463090" cy="349538"/>
            </a:xfrm>
            <a:custGeom>
              <a:avLst/>
              <a:gdLst/>
              <a:ahLst/>
              <a:cxnLst/>
              <a:rect r="r" b="b" t="t" l="l"/>
              <a:pathLst>
                <a:path h="349538" w="463090">
                  <a:moveTo>
                    <a:pt x="88381" y="0"/>
                  </a:moveTo>
                  <a:lnTo>
                    <a:pt x="374709" y="0"/>
                  </a:lnTo>
                  <a:cubicBezTo>
                    <a:pt x="423520" y="0"/>
                    <a:pt x="463090" y="39570"/>
                    <a:pt x="463090" y="88381"/>
                  </a:cubicBezTo>
                  <a:lnTo>
                    <a:pt x="463090" y="261157"/>
                  </a:lnTo>
                  <a:cubicBezTo>
                    <a:pt x="463090" y="284597"/>
                    <a:pt x="453778" y="307077"/>
                    <a:pt x="437204" y="323652"/>
                  </a:cubicBezTo>
                  <a:cubicBezTo>
                    <a:pt x="420629" y="340227"/>
                    <a:pt x="398149" y="349538"/>
                    <a:pt x="374709" y="349538"/>
                  </a:cubicBezTo>
                  <a:lnTo>
                    <a:pt x="88381" y="349538"/>
                  </a:lnTo>
                  <a:cubicBezTo>
                    <a:pt x="64941" y="349538"/>
                    <a:pt x="42461" y="340227"/>
                    <a:pt x="25886" y="323652"/>
                  </a:cubicBezTo>
                  <a:cubicBezTo>
                    <a:pt x="9312" y="307077"/>
                    <a:pt x="0" y="284597"/>
                    <a:pt x="0" y="261157"/>
                  </a:cubicBezTo>
                  <a:lnTo>
                    <a:pt x="0" y="88381"/>
                  </a:lnTo>
                  <a:cubicBezTo>
                    <a:pt x="0" y="64941"/>
                    <a:pt x="9312" y="42461"/>
                    <a:pt x="25886" y="25886"/>
                  </a:cubicBezTo>
                  <a:cubicBezTo>
                    <a:pt x="42461" y="9312"/>
                    <a:pt x="64941" y="0"/>
                    <a:pt x="88381" y="0"/>
                  </a:cubicBezTo>
                  <a:close/>
                </a:path>
              </a:pathLst>
            </a:custGeom>
            <a:blipFill>
              <a:blip r:embed="rId3"/>
              <a:stretch>
                <a:fillRect l="0" t="-96" r="0" b="-96"/>
              </a:stretch>
            </a:blipFill>
          </p:spPr>
        </p:sp>
      </p:grpSp>
      <p:grpSp>
        <p:nvGrpSpPr>
          <p:cNvPr name="Group 5" id="5"/>
          <p:cNvGrpSpPr/>
          <p:nvPr/>
        </p:nvGrpSpPr>
        <p:grpSpPr>
          <a:xfrm rot="0">
            <a:off x="1303322" y="2729663"/>
            <a:ext cx="3766663" cy="2843061"/>
            <a:chOff x="0" y="0"/>
            <a:chExt cx="463090" cy="349538"/>
          </a:xfrm>
        </p:grpSpPr>
        <p:sp>
          <p:nvSpPr>
            <p:cNvPr name="Freeform 6" id="6"/>
            <p:cNvSpPr/>
            <p:nvPr/>
          </p:nvSpPr>
          <p:spPr>
            <a:xfrm flipH="false" flipV="false" rot="0">
              <a:off x="0" y="0"/>
              <a:ext cx="463090" cy="349538"/>
            </a:xfrm>
            <a:custGeom>
              <a:avLst/>
              <a:gdLst/>
              <a:ahLst/>
              <a:cxnLst/>
              <a:rect r="r" b="b" t="t" l="l"/>
              <a:pathLst>
                <a:path h="349538" w="463090">
                  <a:moveTo>
                    <a:pt x="88381" y="0"/>
                  </a:moveTo>
                  <a:lnTo>
                    <a:pt x="374709" y="0"/>
                  </a:lnTo>
                  <a:cubicBezTo>
                    <a:pt x="423520" y="0"/>
                    <a:pt x="463090" y="39570"/>
                    <a:pt x="463090" y="88381"/>
                  </a:cubicBezTo>
                  <a:lnTo>
                    <a:pt x="463090" y="261157"/>
                  </a:lnTo>
                  <a:cubicBezTo>
                    <a:pt x="463090" y="284597"/>
                    <a:pt x="453778" y="307077"/>
                    <a:pt x="437204" y="323652"/>
                  </a:cubicBezTo>
                  <a:cubicBezTo>
                    <a:pt x="420629" y="340227"/>
                    <a:pt x="398149" y="349538"/>
                    <a:pt x="374709" y="349538"/>
                  </a:cubicBezTo>
                  <a:lnTo>
                    <a:pt x="88381" y="349538"/>
                  </a:lnTo>
                  <a:cubicBezTo>
                    <a:pt x="64941" y="349538"/>
                    <a:pt x="42461" y="340227"/>
                    <a:pt x="25886" y="323652"/>
                  </a:cubicBezTo>
                  <a:cubicBezTo>
                    <a:pt x="9312" y="307077"/>
                    <a:pt x="0" y="284597"/>
                    <a:pt x="0" y="261157"/>
                  </a:cubicBezTo>
                  <a:lnTo>
                    <a:pt x="0" y="88381"/>
                  </a:lnTo>
                  <a:cubicBezTo>
                    <a:pt x="0" y="64941"/>
                    <a:pt x="9312" y="42461"/>
                    <a:pt x="25886" y="25886"/>
                  </a:cubicBezTo>
                  <a:cubicBezTo>
                    <a:pt x="42461" y="9312"/>
                    <a:pt x="64941" y="0"/>
                    <a:pt x="88381" y="0"/>
                  </a:cubicBezTo>
                  <a:close/>
                </a:path>
              </a:pathLst>
            </a:custGeom>
            <a:blipFill>
              <a:blip r:embed="rId4"/>
              <a:stretch>
                <a:fillRect l="0" t="-96" r="0" b="-96"/>
              </a:stretch>
            </a:blipFill>
          </p:spPr>
        </p:sp>
      </p:grpSp>
      <p:grpSp>
        <p:nvGrpSpPr>
          <p:cNvPr name="Group 7" id="7"/>
          <p:cNvGrpSpPr/>
          <p:nvPr/>
        </p:nvGrpSpPr>
        <p:grpSpPr>
          <a:xfrm rot="0">
            <a:off x="1303322" y="6029925"/>
            <a:ext cx="4792482" cy="2843061"/>
            <a:chOff x="0" y="0"/>
            <a:chExt cx="1262217" cy="748790"/>
          </a:xfrm>
        </p:grpSpPr>
        <p:sp>
          <p:nvSpPr>
            <p:cNvPr name="Freeform 8" id="8"/>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DFC869">
                    <a:alpha val="66500"/>
                  </a:srgbClr>
                </a:gs>
                <a:gs pos="100000">
                  <a:srgbClr val="000000">
                    <a:alpha val="0"/>
                  </a:srgbClr>
                </a:gs>
              </a:gsLst>
              <a:lin ang="2700000"/>
            </a:gradFill>
            <a:ln w="28575" cap="rnd">
              <a:gradFill>
                <a:gsLst>
                  <a:gs pos="0">
                    <a:srgbClr val="EDD46F">
                      <a:alpha val="100000"/>
                    </a:srgbClr>
                  </a:gs>
                  <a:gs pos="100000">
                    <a:srgbClr val="726321">
                      <a:alpha val="100000"/>
                    </a:srgbClr>
                  </a:gs>
                </a:gsLst>
                <a:lin ang="2700000"/>
              </a:gradFill>
              <a:prstDash val="solid"/>
              <a:round/>
            </a:ln>
          </p:spPr>
        </p:sp>
        <p:sp>
          <p:nvSpPr>
            <p:cNvPr name="TextBox 9" id="9"/>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spcBef>
                  <a:spcPct val="0"/>
                </a:spcBef>
              </a:pPr>
            </a:p>
          </p:txBody>
        </p:sp>
      </p:grpSp>
      <p:grpSp>
        <p:nvGrpSpPr>
          <p:cNvPr name="Group 10" id="10"/>
          <p:cNvGrpSpPr/>
          <p:nvPr/>
        </p:nvGrpSpPr>
        <p:grpSpPr>
          <a:xfrm rot="0">
            <a:off x="5439964" y="2729663"/>
            <a:ext cx="4792482" cy="2843061"/>
            <a:chOff x="0" y="0"/>
            <a:chExt cx="1262217" cy="748790"/>
          </a:xfrm>
        </p:grpSpPr>
        <p:sp>
          <p:nvSpPr>
            <p:cNvPr name="Freeform 11" id="11"/>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EDD46F">
                    <a:alpha val="100000"/>
                  </a:srgbClr>
                </a:gs>
                <a:gs pos="100000">
                  <a:srgbClr val="726321">
                    <a:alpha val="100000"/>
                  </a:srgbClr>
                </a:gs>
              </a:gsLst>
              <a:lin ang="2700000"/>
            </a:gradFill>
          </p:spPr>
        </p:sp>
        <p:sp>
          <p:nvSpPr>
            <p:cNvPr name="TextBox 12" id="12"/>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pPr>
            </a:p>
          </p:txBody>
        </p:sp>
      </p:grpSp>
      <p:sp>
        <p:nvSpPr>
          <p:cNvPr name="Freeform 13" id="13"/>
          <p:cNvSpPr/>
          <p:nvPr/>
        </p:nvSpPr>
        <p:spPr>
          <a:xfrm flipH="false" flipV="false" rot="0">
            <a:off x="1675809" y="6500726"/>
            <a:ext cx="543700" cy="484773"/>
          </a:xfrm>
          <a:custGeom>
            <a:avLst/>
            <a:gdLst/>
            <a:ahLst/>
            <a:cxnLst/>
            <a:rect r="r" b="b" t="t" l="l"/>
            <a:pathLst>
              <a:path h="484773" w="543700">
                <a:moveTo>
                  <a:pt x="0" y="0"/>
                </a:moveTo>
                <a:lnTo>
                  <a:pt x="543700" y="0"/>
                </a:lnTo>
                <a:lnTo>
                  <a:pt x="543700" y="484773"/>
                </a:lnTo>
                <a:lnTo>
                  <a:pt x="0" y="484773"/>
                </a:lnTo>
                <a:lnTo>
                  <a:pt x="0" y="0"/>
                </a:lnTo>
                <a:close/>
              </a:path>
            </a:pathLst>
          </a:custGeom>
          <a:blipFill>
            <a:blip r:embed="rId5"/>
            <a:stretch>
              <a:fillRect l="0" t="0" r="0" b="0"/>
            </a:stretch>
          </a:blipFill>
          <a:ln cap="sq">
            <a:noFill/>
            <a:prstDash val="solid"/>
            <a:miter/>
          </a:ln>
        </p:spPr>
      </p:sp>
      <p:sp>
        <p:nvSpPr>
          <p:cNvPr name="Freeform 14" id="14"/>
          <p:cNvSpPr/>
          <p:nvPr/>
        </p:nvSpPr>
        <p:spPr>
          <a:xfrm flipH="false" flipV="false" rot="0">
            <a:off x="5705821" y="3194727"/>
            <a:ext cx="750333" cy="590378"/>
          </a:xfrm>
          <a:custGeom>
            <a:avLst/>
            <a:gdLst/>
            <a:ahLst/>
            <a:cxnLst/>
            <a:rect r="r" b="b" t="t" l="l"/>
            <a:pathLst>
              <a:path h="590378" w="750333">
                <a:moveTo>
                  <a:pt x="0" y="0"/>
                </a:moveTo>
                <a:lnTo>
                  <a:pt x="750333" y="0"/>
                </a:lnTo>
                <a:lnTo>
                  <a:pt x="750333" y="590378"/>
                </a:lnTo>
                <a:lnTo>
                  <a:pt x="0" y="590378"/>
                </a:lnTo>
                <a:lnTo>
                  <a:pt x="0" y="0"/>
                </a:lnTo>
                <a:close/>
              </a:path>
            </a:pathLst>
          </a:custGeom>
          <a:blipFill>
            <a:blip r:embed="rId6"/>
            <a:stretch>
              <a:fillRect l="0" t="0" r="0" b="0"/>
            </a:stretch>
          </a:blipFill>
          <a:ln cap="sq">
            <a:noFill/>
            <a:prstDash val="solid"/>
            <a:miter/>
          </a:ln>
        </p:spPr>
      </p:sp>
      <p:sp>
        <p:nvSpPr>
          <p:cNvPr name="Freeform 15" id="15"/>
          <p:cNvSpPr/>
          <p:nvPr/>
        </p:nvSpPr>
        <p:spPr>
          <a:xfrm flipH="false" flipV="false" rot="-5400000">
            <a:off x="16075764" y="2540401"/>
            <a:ext cx="4424472" cy="1078465"/>
          </a:xfrm>
          <a:custGeom>
            <a:avLst/>
            <a:gdLst/>
            <a:ahLst/>
            <a:cxnLst/>
            <a:rect r="r" b="b" t="t" l="l"/>
            <a:pathLst>
              <a:path h="1078465" w="4424472">
                <a:moveTo>
                  <a:pt x="0" y="0"/>
                </a:moveTo>
                <a:lnTo>
                  <a:pt x="4424472" y="0"/>
                </a:lnTo>
                <a:lnTo>
                  <a:pt x="4424472" y="1078465"/>
                </a:lnTo>
                <a:lnTo>
                  <a:pt x="0" y="1078465"/>
                </a:lnTo>
                <a:lnTo>
                  <a:pt x="0" y="0"/>
                </a:lnTo>
                <a:close/>
              </a:path>
            </a:pathLst>
          </a:custGeom>
          <a:blipFill>
            <a:blip r:embed="rId7"/>
            <a:stretch>
              <a:fillRect l="0" t="0" r="0" b="0"/>
            </a:stretch>
          </a:blipFill>
        </p:spPr>
      </p:sp>
      <p:sp>
        <p:nvSpPr>
          <p:cNvPr name="Freeform 16" id="16"/>
          <p:cNvSpPr/>
          <p:nvPr/>
        </p:nvSpPr>
        <p:spPr>
          <a:xfrm flipH="false" flipV="false" rot="-5400000">
            <a:off x="-5221811" y="8770444"/>
            <a:ext cx="10409701" cy="2537365"/>
          </a:xfrm>
          <a:custGeom>
            <a:avLst/>
            <a:gdLst/>
            <a:ahLst/>
            <a:cxnLst/>
            <a:rect r="r" b="b" t="t" l="l"/>
            <a:pathLst>
              <a:path h="2537365" w="10409701">
                <a:moveTo>
                  <a:pt x="0" y="0"/>
                </a:moveTo>
                <a:lnTo>
                  <a:pt x="10409701" y="0"/>
                </a:lnTo>
                <a:lnTo>
                  <a:pt x="10409701" y="2537364"/>
                </a:lnTo>
                <a:lnTo>
                  <a:pt x="0" y="2537364"/>
                </a:lnTo>
                <a:lnTo>
                  <a:pt x="0" y="0"/>
                </a:lnTo>
                <a:close/>
              </a:path>
            </a:pathLst>
          </a:custGeom>
          <a:blipFill>
            <a:blip r:embed="rId7"/>
            <a:stretch>
              <a:fillRect l="0" t="0" r="0" b="0"/>
            </a:stretch>
          </a:blipFill>
        </p:spPr>
      </p:sp>
      <p:sp>
        <p:nvSpPr>
          <p:cNvPr name="TextBox 17" id="17"/>
          <p:cNvSpPr txBox="true"/>
          <p:nvPr/>
        </p:nvSpPr>
        <p:spPr>
          <a:xfrm rot="0">
            <a:off x="1736006" y="918754"/>
            <a:ext cx="1818906" cy="544601"/>
          </a:xfrm>
          <a:prstGeom prst="rect">
            <a:avLst/>
          </a:prstGeom>
        </p:spPr>
        <p:txBody>
          <a:bodyPr anchor="t" rtlCol="false" tIns="0" lIns="0" bIns="0" rIns="0">
            <a:spAutoFit/>
          </a:bodyPr>
          <a:lstStyle/>
          <a:p>
            <a:pPr algn="l" marL="0" indent="0" lvl="0">
              <a:lnSpc>
                <a:spcPts val="2194"/>
              </a:lnSpc>
              <a:spcBef>
                <a:spcPct val="0"/>
              </a:spcBef>
            </a:pPr>
            <a:r>
              <a:rPr lang="en-US" sz="1567">
                <a:solidFill>
                  <a:srgbClr val="DDDDDD"/>
                </a:solidFill>
                <a:latin typeface="Open Sauce Light"/>
                <a:ea typeface="Open Sauce Light"/>
                <a:cs typeface="Open Sauce Light"/>
                <a:sym typeface="Open Sauce Light"/>
              </a:rPr>
              <a:t>Cybersecurity Training</a:t>
            </a:r>
          </a:p>
        </p:txBody>
      </p:sp>
      <p:sp>
        <p:nvSpPr>
          <p:cNvPr name="TextBox 18" id="18"/>
          <p:cNvSpPr txBox="true"/>
          <p:nvPr/>
        </p:nvSpPr>
        <p:spPr>
          <a:xfrm rot="0">
            <a:off x="15198136" y="918754"/>
            <a:ext cx="2061164" cy="264977"/>
          </a:xfrm>
          <a:prstGeom prst="rect">
            <a:avLst/>
          </a:prstGeom>
        </p:spPr>
        <p:txBody>
          <a:bodyPr anchor="t" rtlCol="false" tIns="0" lIns="0" bIns="0" rIns="0">
            <a:spAutoFit/>
          </a:bodyPr>
          <a:lstStyle/>
          <a:p>
            <a:pPr algn="r" marL="0" indent="0" lvl="0">
              <a:lnSpc>
                <a:spcPts val="2194"/>
              </a:lnSpc>
              <a:spcBef>
                <a:spcPct val="0"/>
              </a:spcBef>
            </a:pPr>
            <a:r>
              <a:rPr lang="en-US" sz="1567">
                <a:solidFill>
                  <a:srgbClr val="DDDDDD"/>
                </a:solidFill>
                <a:latin typeface="Open Sauce Light"/>
                <a:ea typeface="Open Sauce Light"/>
                <a:cs typeface="Open Sauce Light"/>
                <a:sym typeface="Open Sauce Light"/>
              </a:rPr>
              <a:t>September 19, 2026</a:t>
            </a:r>
          </a:p>
        </p:txBody>
      </p:sp>
      <p:sp>
        <p:nvSpPr>
          <p:cNvPr name="TextBox 19" id="19"/>
          <p:cNvSpPr txBox="true"/>
          <p:nvPr/>
        </p:nvSpPr>
        <p:spPr>
          <a:xfrm rot="0">
            <a:off x="11605496" y="4263249"/>
            <a:ext cx="5273207" cy="1004233"/>
          </a:xfrm>
          <a:prstGeom prst="rect">
            <a:avLst/>
          </a:prstGeom>
        </p:spPr>
        <p:txBody>
          <a:bodyPr anchor="t" rtlCol="false" tIns="0" lIns="0" bIns="0" rIns="0">
            <a:spAutoFit/>
          </a:bodyPr>
          <a:lstStyle/>
          <a:p>
            <a:pPr algn="l" marL="0" indent="0" lvl="0">
              <a:lnSpc>
                <a:spcPts val="8185"/>
              </a:lnSpc>
              <a:spcBef>
                <a:spcPct val="0"/>
              </a:spcBef>
            </a:pPr>
            <a:r>
              <a:rPr lang="en-US" b="true" sz="5846">
                <a:solidFill>
                  <a:srgbClr val="DFC869"/>
                </a:solidFill>
                <a:latin typeface="Tomorrow Bold"/>
                <a:ea typeface="Tomorrow Bold"/>
                <a:cs typeface="Tomorrow Bold"/>
                <a:sym typeface="Tomorrow Bold"/>
              </a:rPr>
              <a:t>COMPARISON</a:t>
            </a:r>
          </a:p>
        </p:txBody>
      </p:sp>
      <p:sp>
        <p:nvSpPr>
          <p:cNvPr name="TextBox 20" id="20"/>
          <p:cNvSpPr txBox="true"/>
          <p:nvPr/>
        </p:nvSpPr>
        <p:spPr>
          <a:xfrm rot="0">
            <a:off x="11605496" y="2417824"/>
            <a:ext cx="5273207" cy="1004233"/>
          </a:xfrm>
          <a:prstGeom prst="rect">
            <a:avLst/>
          </a:prstGeom>
        </p:spPr>
        <p:txBody>
          <a:bodyPr anchor="t" rtlCol="false" tIns="0" lIns="0" bIns="0" rIns="0">
            <a:spAutoFit/>
          </a:bodyPr>
          <a:lstStyle/>
          <a:p>
            <a:pPr algn="l" marL="0" indent="0" lvl="0">
              <a:lnSpc>
                <a:spcPts val="8185"/>
              </a:lnSpc>
              <a:spcBef>
                <a:spcPct val="0"/>
              </a:spcBef>
            </a:pPr>
            <a:r>
              <a:rPr lang="en-US" b="true" sz="5846">
                <a:solidFill>
                  <a:srgbClr val="DFC869"/>
                </a:solidFill>
                <a:latin typeface="Tomorrow Bold"/>
                <a:ea typeface="Tomorrow Bold"/>
                <a:cs typeface="Tomorrow Bold"/>
                <a:sym typeface="Tomorrow Bold"/>
              </a:rPr>
              <a:t>REAL VS</a:t>
            </a:r>
          </a:p>
        </p:txBody>
      </p:sp>
      <p:sp>
        <p:nvSpPr>
          <p:cNvPr name="TextBox 21" id="21"/>
          <p:cNvSpPr txBox="true"/>
          <p:nvPr/>
        </p:nvSpPr>
        <p:spPr>
          <a:xfrm rot="0">
            <a:off x="11605496" y="3349796"/>
            <a:ext cx="5273207" cy="1004233"/>
          </a:xfrm>
          <a:prstGeom prst="rect">
            <a:avLst/>
          </a:prstGeom>
        </p:spPr>
        <p:txBody>
          <a:bodyPr anchor="t" rtlCol="false" tIns="0" lIns="0" bIns="0" rIns="0">
            <a:spAutoFit/>
          </a:bodyPr>
          <a:lstStyle/>
          <a:p>
            <a:pPr algn="l" marL="0" indent="0" lvl="0">
              <a:lnSpc>
                <a:spcPts val="8185"/>
              </a:lnSpc>
              <a:spcBef>
                <a:spcPct val="0"/>
              </a:spcBef>
            </a:pPr>
            <a:r>
              <a:rPr lang="en-US" b="true" sz="5846">
                <a:solidFill>
                  <a:srgbClr val="FFFFFF"/>
                </a:solidFill>
                <a:latin typeface="Tomorrow Bold"/>
                <a:ea typeface="Tomorrow Bold"/>
                <a:cs typeface="Tomorrow Bold"/>
                <a:sym typeface="Tomorrow Bold"/>
              </a:rPr>
              <a:t>FAKE</a:t>
            </a:r>
          </a:p>
        </p:txBody>
      </p:sp>
      <p:sp>
        <p:nvSpPr>
          <p:cNvPr name="TextBox 22" id="22"/>
          <p:cNvSpPr txBox="true"/>
          <p:nvPr/>
        </p:nvSpPr>
        <p:spPr>
          <a:xfrm rot="0">
            <a:off x="11605496" y="5944200"/>
            <a:ext cx="4872367" cy="257263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When comparing websites, always check the URL carefully for misspellings or unusual domain extensions. Look for HTTPS and valid security certificates. Fake sites often have poor design quality, inconsistent branding, and broken links. Real websites maintain consistent visual elements and proper security indicators.</a:t>
            </a:r>
          </a:p>
        </p:txBody>
      </p:sp>
      <p:sp>
        <p:nvSpPr>
          <p:cNvPr name="TextBox 23" id="23"/>
          <p:cNvSpPr txBox="true"/>
          <p:nvPr/>
        </p:nvSpPr>
        <p:spPr>
          <a:xfrm rot="0">
            <a:off x="1713440" y="7466795"/>
            <a:ext cx="3972247" cy="10562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DDDDDD"/>
                </a:solidFill>
                <a:latin typeface="Open Sauce Light"/>
                <a:ea typeface="Open Sauce Light"/>
                <a:cs typeface="Open Sauce Light"/>
                <a:sym typeface="Open Sauce Light"/>
              </a:rPr>
              <a:t>Fake website: Notice the misspelled domain name and lack of HTTPS. The design is inconsistent with the legitimate site branding.</a:t>
            </a:r>
          </a:p>
        </p:txBody>
      </p:sp>
      <p:sp>
        <p:nvSpPr>
          <p:cNvPr name="TextBox 24" id="24"/>
          <p:cNvSpPr txBox="true"/>
          <p:nvPr/>
        </p:nvSpPr>
        <p:spPr>
          <a:xfrm rot="0">
            <a:off x="5850082" y="4166534"/>
            <a:ext cx="3972247" cy="10562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000000"/>
                </a:solidFill>
                <a:latin typeface="Open Sauce Light"/>
                <a:ea typeface="Open Sauce Light"/>
                <a:cs typeface="Open Sauce Light"/>
                <a:sym typeface="Open Sauce Light"/>
              </a:rPr>
              <a:t>Real website: Proper URL with HTTPS encryption. Consistent branding, professional design, and valid security certificate displayed.</a:t>
            </a:r>
          </a:p>
        </p:txBody>
      </p:sp>
      <p:sp>
        <p:nvSpPr>
          <p:cNvPr name="TextBox 25" id="25"/>
          <p:cNvSpPr txBox="true"/>
          <p:nvPr/>
        </p:nvSpPr>
        <p:spPr>
          <a:xfrm rot="0">
            <a:off x="2414421" y="6394603"/>
            <a:ext cx="3670109" cy="388522"/>
          </a:xfrm>
          <a:prstGeom prst="rect">
            <a:avLst/>
          </a:prstGeom>
        </p:spPr>
        <p:txBody>
          <a:bodyPr anchor="t" rtlCol="false" tIns="0" lIns="0" bIns="0" rIns="0">
            <a:spAutoFit/>
          </a:bodyPr>
          <a:lstStyle/>
          <a:p>
            <a:pPr algn="l" marL="0" indent="0" lvl="0">
              <a:lnSpc>
                <a:spcPts val="3260"/>
              </a:lnSpc>
              <a:spcBef>
                <a:spcPct val="0"/>
              </a:spcBef>
            </a:pPr>
            <a:r>
              <a:rPr lang="en-US" b="true" sz="2328">
                <a:solidFill>
                  <a:srgbClr val="FFFFFF"/>
                </a:solidFill>
                <a:latin typeface="Open Sauce Bold"/>
                <a:ea typeface="Open Sauce Bold"/>
                <a:cs typeface="Open Sauce Bold"/>
                <a:sym typeface="Open Sauce Bold"/>
              </a:rPr>
              <a:t>Fake Website Example</a:t>
            </a:r>
          </a:p>
        </p:txBody>
      </p:sp>
      <p:sp>
        <p:nvSpPr>
          <p:cNvPr name="TextBox 26" id="26"/>
          <p:cNvSpPr txBox="true"/>
          <p:nvPr/>
        </p:nvSpPr>
        <p:spPr>
          <a:xfrm rot="0">
            <a:off x="6551063" y="3094342"/>
            <a:ext cx="3271265" cy="798097"/>
          </a:xfrm>
          <a:prstGeom prst="rect">
            <a:avLst/>
          </a:prstGeom>
        </p:spPr>
        <p:txBody>
          <a:bodyPr anchor="t" rtlCol="false" tIns="0" lIns="0" bIns="0" rIns="0">
            <a:spAutoFit/>
          </a:bodyPr>
          <a:lstStyle/>
          <a:p>
            <a:pPr algn="l" marL="0" indent="0" lvl="0">
              <a:lnSpc>
                <a:spcPts val="3260"/>
              </a:lnSpc>
              <a:spcBef>
                <a:spcPct val="0"/>
              </a:spcBef>
            </a:pPr>
            <a:r>
              <a:rPr lang="en-US" b="true" sz="2328">
                <a:solidFill>
                  <a:srgbClr val="000000"/>
                </a:solidFill>
                <a:latin typeface="Open Sauce Bold"/>
                <a:ea typeface="Open Sauce Bold"/>
                <a:cs typeface="Open Sauce Bold"/>
                <a:sym typeface="Open Sauce Bold"/>
              </a:rPr>
              <a:t>Legitimate Website Example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36006" y="1977612"/>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262116" y="1977612"/>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36006" y="4641191"/>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36006" y="7304770"/>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262116" y="4641191"/>
            <a:ext cx="4779097" cy="6286948"/>
            <a:chOff x="0" y="0"/>
            <a:chExt cx="587563" cy="772945"/>
          </a:xfrm>
        </p:grpSpPr>
        <p:sp>
          <p:nvSpPr>
            <p:cNvPr name="Freeform 8" id="8"/>
            <p:cNvSpPr/>
            <p:nvPr/>
          </p:nvSpPr>
          <p:spPr>
            <a:xfrm flipH="false" flipV="false" rot="0">
              <a:off x="0" y="0"/>
              <a:ext cx="587563" cy="772945"/>
            </a:xfrm>
            <a:custGeom>
              <a:avLst/>
              <a:gdLst/>
              <a:ahLst/>
              <a:cxnLst/>
              <a:rect r="r" b="b" t="t" l="l"/>
              <a:pathLst>
                <a:path h="772945" w="587563">
                  <a:moveTo>
                    <a:pt x="69658" y="0"/>
                  </a:moveTo>
                  <a:lnTo>
                    <a:pt x="517905" y="0"/>
                  </a:lnTo>
                  <a:cubicBezTo>
                    <a:pt x="556376" y="0"/>
                    <a:pt x="587563" y="31187"/>
                    <a:pt x="587563" y="69658"/>
                  </a:cubicBezTo>
                  <a:lnTo>
                    <a:pt x="587563" y="703287"/>
                  </a:lnTo>
                  <a:cubicBezTo>
                    <a:pt x="587563" y="741758"/>
                    <a:pt x="556376" y="772945"/>
                    <a:pt x="517905" y="772945"/>
                  </a:cubicBezTo>
                  <a:lnTo>
                    <a:pt x="69658" y="772945"/>
                  </a:lnTo>
                  <a:cubicBezTo>
                    <a:pt x="31187" y="772945"/>
                    <a:pt x="0" y="741758"/>
                    <a:pt x="0" y="703287"/>
                  </a:cubicBezTo>
                  <a:lnTo>
                    <a:pt x="0" y="69658"/>
                  </a:lnTo>
                  <a:cubicBezTo>
                    <a:pt x="0" y="31187"/>
                    <a:pt x="31187" y="0"/>
                    <a:pt x="69658" y="0"/>
                  </a:cubicBezTo>
                  <a:close/>
                </a:path>
              </a:pathLst>
            </a:custGeom>
            <a:blipFill>
              <a:blip r:embed="rId6"/>
              <a:stretch>
                <a:fillRect l="0" t="-258" r="0" b="-258"/>
              </a:stretch>
            </a:blipFill>
          </p:spPr>
        </p:sp>
      </p:grpSp>
      <p:sp>
        <p:nvSpPr>
          <p:cNvPr name="Freeform 9" id="9"/>
          <p:cNvSpPr/>
          <p:nvPr/>
        </p:nvSpPr>
        <p:spPr>
          <a:xfrm flipH="false" flipV="false" rot="-5400000">
            <a:off x="7836690" y="9018142"/>
            <a:ext cx="6409046" cy="1562205"/>
          </a:xfrm>
          <a:custGeom>
            <a:avLst/>
            <a:gdLst/>
            <a:ahLst/>
            <a:cxnLst/>
            <a:rect r="r" b="b" t="t" l="l"/>
            <a:pathLst>
              <a:path h="1562205" w="6409046">
                <a:moveTo>
                  <a:pt x="0" y="0"/>
                </a:moveTo>
                <a:lnTo>
                  <a:pt x="6409046" y="0"/>
                </a:lnTo>
                <a:lnTo>
                  <a:pt x="6409046" y="1562205"/>
                </a:lnTo>
                <a:lnTo>
                  <a:pt x="0" y="1562205"/>
                </a:lnTo>
                <a:lnTo>
                  <a:pt x="0" y="0"/>
                </a:lnTo>
                <a:close/>
              </a:path>
            </a:pathLst>
          </a:custGeom>
          <a:blipFill>
            <a:blip r:embed="rId7"/>
            <a:stretch>
              <a:fillRect l="0" t="0" r="0" b="0"/>
            </a:stretch>
          </a:blipFill>
        </p:spPr>
      </p:sp>
      <p:sp>
        <p:nvSpPr>
          <p:cNvPr name="Freeform 10" id="10"/>
          <p:cNvSpPr/>
          <p:nvPr/>
        </p:nvSpPr>
        <p:spPr>
          <a:xfrm flipH="false" flipV="false" rot="-5400000">
            <a:off x="-3175948" y="1987149"/>
            <a:ext cx="6409046" cy="1562205"/>
          </a:xfrm>
          <a:custGeom>
            <a:avLst/>
            <a:gdLst/>
            <a:ahLst/>
            <a:cxnLst/>
            <a:rect r="r" b="b" t="t" l="l"/>
            <a:pathLst>
              <a:path h="1562205" w="6409046">
                <a:moveTo>
                  <a:pt x="0" y="0"/>
                </a:moveTo>
                <a:lnTo>
                  <a:pt x="6409046" y="0"/>
                </a:lnTo>
                <a:lnTo>
                  <a:pt x="6409046" y="1562205"/>
                </a:lnTo>
                <a:lnTo>
                  <a:pt x="0" y="1562205"/>
                </a:lnTo>
                <a:lnTo>
                  <a:pt x="0" y="0"/>
                </a:lnTo>
                <a:close/>
              </a:path>
            </a:pathLst>
          </a:custGeom>
          <a:blipFill>
            <a:blip r:embed="rId7"/>
            <a:stretch>
              <a:fillRect l="0" t="0" r="0" b="0"/>
            </a:stretch>
          </a:blipFill>
        </p:spPr>
      </p:sp>
      <p:sp>
        <p:nvSpPr>
          <p:cNvPr name="TextBox 11" id="11"/>
          <p:cNvSpPr txBox="true"/>
          <p:nvPr/>
        </p:nvSpPr>
        <p:spPr>
          <a:xfrm rot="0">
            <a:off x="1736006" y="918754"/>
            <a:ext cx="1982571" cy="544601"/>
          </a:xfrm>
          <a:prstGeom prst="rect">
            <a:avLst/>
          </a:prstGeom>
        </p:spPr>
        <p:txBody>
          <a:bodyPr anchor="t" rtlCol="false" tIns="0" lIns="0" bIns="0" rIns="0">
            <a:spAutoFit/>
          </a:bodyPr>
          <a:lstStyle/>
          <a:p>
            <a:pPr algn="l" marL="0" indent="0" lvl="0">
              <a:lnSpc>
                <a:spcPts val="2194"/>
              </a:lnSpc>
              <a:spcBef>
                <a:spcPct val="0"/>
              </a:spcBef>
            </a:pPr>
            <a:r>
              <a:rPr lang="en-US" sz="1567">
                <a:solidFill>
                  <a:srgbClr val="DDDDDD"/>
                </a:solidFill>
                <a:latin typeface="Open Sauce Light"/>
                <a:ea typeface="Open Sauce Light"/>
                <a:cs typeface="Open Sauce Light"/>
                <a:sym typeface="Open Sauce Light"/>
              </a:rPr>
              <a:t>Cybe</a:t>
            </a:r>
            <a:r>
              <a:rPr lang="en-US" sz="1567">
                <a:solidFill>
                  <a:srgbClr val="DDDDDD"/>
                </a:solidFill>
                <a:latin typeface="Open Sauce Light"/>
                <a:ea typeface="Open Sauce Light"/>
                <a:cs typeface="Open Sauce Light"/>
                <a:sym typeface="Open Sauce Light"/>
              </a:rPr>
              <a:t>rsecurity Training</a:t>
            </a:r>
          </a:p>
        </p:txBody>
      </p:sp>
      <p:sp>
        <p:nvSpPr>
          <p:cNvPr name="TextBox 12" id="12"/>
          <p:cNvSpPr txBox="true"/>
          <p:nvPr/>
        </p:nvSpPr>
        <p:spPr>
          <a:xfrm rot="0">
            <a:off x="15198136" y="918754"/>
            <a:ext cx="2061164" cy="264977"/>
          </a:xfrm>
          <a:prstGeom prst="rect">
            <a:avLst/>
          </a:prstGeom>
        </p:spPr>
        <p:txBody>
          <a:bodyPr anchor="t" rtlCol="false" tIns="0" lIns="0" bIns="0" rIns="0">
            <a:spAutoFit/>
          </a:bodyPr>
          <a:lstStyle/>
          <a:p>
            <a:pPr algn="r" marL="0" indent="0" lvl="0">
              <a:lnSpc>
                <a:spcPts val="2194"/>
              </a:lnSpc>
              <a:spcBef>
                <a:spcPct val="0"/>
              </a:spcBef>
            </a:pPr>
            <a:r>
              <a:rPr lang="en-US" sz="1567">
                <a:solidFill>
                  <a:srgbClr val="DDDDDD"/>
                </a:solidFill>
                <a:latin typeface="Open Sauce Light"/>
                <a:ea typeface="Open Sauce Light"/>
                <a:cs typeface="Open Sauce Light"/>
                <a:sym typeface="Open Sauce Light"/>
              </a:rPr>
              <a:t>September 19, 2026</a:t>
            </a:r>
          </a:p>
        </p:txBody>
      </p:sp>
      <p:sp>
        <p:nvSpPr>
          <p:cNvPr name="TextBox 13" id="13"/>
          <p:cNvSpPr txBox="true"/>
          <p:nvPr/>
        </p:nvSpPr>
        <p:spPr>
          <a:xfrm rot="0">
            <a:off x="11986093" y="4282299"/>
            <a:ext cx="4872367" cy="860548"/>
          </a:xfrm>
          <a:prstGeom prst="rect">
            <a:avLst/>
          </a:prstGeom>
        </p:spPr>
        <p:txBody>
          <a:bodyPr anchor="t" rtlCol="false" tIns="0" lIns="0" bIns="0" rIns="0">
            <a:spAutoFit/>
          </a:bodyPr>
          <a:lstStyle/>
          <a:p>
            <a:pPr algn="l" marL="0" indent="0" lvl="0">
              <a:lnSpc>
                <a:spcPts val="7054"/>
              </a:lnSpc>
              <a:spcBef>
                <a:spcPct val="0"/>
              </a:spcBef>
            </a:pPr>
            <a:r>
              <a:rPr lang="en-US" b="true" sz="5038">
                <a:solidFill>
                  <a:srgbClr val="DFC869"/>
                </a:solidFill>
                <a:latin typeface="Tomorrow Bold"/>
                <a:ea typeface="Tomorrow Bold"/>
                <a:cs typeface="Tomorrow Bold"/>
                <a:sym typeface="Tomorrow Bold"/>
              </a:rPr>
              <a:t>TACTICS</a:t>
            </a:r>
          </a:p>
        </p:txBody>
      </p:sp>
      <p:sp>
        <p:nvSpPr>
          <p:cNvPr name="TextBox 14" id="14"/>
          <p:cNvSpPr txBox="true"/>
          <p:nvPr/>
        </p:nvSpPr>
        <p:spPr>
          <a:xfrm rot="0">
            <a:off x="11986093" y="2436874"/>
            <a:ext cx="4872367" cy="860548"/>
          </a:xfrm>
          <a:prstGeom prst="rect">
            <a:avLst/>
          </a:prstGeom>
        </p:spPr>
        <p:txBody>
          <a:bodyPr anchor="t" rtlCol="false" tIns="0" lIns="0" bIns="0" rIns="0">
            <a:spAutoFit/>
          </a:bodyPr>
          <a:lstStyle/>
          <a:p>
            <a:pPr algn="l" marL="0" indent="0" lvl="0">
              <a:lnSpc>
                <a:spcPts val="7054"/>
              </a:lnSpc>
              <a:spcBef>
                <a:spcPct val="0"/>
              </a:spcBef>
            </a:pPr>
            <a:r>
              <a:rPr lang="en-US" b="true" sz="5038">
                <a:solidFill>
                  <a:srgbClr val="DFC869"/>
                </a:solidFill>
                <a:latin typeface="Tomorrow Bold"/>
                <a:ea typeface="Tomorrow Bold"/>
                <a:cs typeface="Tomorrow Bold"/>
                <a:sym typeface="Tomorrow Bold"/>
              </a:rPr>
              <a:t>SOCIAL</a:t>
            </a:r>
          </a:p>
        </p:txBody>
      </p:sp>
      <p:sp>
        <p:nvSpPr>
          <p:cNvPr name="TextBox 15" id="15"/>
          <p:cNvSpPr txBox="true"/>
          <p:nvPr/>
        </p:nvSpPr>
        <p:spPr>
          <a:xfrm rot="0">
            <a:off x="11986093" y="3368846"/>
            <a:ext cx="4872367" cy="860548"/>
          </a:xfrm>
          <a:prstGeom prst="rect">
            <a:avLst/>
          </a:prstGeom>
        </p:spPr>
        <p:txBody>
          <a:bodyPr anchor="t" rtlCol="false" tIns="0" lIns="0" bIns="0" rIns="0">
            <a:spAutoFit/>
          </a:bodyPr>
          <a:lstStyle/>
          <a:p>
            <a:pPr algn="l" marL="0" indent="0" lvl="0">
              <a:lnSpc>
                <a:spcPts val="7054"/>
              </a:lnSpc>
              <a:spcBef>
                <a:spcPct val="0"/>
              </a:spcBef>
            </a:pPr>
            <a:r>
              <a:rPr lang="en-US" b="true" sz="5038">
                <a:solidFill>
                  <a:srgbClr val="FFFFFF"/>
                </a:solidFill>
                <a:latin typeface="Tomorrow Bold"/>
                <a:ea typeface="Tomorrow Bold"/>
                <a:cs typeface="Tomorrow Bold"/>
                <a:sym typeface="Tomorrow Bold"/>
              </a:rPr>
              <a:t>ENGINEERING</a:t>
            </a:r>
          </a:p>
        </p:txBody>
      </p:sp>
      <p:sp>
        <p:nvSpPr>
          <p:cNvPr name="TextBox 16" id="16"/>
          <p:cNvSpPr txBox="true"/>
          <p:nvPr/>
        </p:nvSpPr>
        <p:spPr>
          <a:xfrm rot="0">
            <a:off x="11986093" y="5944200"/>
            <a:ext cx="4872367" cy="192493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Attackers use psychological manipulation to trick victims into revealing sensitive information. Understanding these tactics helps you recognize when someone is trying to manipulate you for malicious purposes.</a:t>
            </a:r>
          </a:p>
        </p:txBody>
      </p:sp>
      <p:sp>
        <p:nvSpPr>
          <p:cNvPr name="TextBox 17" id="17"/>
          <p:cNvSpPr txBox="true"/>
          <p:nvPr/>
        </p:nvSpPr>
        <p:spPr>
          <a:xfrm rot="0">
            <a:off x="1736006" y="2608222"/>
            <a:ext cx="3227336" cy="13229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A2A2A2"/>
                </a:solidFill>
                <a:latin typeface="Open Sauce Light"/>
                <a:ea typeface="Open Sauce Light"/>
                <a:cs typeface="Open Sauce Light"/>
                <a:sym typeface="Open Sauce Light"/>
              </a:rPr>
              <a:t>Fabricating a believable scenario to gain your trust and extract information. Attackers create elaborate stories to appear legitimate.</a:t>
            </a:r>
          </a:p>
        </p:txBody>
      </p:sp>
      <p:sp>
        <p:nvSpPr>
          <p:cNvPr name="TextBox 18" id="18"/>
          <p:cNvSpPr txBox="true"/>
          <p:nvPr/>
        </p:nvSpPr>
        <p:spPr>
          <a:xfrm rot="0">
            <a:off x="6262116" y="2608222"/>
            <a:ext cx="3227336" cy="13229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A2A2A2"/>
                </a:solidFill>
                <a:latin typeface="Open Sauce Light"/>
                <a:ea typeface="Open Sauce Light"/>
                <a:cs typeface="Open Sauce Light"/>
                <a:sym typeface="Open Sauce Light"/>
              </a:rPr>
              <a:t>Offering something enticing like free downloads or USB drives to lure victims. The temptation triggers curiosity and bypasses caution.</a:t>
            </a:r>
          </a:p>
        </p:txBody>
      </p:sp>
      <p:sp>
        <p:nvSpPr>
          <p:cNvPr name="TextBox 19" id="19"/>
          <p:cNvSpPr txBox="true"/>
          <p:nvPr/>
        </p:nvSpPr>
        <p:spPr>
          <a:xfrm rot="0">
            <a:off x="1736006" y="5271801"/>
            <a:ext cx="3227336" cy="10562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A2A2A2"/>
                </a:solidFill>
                <a:latin typeface="Open Sauce Light"/>
                <a:ea typeface="Open Sauce Light"/>
                <a:cs typeface="Open Sauce Light"/>
                <a:sym typeface="Open Sauce Light"/>
              </a:rPr>
              <a:t>Pretending to be a trusted figure like IT support, a manager, or a bank representative to gain access to systems or information.</a:t>
            </a:r>
          </a:p>
        </p:txBody>
      </p:sp>
      <p:sp>
        <p:nvSpPr>
          <p:cNvPr name="TextBox 20" id="20"/>
          <p:cNvSpPr txBox="true"/>
          <p:nvPr/>
        </p:nvSpPr>
        <p:spPr>
          <a:xfrm rot="0">
            <a:off x="2305339" y="1949037"/>
            <a:ext cx="2011897" cy="363914"/>
          </a:xfrm>
          <a:prstGeom prst="rect">
            <a:avLst/>
          </a:prstGeom>
        </p:spPr>
        <p:txBody>
          <a:bodyPr anchor="t" rtlCol="false" tIns="0" lIns="0" bIns="0" rIns="0">
            <a:spAutoFit/>
          </a:bodyPr>
          <a:lstStyle/>
          <a:p>
            <a:pPr algn="l" marL="0" indent="0" lvl="0">
              <a:lnSpc>
                <a:spcPts val="3080"/>
              </a:lnSpc>
              <a:spcBef>
                <a:spcPct val="0"/>
              </a:spcBef>
            </a:pPr>
            <a:r>
              <a:rPr lang="en-US" b="true" sz="2200">
                <a:solidFill>
                  <a:srgbClr val="DFC869"/>
                </a:solidFill>
                <a:latin typeface="Open Sauce Bold"/>
                <a:ea typeface="Open Sauce Bold"/>
                <a:cs typeface="Open Sauce Bold"/>
                <a:sym typeface="Open Sauce Bold"/>
              </a:rPr>
              <a:t>Pretexting</a:t>
            </a:r>
          </a:p>
        </p:txBody>
      </p:sp>
      <p:sp>
        <p:nvSpPr>
          <p:cNvPr name="TextBox 21" id="21"/>
          <p:cNvSpPr txBox="true"/>
          <p:nvPr/>
        </p:nvSpPr>
        <p:spPr>
          <a:xfrm rot="0">
            <a:off x="6831449" y="1949037"/>
            <a:ext cx="2658003" cy="363914"/>
          </a:xfrm>
          <a:prstGeom prst="rect">
            <a:avLst/>
          </a:prstGeom>
        </p:spPr>
        <p:txBody>
          <a:bodyPr anchor="t" rtlCol="false" tIns="0" lIns="0" bIns="0" rIns="0">
            <a:spAutoFit/>
          </a:bodyPr>
          <a:lstStyle/>
          <a:p>
            <a:pPr algn="l" marL="0" indent="0" lvl="0">
              <a:lnSpc>
                <a:spcPts val="3080"/>
              </a:lnSpc>
              <a:spcBef>
                <a:spcPct val="0"/>
              </a:spcBef>
            </a:pPr>
            <a:r>
              <a:rPr lang="en-US" b="true" sz="2200">
                <a:solidFill>
                  <a:srgbClr val="DFC869"/>
                </a:solidFill>
                <a:latin typeface="Open Sauce Bold"/>
                <a:ea typeface="Open Sauce Bold"/>
                <a:cs typeface="Open Sauce Bold"/>
                <a:sym typeface="Open Sauce Bold"/>
              </a:rPr>
              <a:t>Baiting</a:t>
            </a:r>
          </a:p>
        </p:txBody>
      </p:sp>
      <p:sp>
        <p:nvSpPr>
          <p:cNvPr name="TextBox 22" id="22"/>
          <p:cNvSpPr txBox="true"/>
          <p:nvPr/>
        </p:nvSpPr>
        <p:spPr>
          <a:xfrm rot="0">
            <a:off x="2305339" y="4612616"/>
            <a:ext cx="2011897" cy="363914"/>
          </a:xfrm>
          <a:prstGeom prst="rect">
            <a:avLst/>
          </a:prstGeom>
        </p:spPr>
        <p:txBody>
          <a:bodyPr anchor="t" rtlCol="false" tIns="0" lIns="0" bIns="0" rIns="0">
            <a:spAutoFit/>
          </a:bodyPr>
          <a:lstStyle/>
          <a:p>
            <a:pPr algn="l" marL="0" indent="0" lvl="0">
              <a:lnSpc>
                <a:spcPts val="3080"/>
              </a:lnSpc>
              <a:spcBef>
                <a:spcPct val="0"/>
              </a:spcBef>
            </a:pPr>
            <a:r>
              <a:rPr lang="en-US" b="true" sz="2200">
                <a:solidFill>
                  <a:srgbClr val="DFC869"/>
                </a:solidFill>
                <a:latin typeface="Open Sauce Bold"/>
                <a:ea typeface="Open Sauce Bold"/>
                <a:cs typeface="Open Sauce Bold"/>
                <a:sym typeface="Open Sauce Bold"/>
              </a:rPr>
              <a:t>Impersonation</a:t>
            </a:r>
          </a:p>
        </p:txBody>
      </p:sp>
      <p:sp>
        <p:nvSpPr>
          <p:cNvPr name="TextBox 23" id="23"/>
          <p:cNvSpPr txBox="true"/>
          <p:nvPr/>
        </p:nvSpPr>
        <p:spPr>
          <a:xfrm rot="0">
            <a:off x="1736006" y="7935380"/>
            <a:ext cx="3227336" cy="13229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A2A2A2"/>
                </a:solidFill>
                <a:latin typeface="Open Sauce Light"/>
                <a:ea typeface="Open Sauce Light"/>
                <a:cs typeface="Open Sauce Light"/>
                <a:sym typeface="Open Sauce Light"/>
              </a:rPr>
              <a:t>Offering a service or favor in exchange for information. Common in tech support scams where help is offered for credentials.</a:t>
            </a:r>
          </a:p>
        </p:txBody>
      </p:sp>
      <p:sp>
        <p:nvSpPr>
          <p:cNvPr name="TextBox 24" id="24"/>
          <p:cNvSpPr txBox="true"/>
          <p:nvPr/>
        </p:nvSpPr>
        <p:spPr>
          <a:xfrm rot="0">
            <a:off x="2305339" y="7276195"/>
            <a:ext cx="2484337" cy="363914"/>
          </a:xfrm>
          <a:prstGeom prst="rect">
            <a:avLst/>
          </a:prstGeom>
        </p:spPr>
        <p:txBody>
          <a:bodyPr anchor="t" rtlCol="false" tIns="0" lIns="0" bIns="0" rIns="0">
            <a:spAutoFit/>
          </a:bodyPr>
          <a:lstStyle/>
          <a:p>
            <a:pPr algn="l" marL="0" indent="0" lvl="0">
              <a:lnSpc>
                <a:spcPts val="3080"/>
              </a:lnSpc>
              <a:spcBef>
                <a:spcPct val="0"/>
              </a:spcBef>
            </a:pPr>
            <a:r>
              <a:rPr lang="en-US" b="true" sz="2200">
                <a:solidFill>
                  <a:srgbClr val="DFC869"/>
                </a:solidFill>
                <a:latin typeface="Open Sauce Bold"/>
                <a:ea typeface="Open Sauce Bold"/>
                <a:cs typeface="Open Sauce Bold"/>
                <a:sym typeface="Open Sauce Bold"/>
              </a:rPr>
              <a:t>Quid Pro Quo</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45030" y="804361"/>
            <a:ext cx="540287" cy="545756"/>
          </a:xfrm>
          <a:custGeom>
            <a:avLst/>
            <a:gdLst/>
            <a:ahLst/>
            <a:cxnLst/>
            <a:rect r="r" b="b" t="t" l="l"/>
            <a:pathLst>
              <a:path h="545756" w="540287">
                <a:moveTo>
                  <a:pt x="0" y="0"/>
                </a:moveTo>
                <a:lnTo>
                  <a:pt x="540288" y="0"/>
                </a:lnTo>
                <a:lnTo>
                  <a:pt x="540288" y="545756"/>
                </a:lnTo>
                <a:lnTo>
                  <a:pt x="0" y="545756"/>
                </a:lnTo>
                <a:lnTo>
                  <a:pt x="0" y="0"/>
                </a:lnTo>
                <a:close/>
              </a:path>
            </a:pathLst>
          </a:custGeom>
          <a:blipFill>
            <a:blip r:embed="rId2"/>
            <a:stretch>
              <a:fillRect l="0" t="0" r="0" b="0"/>
            </a:stretch>
          </a:blipFill>
        </p:spPr>
      </p:sp>
      <p:grpSp>
        <p:nvGrpSpPr>
          <p:cNvPr name="Group 3" id="3"/>
          <p:cNvGrpSpPr/>
          <p:nvPr/>
        </p:nvGrpSpPr>
        <p:grpSpPr>
          <a:xfrm rot="0">
            <a:off x="8275529" y="2394332"/>
            <a:ext cx="3437707" cy="6863968"/>
            <a:chOff x="0" y="0"/>
            <a:chExt cx="422647" cy="843886"/>
          </a:xfrm>
        </p:grpSpPr>
        <p:sp>
          <p:nvSpPr>
            <p:cNvPr name="Freeform 4" id="4"/>
            <p:cNvSpPr/>
            <p:nvPr/>
          </p:nvSpPr>
          <p:spPr>
            <a:xfrm flipH="false" flipV="false" rot="0">
              <a:off x="0" y="0"/>
              <a:ext cx="422647" cy="843886"/>
            </a:xfrm>
            <a:custGeom>
              <a:avLst/>
              <a:gdLst/>
              <a:ahLst/>
              <a:cxnLst/>
              <a:rect r="r" b="b" t="t" l="l"/>
              <a:pathLst>
                <a:path h="843886" w="422647">
                  <a:moveTo>
                    <a:pt x="96839" y="0"/>
                  </a:moveTo>
                  <a:lnTo>
                    <a:pt x="325808" y="0"/>
                  </a:lnTo>
                  <a:cubicBezTo>
                    <a:pt x="351491" y="0"/>
                    <a:pt x="376123" y="10203"/>
                    <a:pt x="394283" y="28363"/>
                  </a:cubicBezTo>
                  <a:cubicBezTo>
                    <a:pt x="412444" y="46524"/>
                    <a:pt x="422647" y="71155"/>
                    <a:pt x="422647" y="96839"/>
                  </a:cubicBezTo>
                  <a:lnTo>
                    <a:pt x="422647" y="747048"/>
                  </a:lnTo>
                  <a:cubicBezTo>
                    <a:pt x="422647" y="772731"/>
                    <a:pt x="412444" y="797362"/>
                    <a:pt x="394283" y="815523"/>
                  </a:cubicBezTo>
                  <a:cubicBezTo>
                    <a:pt x="376123" y="833684"/>
                    <a:pt x="351491" y="843886"/>
                    <a:pt x="325808" y="843886"/>
                  </a:cubicBezTo>
                  <a:lnTo>
                    <a:pt x="96839" y="843886"/>
                  </a:lnTo>
                  <a:cubicBezTo>
                    <a:pt x="71155" y="843886"/>
                    <a:pt x="46524" y="833684"/>
                    <a:pt x="28363" y="815523"/>
                  </a:cubicBezTo>
                  <a:cubicBezTo>
                    <a:pt x="10203" y="797362"/>
                    <a:pt x="0" y="772731"/>
                    <a:pt x="0" y="747048"/>
                  </a:cubicBezTo>
                  <a:lnTo>
                    <a:pt x="0" y="96839"/>
                  </a:lnTo>
                  <a:cubicBezTo>
                    <a:pt x="0" y="71155"/>
                    <a:pt x="10203" y="46524"/>
                    <a:pt x="28363" y="28363"/>
                  </a:cubicBezTo>
                  <a:cubicBezTo>
                    <a:pt x="46524" y="10203"/>
                    <a:pt x="71155" y="0"/>
                    <a:pt x="96839" y="0"/>
                  </a:cubicBezTo>
                  <a:close/>
                </a:path>
              </a:pathLst>
            </a:custGeom>
            <a:blipFill>
              <a:blip r:embed="rId3"/>
              <a:stretch>
                <a:fillRect l="-415" t="0" r="-415" b="0"/>
              </a:stretch>
            </a:blipFill>
          </p:spPr>
        </p:sp>
      </p:grpSp>
      <p:grpSp>
        <p:nvGrpSpPr>
          <p:cNvPr name="Group 5" id="5"/>
          <p:cNvGrpSpPr/>
          <p:nvPr/>
        </p:nvGrpSpPr>
        <p:grpSpPr>
          <a:xfrm rot="0">
            <a:off x="12082950" y="2849905"/>
            <a:ext cx="4792482" cy="2843061"/>
            <a:chOff x="0" y="0"/>
            <a:chExt cx="1262217" cy="748790"/>
          </a:xfrm>
        </p:grpSpPr>
        <p:sp>
          <p:nvSpPr>
            <p:cNvPr name="Freeform 6" id="6"/>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DFC869">
                    <a:alpha val="66500"/>
                  </a:srgbClr>
                </a:gs>
                <a:gs pos="100000">
                  <a:srgbClr val="000000">
                    <a:alpha val="0"/>
                  </a:srgbClr>
                </a:gs>
              </a:gsLst>
              <a:lin ang="2700000"/>
            </a:gradFill>
            <a:ln w="28575" cap="rnd">
              <a:gradFill>
                <a:gsLst>
                  <a:gs pos="0">
                    <a:srgbClr val="EDD46F">
                      <a:alpha val="100000"/>
                    </a:srgbClr>
                  </a:gs>
                  <a:gs pos="100000">
                    <a:srgbClr val="726321">
                      <a:alpha val="100000"/>
                    </a:srgbClr>
                  </a:gs>
                </a:gsLst>
                <a:lin ang="2700000"/>
              </a:gradFill>
              <a:prstDash val="solid"/>
              <a:round/>
            </a:ln>
          </p:spPr>
        </p:sp>
        <p:sp>
          <p:nvSpPr>
            <p:cNvPr name="TextBox 7" id="7"/>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pPr>
            </a:p>
          </p:txBody>
        </p:sp>
      </p:grpSp>
      <p:grpSp>
        <p:nvGrpSpPr>
          <p:cNvPr name="Group 8" id="8"/>
          <p:cNvGrpSpPr/>
          <p:nvPr/>
        </p:nvGrpSpPr>
        <p:grpSpPr>
          <a:xfrm rot="0">
            <a:off x="12082950" y="5959666"/>
            <a:ext cx="4792482" cy="2843061"/>
            <a:chOff x="0" y="0"/>
            <a:chExt cx="1262217" cy="748790"/>
          </a:xfrm>
        </p:grpSpPr>
        <p:sp>
          <p:nvSpPr>
            <p:cNvPr name="Freeform 9" id="9"/>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EDD46F">
                    <a:alpha val="100000"/>
                  </a:srgbClr>
                </a:gs>
                <a:gs pos="100000">
                  <a:srgbClr val="726321">
                    <a:alpha val="100000"/>
                  </a:srgbClr>
                </a:gs>
              </a:gsLst>
              <a:lin ang="2700000"/>
            </a:gradFill>
          </p:spPr>
        </p:sp>
        <p:sp>
          <p:nvSpPr>
            <p:cNvPr name="TextBox 10" id="10"/>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pPr>
            </a:p>
          </p:txBody>
        </p:sp>
      </p:grpSp>
      <p:sp>
        <p:nvSpPr>
          <p:cNvPr name="TextBox 11" id="11"/>
          <p:cNvSpPr txBox="true"/>
          <p:nvPr/>
        </p:nvSpPr>
        <p:spPr>
          <a:xfrm rot="0">
            <a:off x="12493067" y="4286776"/>
            <a:ext cx="3972247" cy="10562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DDDDDD"/>
                </a:solidFill>
                <a:latin typeface="Open Sauce Light"/>
                <a:ea typeface="Open Sauce Light"/>
                <a:cs typeface="Open Sauce Light"/>
                <a:sym typeface="Open Sauce Light"/>
              </a:rPr>
              <a:t>Check for: suspicious sender address, urgent language, poor grammar, unexpected attachments, and suspicious links.</a:t>
            </a:r>
          </a:p>
        </p:txBody>
      </p:sp>
      <p:sp>
        <p:nvSpPr>
          <p:cNvPr name="Freeform 12" id="12"/>
          <p:cNvSpPr/>
          <p:nvPr/>
        </p:nvSpPr>
        <p:spPr>
          <a:xfrm flipH="false" flipV="false" rot="0">
            <a:off x="12493067" y="3390317"/>
            <a:ext cx="468897" cy="468897"/>
          </a:xfrm>
          <a:custGeom>
            <a:avLst/>
            <a:gdLst/>
            <a:ahLst/>
            <a:cxnLst/>
            <a:rect r="r" b="b" t="t" l="l"/>
            <a:pathLst>
              <a:path h="468897" w="468897">
                <a:moveTo>
                  <a:pt x="0" y="0"/>
                </a:moveTo>
                <a:lnTo>
                  <a:pt x="468897" y="0"/>
                </a:lnTo>
                <a:lnTo>
                  <a:pt x="468897" y="468896"/>
                </a:lnTo>
                <a:lnTo>
                  <a:pt x="0" y="4688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13" id="13"/>
          <p:cNvSpPr/>
          <p:nvPr/>
        </p:nvSpPr>
        <p:spPr>
          <a:xfrm flipH="false" flipV="false" rot="0">
            <a:off x="12493067" y="6500078"/>
            <a:ext cx="468897" cy="468897"/>
          </a:xfrm>
          <a:custGeom>
            <a:avLst/>
            <a:gdLst/>
            <a:ahLst/>
            <a:cxnLst/>
            <a:rect r="r" b="b" t="t" l="l"/>
            <a:pathLst>
              <a:path h="468897" w="468897">
                <a:moveTo>
                  <a:pt x="0" y="0"/>
                </a:moveTo>
                <a:lnTo>
                  <a:pt x="468897" y="0"/>
                </a:lnTo>
                <a:lnTo>
                  <a:pt x="468897" y="468897"/>
                </a:lnTo>
                <a:lnTo>
                  <a:pt x="0" y="4688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4" id="14"/>
          <p:cNvSpPr/>
          <p:nvPr/>
        </p:nvSpPr>
        <p:spPr>
          <a:xfrm flipH="false" flipV="false" rot="-5400000">
            <a:off x="6063294" y="6697915"/>
            <a:ext cx="4424472" cy="1078465"/>
          </a:xfrm>
          <a:custGeom>
            <a:avLst/>
            <a:gdLst/>
            <a:ahLst/>
            <a:cxnLst/>
            <a:rect r="r" b="b" t="t" l="l"/>
            <a:pathLst>
              <a:path h="1078465" w="4424472">
                <a:moveTo>
                  <a:pt x="0" y="0"/>
                </a:moveTo>
                <a:lnTo>
                  <a:pt x="4424471" y="0"/>
                </a:lnTo>
                <a:lnTo>
                  <a:pt x="4424471" y="1078465"/>
                </a:lnTo>
                <a:lnTo>
                  <a:pt x="0" y="1078465"/>
                </a:lnTo>
                <a:lnTo>
                  <a:pt x="0" y="0"/>
                </a:lnTo>
                <a:close/>
              </a:path>
            </a:pathLst>
          </a:custGeom>
          <a:blipFill>
            <a:blip r:embed="rId8"/>
            <a:stretch>
              <a:fillRect l="0" t="0" r="0" b="0"/>
            </a:stretch>
          </a:blipFill>
        </p:spPr>
      </p:sp>
      <p:sp>
        <p:nvSpPr>
          <p:cNvPr name="Freeform 15" id="15"/>
          <p:cNvSpPr/>
          <p:nvPr/>
        </p:nvSpPr>
        <p:spPr>
          <a:xfrm flipH="false" flipV="false" rot="-5400000">
            <a:off x="14668134" y="3699441"/>
            <a:ext cx="4424472" cy="1078465"/>
          </a:xfrm>
          <a:custGeom>
            <a:avLst/>
            <a:gdLst/>
            <a:ahLst/>
            <a:cxnLst/>
            <a:rect r="r" b="b" t="t" l="l"/>
            <a:pathLst>
              <a:path h="1078465" w="4424472">
                <a:moveTo>
                  <a:pt x="0" y="0"/>
                </a:moveTo>
                <a:lnTo>
                  <a:pt x="4424472" y="0"/>
                </a:lnTo>
                <a:lnTo>
                  <a:pt x="4424472" y="1078465"/>
                </a:lnTo>
                <a:lnTo>
                  <a:pt x="0" y="1078465"/>
                </a:lnTo>
                <a:lnTo>
                  <a:pt x="0" y="0"/>
                </a:lnTo>
                <a:close/>
              </a:path>
            </a:pathLst>
          </a:custGeom>
          <a:blipFill>
            <a:blip r:embed="rId8"/>
            <a:stretch>
              <a:fillRect l="0" t="0" r="0" b="0"/>
            </a:stretch>
          </a:blipFill>
        </p:spPr>
      </p:sp>
      <p:sp>
        <p:nvSpPr>
          <p:cNvPr name="TextBox 16" id="16"/>
          <p:cNvSpPr txBox="true"/>
          <p:nvPr/>
        </p:nvSpPr>
        <p:spPr>
          <a:xfrm rot="0">
            <a:off x="1736006" y="918754"/>
            <a:ext cx="1818906" cy="544601"/>
          </a:xfrm>
          <a:prstGeom prst="rect">
            <a:avLst/>
          </a:prstGeom>
        </p:spPr>
        <p:txBody>
          <a:bodyPr anchor="t" rtlCol="false" tIns="0" lIns="0" bIns="0" rIns="0">
            <a:spAutoFit/>
          </a:bodyPr>
          <a:lstStyle/>
          <a:p>
            <a:pPr algn="l" marL="0" indent="0" lvl="0">
              <a:lnSpc>
                <a:spcPts val="2194"/>
              </a:lnSpc>
              <a:spcBef>
                <a:spcPct val="0"/>
              </a:spcBef>
            </a:pPr>
            <a:r>
              <a:rPr lang="en-US" sz="1567">
                <a:solidFill>
                  <a:srgbClr val="DDDDDD"/>
                </a:solidFill>
                <a:latin typeface="Open Sauce Light"/>
                <a:ea typeface="Open Sauce Light"/>
                <a:cs typeface="Open Sauce Light"/>
                <a:sym typeface="Open Sauce Light"/>
              </a:rPr>
              <a:t>Cyber</a:t>
            </a:r>
            <a:r>
              <a:rPr lang="en-US" sz="1567">
                <a:solidFill>
                  <a:srgbClr val="DDDDDD"/>
                </a:solidFill>
                <a:latin typeface="Open Sauce Light"/>
                <a:ea typeface="Open Sauce Light"/>
                <a:cs typeface="Open Sauce Light"/>
                <a:sym typeface="Open Sauce Light"/>
              </a:rPr>
              <a:t>security Training</a:t>
            </a:r>
          </a:p>
        </p:txBody>
      </p:sp>
      <p:sp>
        <p:nvSpPr>
          <p:cNvPr name="TextBox 17" id="17"/>
          <p:cNvSpPr txBox="true"/>
          <p:nvPr/>
        </p:nvSpPr>
        <p:spPr>
          <a:xfrm rot="0">
            <a:off x="15198136" y="918754"/>
            <a:ext cx="2061164" cy="264977"/>
          </a:xfrm>
          <a:prstGeom prst="rect">
            <a:avLst/>
          </a:prstGeom>
        </p:spPr>
        <p:txBody>
          <a:bodyPr anchor="t" rtlCol="false" tIns="0" lIns="0" bIns="0" rIns="0">
            <a:spAutoFit/>
          </a:bodyPr>
          <a:lstStyle/>
          <a:p>
            <a:pPr algn="r" marL="0" indent="0" lvl="0">
              <a:lnSpc>
                <a:spcPts val="2194"/>
              </a:lnSpc>
              <a:spcBef>
                <a:spcPct val="0"/>
              </a:spcBef>
            </a:pPr>
            <a:r>
              <a:rPr lang="en-US" sz="1567">
                <a:solidFill>
                  <a:srgbClr val="DDDDDD"/>
                </a:solidFill>
                <a:latin typeface="Open Sauce Light"/>
                <a:ea typeface="Open Sauce Light"/>
                <a:cs typeface="Open Sauce Light"/>
                <a:sym typeface="Open Sauce Light"/>
              </a:rPr>
              <a:t>September 19, 2026</a:t>
            </a:r>
          </a:p>
        </p:txBody>
      </p:sp>
      <p:sp>
        <p:nvSpPr>
          <p:cNvPr name="TextBox 18" id="18"/>
          <p:cNvSpPr txBox="true"/>
          <p:nvPr/>
        </p:nvSpPr>
        <p:spPr>
          <a:xfrm rot="0">
            <a:off x="1303322" y="3993246"/>
            <a:ext cx="6122900" cy="588017"/>
          </a:xfrm>
          <a:prstGeom prst="rect">
            <a:avLst/>
          </a:prstGeom>
        </p:spPr>
        <p:txBody>
          <a:bodyPr anchor="t" rtlCol="false" tIns="0" lIns="0" bIns="0" rIns="0">
            <a:spAutoFit/>
          </a:bodyPr>
          <a:lstStyle/>
          <a:p>
            <a:pPr algn="l" marL="0" indent="0" lvl="0">
              <a:lnSpc>
                <a:spcPts val="4716"/>
              </a:lnSpc>
              <a:spcBef>
                <a:spcPct val="0"/>
              </a:spcBef>
            </a:pPr>
            <a:r>
              <a:rPr lang="en-US" b="true" sz="3368">
                <a:solidFill>
                  <a:srgbClr val="DFC869"/>
                </a:solidFill>
                <a:latin typeface="Tomorrow Bold"/>
                <a:ea typeface="Tomorrow Bold"/>
                <a:cs typeface="Tomorrow Bold"/>
                <a:sym typeface="Tomorrow Bold"/>
              </a:rPr>
              <a:t>SPOT THE PHISHING EMAIL</a:t>
            </a:r>
          </a:p>
        </p:txBody>
      </p:sp>
      <p:sp>
        <p:nvSpPr>
          <p:cNvPr name="TextBox 19" id="19"/>
          <p:cNvSpPr txBox="true"/>
          <p:nvPr/>
        </p:nvSpPr>
        <p:spPr>
          <a:xfrm rot="0">
            <a:off x="1303322" y="2147822"/>
            <a:ext cx="6122900" cy="581184"/>
          </a:xfrm>
          <a:prstGeom prst="rect">
            <a:avLst/>
          </a:prstGeom>
        </p:spPr>
        <p:txBody>
          <a:bodyPr anchor="t" rtlCol="false" tIns="0" lIns="0" bIns="0" rIns="0">
            <a:spAutoFit/>
          </a:bodyPr>
          <a:lstStyle/>
          <a:p>
            <a:pPr algn="l" marL="0" indent="0" lvl="0">
              <a:lnSpc>
                <a:spcPts val="4716"/>
              </a:lnSpc>
              <a:spcBef>
                <a:spcPct val="0"/>
              </a:spcBef>
            </a:pPr>
            <a:r>
              <a:rPr lang="en-US" b="true" sz="3368">
                <a:solidFill>
                  <a:srgbClr val="DFC869"/>
                </a:solidFill>
                <a:latin typeface="Tomorrow Bold"/>
                <a:ea typeface="Tomorrow Bold"/>
                <a:cs typeface="Tomorrow Bold"/>
                <a:sym typeface="Tomorrow Bold"/>
              </a:rPr>
              <a:t>PRACTICAL</a:t>
            </a:r>
          </a:p>
        </p:txBody>
      </p:sp>
      <p:sp>
        <p:nvSpPr>
          <p:cNvPr name="TextBox 20" id="20"/>
          <p:cNvSpPr txBox="true"/>
          <p:nvPr/>
        </p:nvSpPr>
        <p:spPr>
          <a:xfrm rot="0">
            <a:off x="1303322" y="3079793"/>
            <a:ext cx="6122900" cy="588017"/>
          </a:xfrm>
          <a:prstGeom prst="rect">
            <a:avLst/>
          </a:prstGeom>
        </p:spPr>
        <p:txBody>
          <a:bodyPr anchor="t" rtlCol="false" tIns="0" lIns="0" bIns="0" rIns="0">
            <a:spAutoFit/>
          </a:bodyPr>
          <a:lstStyle/>
          <a:p>
            <a:pPr algn="l" marL="0" indent="0" lvl="0">
              <a:lnSpc>
                <a:spcPts val="4716"/>
              </a:lnSpc>
              <a:spcBef>
                <a:spcPct val="0"/>
              </a:spcBef>
            </a:pPr>
            <a:r>
              <a:rPr lang="en-US" b="true" sz="3368">
                <a:solidFill>
                  <a:srgbClr val="FFFFFF"/>
                </a:solidFill>
                <a:latin typeface="Tomorrow Bold"/>
                <a:ea typeface="Tomorrow Bold"/>
                <a:cs typeface="Tomorrow Bold"/>
                <a:sym typeface="Tomorrow Bold"/>
              </a:rPr>
              <a:t>EXERCISE 1</a:t>
            </a:r>
          </a:p>
        </p:txBody>
      </p:sp>
      <p:sp>
        <p:nvSpPr>
          <p:cNvPr name="TextBox 21" id="21"/>
          <p:cNvSpPr txBox="true"/>
          <p:nvPr/>
        </p:nvSpPr>
        <p:spPr>
          <a:xfrm rot="0">
            <a:off x="1303322" y="5636097"/>
            <a:ext cx="5557139" cy="160108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Below is a sample email containing multiple suspicious elements. Use the checklist on the right to identify each phishing indicator. Take a moment to analyze the email carefully before moving on.</a:t>
            </a:r>
          </a:p>
        </p:txBody>
      </p:sp>
      <p:sp>
        <p:nvSpPr>
          <p:cNvPr name="TextBox 22" id="22"/>
          <p:cNvSpPr txBox="true"/>
          <p:nvPr/>
        </p:nvSpPr>
        <p:spPr>
          <a:xfrm rot="0">
            <a:off x="1303322" y="7657250"/>
            <a:ext cx="5557139" cy="160108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After completing the checklist, discuss your findings with your team. Compare answers and explain why each element is suspicious. This hands-on practice helps build the skills needed to recognize real phishing attempts.</a:t>
            </a:r>
          </a:p>
        </p:txBody>
      </p:sp>
      <p:sp>
        <p:nvSpPr>
          <p:cNvPr name="TextBox 23" id="23"/>
          <p:cNvSpPr txBox="true"/>
          <p:nvPr/>
        </p:nvSpPr>
        <p:spPr>
          <a:xfrm rot="0">
            <a:off x="12493067" y="7396537"/>
            <a:ext cx="3972247" cy="10562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000000"/>
                </a:solidFill>
                <a:latin typeface="Open Sauce Light"/>
                <a:ea typeface="Open Sauce Light"/>
                <a:cs typeface="Open Sauce Light"/>
                <a:sym typeface="Open Sauce Light"/>
              </a:rPr>
              <a:t>Circle or highlight each suspicious element in the email. The more you practice, the easier it becomes to spot phishing attempts.</a:t>
            </a:r>
          </a:p>
        </p:txBody>
      </p:sp>
      <p:sp>
        <p:nvSpPr>
          <p:cNvPr name="TextBox 24" id="24"/>
          <p:cNvSpPr txBox="true"/>
          <p:nvPr/>
        </p:nvSpPr>
        <p:spPr>
          <a:xfrm rot="0">
            <a:off x="13194049" y="3161775"/>
            <a:ext cx="2143923" cy="887926"/>
          </a:xfrm>
          <a:prstGeom prst="rect">
            <a:avLst/>
          </a:prstGeom>
        </p:spPr>
        <p:txBody>
          <a:bodyPr anchor="t" rtlCol="false" tIns="0" lIns="0" bIns="0" rIns="0">
            <a:spAutoFit/>
          </a:bodyPr>
          <a:lstStyle/>
          <a:p>
            <a:pPr algn="l" marL="0" indent="0" lvl="0">
              <a:lnSpc>
                <a:spcPts val="3680"/>
              </a:lnSpc>
              <a:spcBef>
                <a:spcPct val="0"/>
              </a:spcBef>
            </a:pPr>
            <a:r>
              <a:rPr lang="en-US" b="true" sz="2628">
                <a:solidFill>
                  <a:srgbClr val="FFFFFF"/>
                </a:solidFill>
                <a:latin typeface="Open Sauce Bold"/>
                <a:ea typeface="Open Sauce Bold"/>
                <a:cs typeface="Open Sauce Bold"/>
                <a:sym typeface="Open Sauce Bold"/>
              </a:rPr>
              <a:t>Identify 5 Red Flags</a:t>
            </a:r>
          </a:p>
        </p:txBody>
      </p:sp>
      <p:sp>
        <p:nvSpPr>
          <p:cNvPr name="TextBox 25" id="25"/>
          <p:cNvSpPr txBox="true"/>
          <p:nvPr/>
        </p:nvSpPr>
        <p:spPr>
          <a:xfrm rot="0">
            <a:off x="13194049" y="6271537"/>
            <a:ext cx="2270789" cy="887926"/>
          </a:xfrm>
          <a:prstGeom prst="rect">
            <a:avLst/>
          </a:prstGeom>
        </p:spPr>
        <p:txBody>
          <a:bodyPr anchor="t" rtlCol="false" tIns="0" lIns="0" bIns="0" rIns="0">
            <a:spAutoFit/>
          </a:bodyPr>
          <a:lstStyle/>
          <a:p>
            <a:pPr algn="l" marL="0" indent="0" lvl="0">
              <a:lnSpc>
                <a:spcPts val="3680"/>
              </a:lnSpc>
              <a:spcBef>
                <a:spcPct val="0"/>
              </a:spcBef>
            </a:pPr>
            <a:r>
              <a:rPr lang="en-US" b="true" sz="2628">
                <a:solidFill>
                  <a:srgbClr val="000000"/>
                </a:solidFill>
                <a:latin typeface="Open Sauce Bold"/>
                <a:ea typeface="Open Sauce Bold"/>
                <a:cs typeface="Open Sauce Bold"/>
                <a:sym typeface="Open Sauce Bold"/>
              </a:rPr>
              <a:t>Mark Each Indicator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465783" y="6029925"/>
            <a:ext cx="3766663" cy="2843061"/>
            <a:chOff x="0" y="0"/>
            <a:chExt cx="463090" cy="349538"/>
          </a:xfrm>
        </p:grpSpPr>
        <p:sp>
          <p:nvSpPr>
            <p:cNvPr name="Freeform 4" id="4"/>
            <p:cNvSpPr/>
            <p:nvPr/>
          </p:nvSpPr>
          <p:spPr>
            <a:xfrm flipH="false" flipV="false" rot="0">
              <a:off x="0" y="0"/>
              <a:ext cx="463090" cy="349538"/>
            </a:xfrm>
            <a:custGeom>
              <a:avLst/>
              <a:gdLst/>
              <a:ahLst/>
              <a:cxnLst/>
              <a:rect r="r" b="b" t="t" l="l"/>
              <a:pathLst>
                <a:path h="349538" w="463090">
                  <a:moveTo>
                    <a:pt x="88381" y="0"/>
                  </a:moveTo>
                  <a:lnTo>
                    <a:pt x="374709" y="0"/>
                  </a:lnTo>
                  <a:cubicBezTo>
                    <a:pt x="423520" y="0"/>
                    <a:pt x="463090" y="39570"/>
                    <a:pt x="463090" y="88381"/>
                  </a:cubicBezTo>
                  <a:lnTo>
                    <a:pt x="463090" y="261157"/>
                  </a:lnTo>
                  <a:cubicBezTo>
                    <a:pt x="463090" y="284597"/>
                    <a:pt x="453778" y="307077"/>
                    <a:pt x="437204" y="323652"/>
                  </a:cubicBezTo>
                  <a:cubicBezTo>
                    <a:pt x="420629" y="340227"/>
                    <a:pt x="398149" y="349538"/>
                    <a:pt x="374709" y="349538"/>
                  </a:cubicBezTo>
                  <a:lnTo>
                    <a:pt x="88381" y="349538"/>
                  </a:lnTo>
                  <a:cubicBezTo>
                    <a:pt x="64941" y="349538"/>
                    <a:pt x="42461" y="340227"/>
                    <a:pt x="25886" y="323652"/>
                  </a:cubicBezTo>
                  <a:cubicBezTo>
                    <a:pt x="9312" y="307077"/>
                    <a:pt x="0" y="284597"/>
                    <a:pt x="0" y="261157"/>
                  </a:cubicBezTo>
                  <a:lnTo>
                    <a:pt x="0" y="88381"/>
                  </a:lnTo>
                  <a:cubicBezTo>
                    <a:pt x="0" y="64941"/>
                    <a:pt x="9312" y="42461"/>
                    <a:pt x="25886" y="25886"/>
                  </a:cubicBezTo>
                  <a:cubicBezTo>
                    <a:pt x="42461" y="9312"/>
                    <a:pt x="64941" y="0"/>
                    <a:pt x="88381" y="0"/>
                  </a:cubicBezTo>
                  <a:close/>
                </a:path>
              </a:pathLst>
            </a:custGeom>
            <a:blipFill>
              <a:blip r:embed="rId4"/>
              <a:stretch>
                <a:fillRect l="0" t="-96" r="0" b="-96"/>
              </a:stretch>
            </a:blipFill>
          </p:spPr>
        </p:sp>
      </p:grpSp>
      <p:grpSp>
        <p:nvGrpSpPr>
          <p:cNvPr name="Group 5" id="5"/>
          <p:cNvGrpSpPr/>
          <p:nvPr/>
        </p:nvGrpSpPr>
        <p:grpSpPr>
          <a:xfrm rot="0">
            <a:off x="1303322" y="2729663"/>
            <a:ext cx="3766663" cy="2843061"/>
            <a:chOff x="0" y="0"/>
            <a:chExt cx="463090" cy="349538"/>
          </a:xfrm>
        </p:grpSpPr>
        <p:sp>
          <p:nvSpPr>
            <p:cNvPr name="Freeform 6" id="6"/>
            <p:cNvSpPr/>
            <p:nvPr/>
          </p:nvSpPr>
          <p:spPr>
            <a:xfrm flipH="false" flipV="false" rot="0">
              <a:off x="0" y="0"/>
              <a:ext cx="463090" cy="349538"/>
            </a:xfrm>
            <a:custGeom>
              <a:avLst/>
              <a:gdLst/>
              <a:ahLst/>
              <a:cxnLst/>
              <a:rect r="r" b="b" t="t" l="l"/>
              <a:pathLst>
                <a:path h="349538" w="463090">
                  <a:moveTo>
                    <a:pt x="88381" y="0"/>
                  </a:moveTo>
                  <a:lnTo>
                    <a:pt x="374709" y="0"/>
                  </a:lnTo>
                  <a:cubicBezTo>
                    <a:pt x="423520" y="0"/>
                    <a:pt x="463090" y="39570"/>
                    <a:pt x="463090" y="88381"/>
                  </a:cubicBezTo>
                  <a:lnTo>
                    <a:pt x="463090" y="261157"/>
                  </a:lnTo>
                  <a:cubicBezTo>
                    <a:pt x="463090" y="284597"/>
                    <a:pt x="453778" y="307077"/>
                    <a:pt x="437204" y="323652"/>
                  </a:cubicBezTo>
                  <a:cubicBezTo>
                    <a:pt x="420629" y="340227"/>
                    <a:pt x="398149" y="349538"/>
                    <a:pt x="374709" y="349538"/>
                  </a:cubicBezTo>
                  <a:lnTo>
                    <a:pt x="88381" y="349538"/>
                  </a:lnTo>
                  <a:cubicBezTo>
                    <a:pt x="64941" y="349538"/>
                    <a:pt x="42461" y="340227"/>
                    <a:pt x="25886" y="323652"/>
                  </a:cubicBezTo>
                  <a:cubicBezTo>
                    <a:pt x="9312" y="307077"/>
                    <a:pt x="0" y="284597"/>
                    <a:pt x="0" y="261157"/>
                  </a:cubicBezTo>
                  <a:lnTo>
                    <a:pt x="0" y="88381"/>
                  </a:lnTo>
                  <a:cubicBezTo>
                    <a:pt x="0" y="64941"/>
                    <a:pt x="9312" y="42461"/>
                    <a:pt x="25886" y="25886"/>
                  </a:cubicBezTo>
                  <a:cubicBezTo>
                    <a:pt x="42461" y="9312"/>
                    <a:pt x="64941" y="0"/>
                    <a:pt x="88381" y="0"/>
                  </a:cubicBezTo>
                  <a:close/>
                </a:path>
              </a:pathLst>
            </a:custGeom>
            <a:blipFill>
              <a:blip r:embed="rId5"/>
              <a:stretch>
                <a:fillRect l="0" t="-96" r="0" b="-96"/>
              </a:stretch>
            </a:blipFill>
          </p:spPr>
        </p:sp>
      </p:grpSp>
      <p:grpSp>
        <p:nvGrpSpPr>
          <p:cNvPr name="Group 7" id="7"/>
          <p:cNvGrpSpPr/>
          <p:nvPr/>
        </p:nvGrpSpPr>
        <p:grpSpPr>
          <a:xfrm rot="0">
            <a:off x="1303322" y="6029925"/>
            <a:ext cx="4792482" cy="2843061"/>
            <a:chOff x="0" y="0"/>
            <a:chExt cx="1262217" cy="748790"/>
          </a:xfrm>
        </p:grpSpPr>
        <p:sp>
          <p:nvSpPr>
            <p:cNvPr name="Freeform 8" id="8"/>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DFC869">
                    <a:alpha val="66500"/>
                  </a:srgbClr>
                </a:gs>
                <a:gs pos="100000">
                  <a:srgbClr val="000000">
                    <a:alpha val="0"/>
                  </a:srgbClr>
                </a:gs>
              </a:gsLst>
              <a:lin ang="2700000"/>
            </a:gradFill>
            <a:ln w="28575" cap="rnd">
              <a:gradFill>
                <a:gsLst>
                  <a:gs pos="0">
                    <a:srgbClr val="EDD46F">
                      <a:alpha val="100000"/>
                    </a:srgbClr>
                  </a:gs>
                  <a:gs pos="100000">
                    <a:srgbClr val="726321">
                      <a:alpha val="100000"/>
                    </a:srgbClr>
                  </a:gs>
                </a:gsLst>
                <a:lin ang="2700000"/>
              </a:gradFill>
              <a:prstDash val="solid"/>
              <a:round/>
            </a:ln>
          </p:spPr>
        </p:sp>
        <p:sp>
          <p:nvSpPr>
            <p:cNvPr name="TextBox 9" id="9"/>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spcBef>
                  <a:spcPct val="0"/>
                </a:spcBef>
              </a:pPr>
            </a:p>
          </p:txBody>
        </p:sp>
      </p:grpSp>
      <p:grpSp>
        <p:nvGrpSpPr>
          <p:cNvPr name="Group 10" id="10"/>
          <p:cNvGrpSpPr/>
          <p:nvPr/>
        </p:nvGrpSpPr>
        <p:grpSpPr>
          <a:xfrm rot="0">
            <a:off x="5439964" y="2729663"/>
            <a:ext cx="4792482" cy="2843061"/>
            <a:chOff x="0" y="0"/>
            <a:chExt cx="1262217" cy="748790"/>
          </a:xfrm>
        </p:grpSpPr>
        <p:sp>
          <p:nvSpPr>
            <p:cNvPr name="Freeform 11" id="11"/>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EDD46F">
                    <a:alpha val="100000"/>
                  </a:srgbClr>
                </a:gs>
                <a:gs pos="100000">
                  <a:srgbClr val="726321">
                    <a:alpha val="100000"/>
                  </a:srgbClr>
                </a:gs>
              </a:gsLst>
              <a:lin ang="2700000"/>
            </a:gradFill>
          </p:spPr>
        </p:sp>
        <p:sp>
          <p:nvSpPr>
            <p:cNvPr name="TextBox 12" id="12"/>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pPr>
            </a:p>
          </p:txBody>
        </p:sp>
      </p:grpSp>
      <p:sp>
        <p:nvSpPr>
          <p:cNvPr name="Freeform 13" id="13"/>
          <p:cNvSpPr/>
          <p:nvPr/>
        </p:nvSpPr>
        <p:spPr>
          <a:xfrm flipH="false" flipV="false" rot="0">
            <a:off x="1713440" y="6570336"/>
            <a:ext cx="468897" cy="468897"/>
          </a:xfrm>
          <a:custGeom>
            <a:avLst/>
            <a:gdLst/>
            <a:ahLst/>
            <a:cxnLst/>
            <a:rect r="r" b="b" t="t" l="l"/>
            <a:pathLst>
              <a:path h="468897" w="468897">
                <a:moveTo>
                  <a:pt x="0" y="0"/>
                </a:moveTo>
                <a:lnTo>
                  <a:pt x="468896" y="0"/>
                </a:lnTo>
                <a:lnTo>
                  <a:pt x="468896" y="468897"/>
                </a:lnTo>
                <a:lnTo>
                  <a:pt x="0" y="4688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14" id="14"/>
          <p:cNvSpPr/>
          <p:nvPr/>
        </p:nvSpPr>
        <p:spPr>
          <a:xfrm flipH="false" flipV="false" rot="0">
            <a:off x="5850082" y="3270075"/>
            <a:ext cx="468897" cy="468897"/>
          </a:xfrm>
          <a:custGeom>
            <a:avLst/>
            <a:gdLst/>
            <a:ahLst/>
            <a:cxnLst/>
            <a:rect r="r" b="b" t="t" l="l"/>
            <a:pathLst>
              <a:path h="468897" w="468897">
                <a:moveTo>
                  <a:pt x="0" y="0"/>
                </a:moveTo>
                <a:lnTo>
                  <a:pt x="468896" y="0"/>
                </a:lnTo>
                <a:lnTo>
                  <a:pt x="468896" y="468897"/>
                </a:lnTo>
                <a:lnTo>
                  <a:pt x="0" y="46889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a:ln cap="sq">
            <a:noFill/>
            <a:prstDash val="solid"/>
            <a:miter/>
          </a:ln>
        </p:spPr>
      </p:sp>
      <p:sp>
        <p:nvSpPr>
          <p:cNvPr name="Freeform 15" id="15"/>
          <p:cNvSpPr/>
          <p:nvPr/>
        </p:nvSpPr>
        <p:spPr>
          <a:xfrm flipH="false" flipV="false" rot="-5400000">
            <a:off x="16075764" y="2540401"/>
            <a:ext cx="4424472" cy="1078465"/>
          </a:xfrm>
          <a:custGeom>
            <a:avLst/>
            <a:gdLst/>
            <a:ahLst/>
            <a:cxnLst/>
            <a:rect r="r" b="b" t="t" l="l"/>
            <a:pathLst>
              <a:path h="1078465" w="4424472">
                <a:moveTo>
                  <a:pt x="0" y="0"/>
                </a:moveTo>
                <a:lnTo>
                  <a:pt x="4424472" y="0"/>
                </a:lnTo>
                <a:lnTo>
                  <a:pt x="4424472" y="1078465"/>
                </a:lnTo>
                <a:lnTo>
                  <a:pt x="0" y="1078465"/>
                </a:lnTo>
                <a:lnTo>
                  <a:pt x="0" y="0"/>
                </a:lnTo>
                <a:close/>
              </a:path>
            </a:pathLst>
          </a:custGeom>
          <a:blipFill>
            <a:blip r:embed="rId10"/>
            <a:stretch>
              <a:fillRect l="0" t="0" r="0" b="0"/>
            </a:stretch>
          </a:blipFill>
        </p:spPr>
      </p:sp>
      <p:sp>
        <p:nvSpPr>
          <p:cNvPr name="Freeform 16" id="16"/>
          <p:cNvSpPr/>
          <p:nvPr/>
        </p:nvSpPr>
        <p:spPr>
          <a:xfrm flipH="false" flipV="false" rot="-5400000">
            <a:off x="-5221811" y="8770444"/>
            <a:ext cx="10409701" cy="2537365"/>
          </a:xfrm>
          <a:custGeom>
            <a:avLst/>
            <a:gdLst/>
            <a:ahLst/>
            <a:cxnLst/>
            <a:rect r="r" b="b" t="t" l="l"/>
            <a:pathLst>
              <a:path h="2537365" w="10409701">
                <a:moveTo>
                  <a:pt x="0" y="0"/>
                </a:moveTo>
                <a:lnTo>
                  <a:pt x="10409701" y="0"/>
                </a:lnTo>
                <a:lnTo>
                  <a:pt x="10409701" y="2537364"/>
                </a:lnTo>
                <a:lnTo>
                  <a:pt x="0" y="2537364"/>
                </a:lnTo>
                <a:lnTo>
                  <a:pt x="0" y="0"/>
                </a:lnTo>
                <a:close/>
              </a:path>
            </a:pathLst>
          </a:custGeom>
          <a:blipFill>
            <a:blip r:embed="rId10"/>
            <a:stretch>
              <a:fillRect l="0" t="0" r="0" b="0"/>
            </a:stretch>
          </a:blipFill>
        </p:spPr>
      </p:sp>
      <p:sp>
        <p:nvSpPr>
          <p:cNvPr name="TextBox 17" id="17"/>
          <p:cNvSpPr txBox="true"/>
          <p:nvPr/>
        </p:nvSpPr>
        <p:spPr>
          <a:xfrm rot="0">
            <a:off x="1736006" y="918754"/>
            <a:ext cx="1818906" cy="544601"/>
          </a:xfrm>
          <a:prstGeom prst="rect">
            <a:avLst/>
          </a:prstGeom>
        </p:spPr>
        <p:txBody>
          <a:bodyPr anchor="t" rtlCol="false" tIns="0" lIns="0" bIns="0" rIns="0">
            <a:spAutoFit/>
          </a:bodyPr>
          <a:lstStyle/>
          <a:p>
            <a:pPr algn="l" marL="0" indent="0" lvl="0">
              <a:lnSpc>
                <a:spcPts val="2194"/>
              </a:lnSpc>
              <a:spcBef>
                <a:spcPct val="0"/>
              </a:spcBef>
            </a:pPr>
            <a:r>
              <a:rPr lang="en-US" sz="1567">
                <a:solidFill>
                  <a:srgbClr val="DDDDDD"/>
                </a:solidFill>
                <a:latin typeface="Open Sauce Light"/>
                <a:ea typeface="Open Sauce Light"/>
                <a:cs typeface="Open Sauce Light"/>
                <a:sym typeface="Open Sauce Light"/>
              </a:rPr>
              <a:t>Cyber</a:t>
            </a:r>
            <a:r>
              <a:rPr lang="en-US" sz="1567">
                <a:solidFill>
                  <a:srgbClr val="DDDDDD"/>
                </a:solidFill>
                <a:latin typeface="Open Sauce Light"/>
                <a:ea typeface="Open Sauce Light"/>
                <a:cs typeface="Open Sauce Light"/>
                <a:sym typeface="Open Sauce Light"/>
              </a:rPr>
              <a:t>security Training</a:t>
            </a:r>
          </a:p>
        </p:txBody>
      </p:sp>
      <p:sp>
        <p:nvSpPr>
          <p:cNvPr name="TextBox 18" id="18"/>
          <p:cNvSpPr txBox="true"/>
          <p:nvPr/>
        </p:nvSpPr>
        <p:spPr>
          <a:xfrm rot="0">
            <a:off x="15198136" y="918754"/>
            <a:ext cx="2061164" cy="264977"/>
          </a:xfrm>
          <a:prstGeom prst="rect">
            <a:avLst/>
          </a:prstGeom>
        </p:spPr>
        <p:txBody>
          <a:bodyPr anchor="t" rtlCol="false" tIns="0" lIns="0" bIns="0" rIns="0">
            <a:spAutoFit/>
          </a:bodyPr>
          <a:lstStyle/>
          <a:p>
            <a:pPr algn="r" marL="0" indent="0" lvl="0">
              <a:lnSpc>
                <a:spcPts val="2194"/>
              </a:lnSpc>
              <a:spcBef>
                <a:spcPct val="0"/>
              </a:spcBef>
            </a:pPr>
            <a:r>
              <a:rPr lang="en-US" sz="1567">
                <a:solidFill>
                  <a:srgbClr val="DDDDDD"/>
                </a:solidFill>
                <a:latin typeface="Open Sauce Light"/>
                <a:ea typeface="Open Sauce Light"/>
                <a:cs typeface="Open Sauce Light"/>
                <a:sym typeface="Open Sauce Light"/>
              </a:rPr>
              <a:t>September 19, 2026</a:t>
            </a:r>
          </a:p>
        </p:txBody>
      </p:sp>
      <p:sp>
        <p:nvSpPr>
          <p:cNvPr name="TextBox 19" id="19"/>
          <p:cNvSpPr txBox="true"/>
          <p:nvPr/>
        </p:nvSpPr>
        <p:spPr>
          <a:xfrm rot="0">
            <a:off x="11605496" y="4263249"/>
            <a:ext cx="5273207" cy="1027860"/>
          </a:xfrm>
          <a:prstGeom prst="rect">
            <a:avLst/>
          </a:prstGeom>
        </p:spPr>
        <p:txBody>
          <a:bodyPr anchor="t" rtlCol="false" tIns="0" lIns="0" bIns="0" rIns="0">
            <a:spAutoFit/>
          </a:bodyPr>
          <a:lstStyle/>
          <a:p>
            <a:pPr algn="l" marL="0" indent="0" lvl="0">
              <a:lnSpc>
                <a:spcPts val="8421"/>
              </a:lnSpc>
              <a:spcBef>
                <a:spcPct val="0"/>
              </a:spcBef>
            </a:pPr>
            <a:r>
              <a:rPr lang="en-US" b="true" sz="6015">
                <a:solidFill>
                  <a:srgbClr val="DFC869"/>
                </a:solidFill>
                <a:latin typeface="Tomorrow Bold"/>
                <a:ea typeface="Tomorrow Bold"/>
                <a:cs typeface="Tomorrow Bold"/>
                <a:sym typeface="Tomorrow Bold"/>
              </a:rPr>
              <a:t>WEBSITE</a:t>
            </a:r>
          </a:p>
        </p:txBody>
      </p:sp>
      <p:sp>
        <p:nvSpPr>
          <p:cNvPr name="TextBox 20" id="20"/>
          <p:cNvSpPr txBox="true"/>
          <p:nvPr/>
        </p:nvSpPr>
        <p:spPr>
          <a:xfrm rot="0">
            <a:off x="11605496" y="2417824"/>
            <a:ext cx="5273207" cy="1027860"/>
          </a:xfrm>
          <a:prstGeom prst="rect">
            <a:avLst/>
          </a:prstGeom>
        </p:spPr>
        <p:txBody>
          <a:bodyPr anchor="t" rtlCol="false" tIns="0" lIns="0" bIns="0" rIns="0">
            <a:spAutoFit/>
          </a:bodyPr>
          <a:lstStyle/>
          <a:p>
            <a:pPr algn="l" marL="0" indent="0" lvl="0">
              <a:lnSpc>
                <a:spcPts val="8421"/>
              </a:lnSpc>
              <a:spcBef>
                <a:spcPct val="0"/>
              </a:spcBef>
            </a:pPr>
            <a:r>
              <a:rPr lang="en-US" b="true" sz="6015">
                <a:solidFill>
                  <a:srgbClr val="DFC869"/>
                </a:solidFill>
                <a:latin typeface="Tomorrow Bold"/>
                <a:ea typeface="Tomorrow Bold"/>
                <a:cs typeface="Tomorrow Bold"/>
                <a:sym typeface="Tomorrow Bold"/>
              </a:rPr>
              <a:t>SPOT THE</a:t>
            </a:r>
          </a:p>
        </p:txBody>
      </p:sp>
      <p:sp>
        <p:nvSpPr>
          <p:cNvPr name="TextBox 21" id="21"/>
          <p:cNvSpPr txBox="true"/>
          <p:nvPr/>
        </p:nvSpPr>
        <p:spPr>
          <a:xfrm rot="0">
            <a:off x="11605496" y="3349796"/>
            <a:ext cx="5273207" cy="1027860"/>
          </a:xfrm>
          <a:prstGeom prst="rect">
            <a:avLst/>
          </a:prstGeom>
        </p:spPr>
        <p:txBody>
          <a:bodyPr anchor="t" rtlCol="false" tIns="0" lIns="0" bIns="0" rIns="0">
            <a:spAutoFit/>
          </a:bodyPr>
          <a:lstStyle/>
          <a:p>
            <a:pPr algn="l" marL="0" indent="0" lvl="0">
              <a:lnSpc>
                <a:spcPts val="8421"/>
              </a:lnSpc>
              <a:spcBef>
                <a:spcPct val="0"/>
              </a:spcBef>
            </a:pPr>
            <a:r>
              <a:rPr lang="en-US" b="true" sz="6015">
                <a:solidFill>
                  <a:srgbClr val="FFFFFF"/>
                </a:solidFill>
                <a:latin typeface="Tomorrow Bold"/>
                <a:ea typeface="Tomorrow Bold"/>
                <a:cs typeface="Tomorrow Bold"/>
                <a:sym typeface="Tomorrow Bold"/>
              </a:rPr>
              <a:t>FAKE</a:t>
            </a:r>
          </a:p>
        </p:txBody>
      </p:sp>
      <p:sp>
        <p:nvSpPr>
          <p:cNvPr name="TextBox 22" id="22"/>
          <p:cNvSpPr txBox="true"/>
          <p:nvPr/>
        </p:nvSpPr>
        <p:spPr>
          <a:xfrm rot="0">
            <a:off x="11605496" y="5944200"/>
            <a:ext cx="4872367" cy="257263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Take a close look at both websites. Which one looks fake? Check the URL for misspellings or unusual domains. Look for HTTPS and valid security certificates. Notice any poor design, inconsistent branding, or broken links. Discuss with your team what clues helped you identify the fake site.</a:t>
            </a:r>
          </a:p>
        </p:txBody>
      </p:sp>
      <p:sp>
        <p:nvSpPr>
          <p:cNvPr name="TextBox 23" id="23"/>
          <p:cNvSpPr txBox="true"/>
          <p:nvPr/>
        </p:nvSpPr>
        <p:spPr>
          <a:xfrm rot="0">
            <a:off x="1713440" y="7466795"/>
            <a:ext cx="3972247" cy="7895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DDDDDD"/>
                </a:solidFill>
                <a:latin typeface="Open Sauce Light"/>
                <a:ea typeface="Open Sauce Light"/>
                <a:cs typeface="Open Sauce Light"/>
                <a:sym typeface="Open Sauce Light"/>
              </a:rPr>
              <a:t>This is the FAKE website. Notice the misspelled URL, missing security certificate, and poor design quality.</a:t>
            </a:r>
          </a:p>
        </p:txBody>
      </p:sp>
      <p:sp>
        <p:nvSpPr>
          <p:cNvPr name="TextBox 24" id="24"/>
          <p:cNvSpPr txBox="true"/>
          <p:nvPr/>
        </p:nvSpPr>
        <p:spPr>
          <a:xfrm rot="0">
            <a:off x="5850082" y="4166534"/>
            <a:ext cx="3972247" cy="7895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000000"/>
                </a:solidFill>
                <a:latin typeface="Open Sauce Light"/>
                <a:ea typeface="Open Sauce Light"/>
                <a:cs typeface="Open Sauce Light"/>
                <a:sym typeface="Open Sauce Light"/>
              </a:rPr>
              <a:t>This is the REAL website. Notice the clean URL, HTTPS security indicator, and professional design.</a:t>
            </a:r>
          </a:p>
        </p:txBody>
      </p:sp>
      <p:sp>
        <p:nvSpPr>
          <p:cNvPr name="TextBox 25" id="25"/>
          <p:cNvSpPr txBox="true"/>
          <p:nvPr/>
        </p:nvSpPr>
        <p:spPr>
          <a:xfrm rot="0">
            <a:off x="2414421" y="6394603"/>
            <a:ext cx="3670109" cy="388480"/>
          </a:xfrm>
          <a:prstGeom prst="rect">
            <a:avLst/>
          </a:prstGeom>
        </p:spPr>
        <p:txBody>
          <a:bodyPr anchor="t" rtlCol="false" tIns="0" lIns="0" bIns="0" rIns="0">
            <a:spAutoFit/>
          </a:bodyPr>
          <a:lstStyle/>
          <a:p>
            <a:pPr algn="l" marL="0" indent="0" lvl="0">
              <a:lnSpc>
                <a:spcPts val="3262"/>
              </a:lnSpc>
              <a:spcBef>
                <a:spcPct val="0"/>
              </a:spcBef>
            </a:pPr>
            <a:r>
              <a:rPr lang="en-US" b="true" sz="2330">
                <a:solidFill>
                  <a:srgbClr val="FFFFFF"/>
                </a:solidFill>
                <a:latin typeface="Open Sauce Bold"/>
                <a:ea typeface="Open Sauce Bold"/>
                <a:cs typeface="Open Sauce Bold"/>
                <a:sym typeface="Open Sauce Bold"/>
              </a:rPr>
              <a:t>Fake Website</a:t>
            </a:r>
          </a:p>
        </p:txBody>
      </p:sp>
      <p:sp>
        <p:nvSpPr>
          <p:cNvPr name="TextBox 26" id="26"/>
          <p:cNvSpPr txBox="true"/>
          <p:nvPr/>
        </p:nvSpPr>
        <p:spPr>
          <a:xfrm rot="0">
            <a:off x="6551063" y="3094342"/>
            <a:ext cx="3271265" cy="388480"/>
          </a:xfrm>
          <a:prstGeom prst="rect">
            <a:avLst/>
          </a:prstGeom>
        </p:spPr>
        <p:txBody>
          <a:bodyPr anchor="t" rtlCol="false" tIns="0" lIns="0" bIns="0" rIns="0">
            <a:spAutoFit/>
          </a:bodyPr>
          <a:lstStyle/>
          <a:p>
            <a:pPr algn="l" marL="0" indent="0" lvl="0">
              <a:lnSpc>
                <a:spcPts val="3262"/>
              </a:lnSpc>
              <a:spcBef>
                <a:spcPct val="0"/>
              </a:spcBef>
            </a:pPr>
            <a:r>
              <a:rPr lang="en-US" b="true" sz="2330">
                <a:solidFill>
                  <a:srgbClr val="000000"/>
                </a:solidFill>
                <a:latin typeface="Open Sauce Bold"/>
                <a:ea typeface="Open Sauce Bold"/>
                <a:cs typeface="Open Sauce Bold"/>
                <a:sym typeface="Open Sauce Bold"/>
              </a:rPr>
              <a:t>Real Website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36006" y="1977612"/>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262116" y="1977612"/>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36006" y="4641191"/>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736006" y="7304770"/>
            <a:ext cx="391482" cy="391482"/>
          </a:xfrm>
          <a:custGeom>
            <a:avLst/>
            <a:gdLst/>
            <a:ahLst/>
            <a:cxnLst/>
            <a:rect r="r" b="b" t="t" l="l"/>
            <a:pathLst>
              <a:path h="391482" w="391482">
                <a:moveTo>
                  <a:pt x="0" y="0"/>
                </a:moveTo>
                <a:lnTo>
                  <a:pt x="391482" y="0"/>
                </a:lnTo>
                <a:lnTo>
                  <a:pt x="391482" y="391482"/>
                </a:lnTo>
                <a:lnTo>
                  <a:pt x="0" y="39148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6262116" y="4641191"/>
            <a:ext cx="4779097" cy="6286948"/>
            <a:chOff x="0" y="0"/>
            <a:chExt cx="587563" cy="772945"/>
          </a:xfrm>
        </p:grpSpPr>
        <p:sp>
          <p:nvSpPr>
            <p:cNvPr name="Freeform 8" id="8"/>
            <p:cNvSpPr/>
            <p:nvPr/>
          </p:nvSpPr>
          <p:spPr>
            <a:xfrm flipH="false" flipV="false" rot="0">
              <a:off x="0" y="0"/>
              <a:ext cx="587563" cy="772945"/>
            </a:xfrm>
            <a:custGeom>
              <a:avLst/>
              <a:gdLst/>
              <a:ahLst/>
              <a:cxnLst/>
              <a:rect r="r" b="b" t="t" l="l"/>
              <a:pathLst>
                <a:path h="772945" w="587563">
                  <a:moveTo>
                    <a:pt x="69658" y="0"/>
                  </a:moveTo>
                  <a:lnTo>
                    <a:pt x="517905" y="0"/>
                  </a:lnTo>
                  <a:cubicBezTo>
                    <a:pt x="556376" y="0"/>
                    <a:pt x="587563" y="31187"/>
                    <a:pt x="587563" y="69658"/>
                  </a:cubicBezTo>
                  <a:lnTo>
                    <a:pt x="587563" y="703287"/>
                  </a:lnTo>
                  <a:cubicBezTo>
                    <a:pt x="587563" y="741758"/>
                    <a:pt x="556376" y="772945"/>
                    <a:pt x="517905" y="772945"/>
                  </a:cubicBezTo>
                  <a:lnTo>
                    <a:pt x="69658" y="772945"/>
                  </a:lnTo>
                  <a:cubicBezTo>
                    <a:pt x="31187" y="772945"/>
                    <a:pt x="0" y="741758"/>
                    <a:pt x="0" y="703287"/>
                  </a:cubicBezTo>
                  <a:lnTo>
                    <a:pt x="0" y="69658"/>
                  </a:lnTo>
                  <a:cubicBezTo>
                    <a:pt x="0" y="31187"/>
                    <a:pt x="31187" y="0"/>
                    <a:pt x="69658" y="0"/>
                  </a:cubicBezTo>
                  <a:close/>
                </a:path>
              </a:pathLst>
            </a:custGeom>
            <a:blipFill>
              <a:blip r:embed="rId6"/>
              <a:stretch>
                <a:fillRect l="0" t="-258" r="0" b="-258"/>
              </a:stretch>
            </a:blipFill>
          </p:spPr>
        </p:sp>
      </p:grpSp>
      <p:sp>
        <p:nvSpPr>
          <p:cNvPr name="Freeform 9" id="9"/>
          <p:cNvSpPr/>
          <p:nvPr/>
        </p:nvSpPr>
        <p:spPr>
          <a:xfrm flipH="false" flipV="false" rot="-5400000">
            <a:off x="7836690" y="9018142"/>
            <a:ext cx="6409046" cy="1562205"/>
          </a:xfrm>
          <a:custGeom>
            <a:avLst/>
            <a:gdLst/>
            <a:ahLst/>
            <a:cxnLst/>
            <a:rect r="r" b="b" t="t" l="l"/>
            <a:pathLst>
              <a:path h="1562205" w="6409046">
                <a:moveTo>
                  <a:pt x="0" y="0"/>
                </a:moveTo>
                <a:lnTo>
                  <a:pt x="6409046" y="0"/>
                </a:lnTo>
                <a:lnTo>
                  <a:pt x="6409046" y="1562205"/>
                </a:lnTo>
                <a:lnTo>
                  <a:pt x="0" y="1562205"/>
                </a:lnTo>
                <a:lnTo>
                  <a:pt x="0" y="0"/>
                </a:lnTo>
                <a:close/>
              </a:path>
            </a:pathLst>
          </a:custGeom>
          <a:blipFill>
            <a:blip r:embed="rId7"/>
            <a:stretch>
              <a:fillRect l="0" t="0" r="0" b="0"/>
            </a:stretch>
          </a:blipFill>
        </p:spPr>
      </p:sp>
      <p:sp>
        <p:nvSpPr>
          <p:cNvPr name="Freeform 10" id="10"/>
          <p:cNvSpPr/>
          <p:nvPr/>
        </p:nvSpPr>
        <p:spPr>
          <a:xfrm flipH="false" flipV="false" rot="-5400000">
            <a:off x="-3175948" y="1987149"/>
            <a:ext cx="6409046" cy="1562205"/>
          </a:xfrm>
          <a:custGeom>
            <a:avLst/>
            <a:gdLst/>
            <a:ahLst/>
            <a:cxnLst/>
            <a:rect r="r" b="b" t="t" l="l"/>
            <a:pathLst>
              <a:path h="1562205" w="6409046">
                <a:moveTo>
                  <a:pt x="0" y="0"/>
                </a:moveTo>
                <a:lnTo>
                  <a:pt x="6409046" y="0"/>
                </a:lnTo>
                <a:lnTo>
                  <a:pt x="6409046" y="1562205"/>
                </a:lnTo>
                <a:lnTo>
                  <a:pt x="0" y="1562205"/>
                </a:lnTo>
                <a:lnTo>
                  <a:pt x="0" y="0"/>
                </a:lnTo>
                <a:close/>
              </a:path>
            </a:pathLst>
          </a:custGeom>
          <a:blipFill>
            <a:blip r:embed="rId7"/>
            <a:stretch>
              <a:fillRect l="0" t="0" r="0" b="0"/>
            </a:stretch>
          </a:blipFill>
        </p:spPr>
      </p:sp>
      <p:sp>
        <p:nvSpPr>
          <p:cNvPr name="TextBox 11" id="11"/>
          <p:cNvSpPr txBox="true"/>
          <p:nvPr/>
        </p:nvSpPr>
        <p:spPr>
          <a:xfrm rot="0">
            <a:off x="1736006" y="918754"/>
            <a:ext cx="1818906" cy="520287"/>
          </a:xfrm>
          <a:prstGeom prst="rect">
            <a:avLst/>
          </a:prstGeom>
        </p:spPr>
        <p:txBody>
          <a:bodyPr anchor="t" rtlCol="false" tIns="0" lIns="0" bIns="0" rIns="0">
            <a:spAutoFit/>
          </a:bodyPr>
          <a:lstStyle/>
          <a:p>
            <a:pPr algn="l" marL="0" indent="0" lvl="0">
              <a:lnSpc>
                <a:spcPts val="2091"/>
              </a:lnSpc>
              <a:spcBef>
                <a:spcPct val="0"/>
              </a:spcBef>
            </a:pPr>
            <a:r>
              <a:rPr lang="en-US" sz="1493">
                <a:solidFill>
                  <a:srgbClr val="DDDDDD"/>
                </a:solidFill>
                <a:latin typeface="Open Sauce Light"/>
                <a:ea typeface="Open Sauce Light"/>
                <a:cs typeface="Open Sauce Light"/>
                <a:sym typeface="Open Sauce Light"/>
              </a:rPr>
              <a:t>Cybersecurity Training</a:t>
            </a:r>
          </a:p>
        </p:txBody>
      </p:sp>
      <p:sp>
        <p:nvSpPr>
          <p:cNvPr name="TextBox 12" id="12"/>
          <p:cNvSpPr txBox="true"/>
          <p:nvPr/>
        </p:nvSpPr>
        <p:spPr>
          <a:xfrm rot="0">
            <a:off x="15198136" y="918754"/>
            <a:ext cx="2061164" cy="247804"/>
          </a:xfrm>
          <a:prstGeom prst="rect">
            <a:avLst/>
          </a:prstGeom>
        </p:spPr>
        <p:txBody>
          <a:bodyPr anchor="t" rtlCol="false" tIns="0" lIns="0" bIns="0" rIns="0">
            <a:spAutoFit/>
          </a:bodyPr>
          <a:lstStyle/>
          <a:p>
            <a:pPr algn="r" marL="0" indent="0" lvl="0">
              <a:lnSpc>
                <a:spcPts val="2091"/>
              </a:lnSpc>
              <a:spcBef>
                <a:spcPct val="0"/>
              </a:spcBef>
            </a:pPr>
            <a:r>
              <a:rPr lang="en-US" sz="1493">
                <a:solidFill>
                  <a:srgbClr val="DDDDDD"/>
                </a:solidFill>
                <a:latin typeface="Open Sauce Light"/>
                <a:ea typeface="Open Sauce Light"/>
                <a:cs typeface="Open Sauce Light"/>
                <a:sym typeface="Open Sauce Light"/>
              </a:rPr>
              <a:t>10 September 2026</a:t>
            </a:r>
          </a:p>
        </p:txBody>
      </p:sp>
      <p:sp>
        <p:nvSpPr>
          <p:cNvPr name="TextBox 13" id="13"/>
          <p:cNvSpPr txBox="true"/>
          <p:nvPr/>
        </p:nvSpPr>
        <p:spPr>
          <a:xfrm rot="0">
            <a:off x="11986093" y="4272774"/>
            <a:ext cx="4872367" cy="956161"/>
          </a:xfrm>
          <a:prstGeom prst="rect">
            <a:avLst/>
          </a:prstGeom>
        </p:spPr>
        <p:txBody>
          <a:bodyPr anchor="t" rtlCol="false" tIns="0" lIns="0" bIns="0" rIns="0">
            <a:spAutoFit/>
          </a:bodyPr>
          <a:lstStyle/>
          <a:p>
            <a:pPr algn="l" marL="0" indent="0" lvl="0">
              <a:lnSpc>
                <a:spcPts val="7848"/>
              </a:lnSpc>
              <a:spcBef>
                <a:spcPct val="0"/>
              </a:spcBef>
            </a:pPr>
            <a:r>
              <a:rPr lang="en-US" b="true" sz="5605">
                <a:solidFill>
                  <a:srgbClr val="DFC869"/>
                </a:solidFill>
                <a:latin typeface="Tomorrow Bold"/>
                <a:ea typeface="Tomorrow Bold"/>
                <a:cs typeface="Tomorrow Bold"/>
                <a:sym typeface="Tomorrow Bold"/>
              </a:rPr>
              <a:t>SAFETY</a:t>
            </a:r>
          </a:p>
        </p:txBody>
      </p:sp>
      <p:sp>
        <p:nvSpPr>
          <p:cNvPr name="TextBox 14" id="14"/>
          <p:cNvSpPr txBox="true"/>
          <p:nvPr/>
        </p:nvSpPr>
        <p:spPr>
          <a:xfrm rot="0">
            <a:off x="11986093" y="2427349"/>
            <a:ext cx="4872367" cy="956161"/>
          </a:xfrm>
          <a:prstGeom prst="rect">
            <a:avLst/>
          </a:prstGeom>
        </p:spPr>
        <p:txBody>
          <a:bodyPr anchor="t" rtlCol="false" tIns="0" lIns="0" bIns="0" rIns="0">
            <a:spAutoFit/>
          </a:bodyPr>
          <a:lstStyle/>
          <a:p>
            <a:pPr algn="l" marL="0" indent="0" lvl="0">
              <a:lnSpc>
                <a:spcPts val="7848"/>
              </a:lnSpc>
              <a:spcBef>
                <a:spcPct val="0"/>
              </a:spcBef>
            </a:pPr>
            <a:r>
              <a:rPr lang="en-US" b="true" sz="5605">
                <a:solidFill>
                  <a:srgbClr val="DFC869"/>
                </a:solidFill>
                <a:latin typeface="Tomorrow Bold"/>
                <a:ea typeface="Tomorrow Bold"/>
                <a:cs typeface="Tomorrow Bold"/>
                <a:sym typeface="Tomorrow Bold"/>
              </a:rPr>
              <a:t>ONLINE</a:t>
            </a:r>
          </a:p>
        </p:txBody>
      </p:sp>
      <p:sp>
        <p:nvSpPr>
          <p:cNvPr name="TextBox 15" id="15"/>
          <p:cNvSpPr txBox="true"/>
          <p:nvPr/>
        </p:nvSpPr>
        <p:spPr>
          <a:xfrm rot="0">
            <a:off x="11986093" y="3359321"/>
            <a:ext cx="4872367" cy="956161"/>
          </a:xfrm>
          <a:prstGeom prst="rect">
            <a:avLst/>
          </a:prstGeom>
        </p:spPr>
        <p:txBody>
          <a:bodyPr anchor="t" rtlCol="false" tIns="0" lIns="0" bIns="0" rIns="0">
            <a:spAutoFit/>
          </a:bodyPr>
          <a:lstStyle/>
          <a:p>
            <a:pPr algn="l" marL="0" indent="0" lvl="0">
              <a:lnSpc>
                <a:spcPts val="7848"/>
              </a:lnSpc>
              <a:spcBef>
                <a:spcPct val="0"/>
              </a:spcBef>
            </a:pPr>
            <a:r>
              <a:rPr lang="en-US" b="true" sz="5605">
                <a:solidFill>
                  <a:srgbClr val="FFFFFF"/>
                </a:solidFill>
                <a:latin typeface="Tomorrow Bold"/>
                <a:ea typeface="Tomorrow Bold"/>
                <a:cs typeface="Tomorrow Bold"/>
                <a:sym typeface="Tomorrow Bold"/>
              </a:rPr>
              <a:t>PREVENTION</a:t>
            </a:r>
          </a:p>
        </p:txBody>
      </p:sp>
      <p:sp>
        <p:nvSpPr>
          <p:cNvPr name="TextBox 16" id="16"/>
          <p:cNvSpPr txBox="true"/>
          <p:nvPr/>
        </p:nvSpPr>
        <p:spPr>
          <a:xfrm rot="0">
            <a:off x="11986093" y="5944200"/>
            <a:ext cx="4872367" cy="2117637"/>
          </a:xfrm>
          <a:prstGeom prst="rect">
            <a:avLst/>
          </a:prstGeom>
        </p:spPr>
        <p:txBody>
          <a:bodyPr anchor="t" rtlCol="false" tIns="0" lIns="0" bIns="0" rIns="0">
            <a:spAutoFit/>
          </a:bodyPr>
          <a:lstStyle/>
          <a:p>
            <a:pPr algn="l" marL="0" indent="0" lvl="0">
              <a:lnSpc>
                <a:spcPts val="2454"/>
              </a:lnSpc>
              <a:spcBef>
                <a:spcPct val="0"/>
              </a:spcBef>
            </a:pPr>
            <a:r>
              <a:rPr lang="en-US" sz="1753">
                <a:solidFill>
                  <a:srgbClr val="A2A2A2"/>
                </a:solidFill>
                <a:latin typeface="Open Sauce Light"/>
                <a:ea typeface="Open Sauce Light"/>
                <a:cs typeface="Open Sauce Light"/>
                <a:sym typeface="Open Sauce Light"/>
              </a:rPr>
              <a:t>Protecting yourself from phishing attacks starts with simple, consistent practices. By following these essential prevention tips, you can significantly reduce your risk of falling victim to cyber threats. Stay vigilant, think before you click, and make security a daily habit.</a:t>
            </a:r>
          </a:p>
        </p:txBody>
      </p:sp>
      <p:sp>
        <p:nvSpPr>
          <p:cNvPr name="TextBox 17" id="17"/>
          <p:cNvSpPr txBox="true"/>
          <p:nvPr/>
        </p:nvSpPr>
        <p:spPr>
          <a:xfrm rot="0">
            <a:off x="1736006" y="2608222"/>
            <a:ext cx="3227336" cy="1534342"/>
          </a:xfrm>
          <a:prstGeom prst="rect">
            <a:avLst/>
          </a:prstGeom>
        </p:spPr>
        <p:txBody>
          <a:bodyPr anchor="t" rtlCol="false" tIns="0" lIns="0" bIns="0" rIns="0">
            <a:spAutoFit/>
          </a:bodyPr>
          <a:lstStyle/>
          <a:p>
            <a:pPr algn="l" marL="0" indent="0" lvl="0">
              <a:lnSpc>
                <a:spcPts val="2054"/>
              </a:lnSpc>
              <a:spcBef>
                <a:spcPct val="0"/>
              </a:spcBef>
            </a:pPr>
            <a:r>
              <a:rPr lang="en-US" sz="1467">
                <a:solidFill>
                  <a:srgbClr val="A2A2A2"/>
                </a:solidFill>
                <a:latin typeface="Open Sauce Light"/>
                <a:ea typeface="Open Sauce Light"/>
                <a:cs typeface="Open Sauce Light"/>
                <a:sym typeface="Open Sauce Light"/>
              </a:rPr>
              <a:t>Always verify the sender's email address before clicking links or opening attachments. Look for subtle misspellings or unusual domain names that may indicate a fake sender.</a:t>
            </a:r>
          </a:p>
        </p:txBody>
      </p:sp>
      <p:sp>
        <p:nvSpPr>
          <p:cNvPr name="TextBox 18" id="18"/>
          <p:cNvSpPr txBox="true"/>
          <p:nvPr/>
        </p:nvSpPr>
        <p:spPr>
          <a:xfrm rot="0">
            <a:off x="6262116" y="2608222"/>
            <a:ext cx="3227336" cy="1277167"/>
          </a:xfrm>
          <a:prstGeom prst="rect">
            <a:avLst/>
          </a:prstGeom>
        </p:spPr>
        <p:txBody>
          <a:bodyPr anchor="t" rtlCol="false" tIns="0" lIns="0" bIns="0" rIns="0">
            <a:spAutoFit/>
          </a:bodyPr>
          <a:lstStyle/>
          <a:p>
            <a:pPr algn="l" marL="0" indent="0" lvl="0">
              <a:lnSpc>
                <a:spcPts val="2054"/>
              </a:lnSpc>
              <a:spcBef>
                <a:spcPct val="0"/>
              </a:spcBef>
            </a:pPr>
            <a:r>
              <a:rPr lang="en-US" sz="1467">
                <a:solidFill>
                  <a:srgbClr val="A2A2A2"/>
                </a:solidFill>
                <a:latin typeface="Open Sauce Light"/>
                <a:ea typeface="Open Sauce Light"/>
                <a:cs typeface="Open Sauce Light"/>
                <a:sym typeface="Open Sauce Light"/>
              </a:rPr>
              <a:t>Enable multi-factor authentication (MFA) on all your accounts. This adds an extra layer of security beyond passwords, making it much harder for attackers to gain access.</a:t>
            </a:r>
          </a:p>
        </p:txBody>
      </p:sp>
      <p:sp>
        <p:nvSpPr>
          <p:cNvPr name="TextBox 19" id="19"/>
          <p:cNvSpPr txBox="true"/>
          <p:nvPr/>
        </p:nvSpPr>
        <p:spPr>
          <a:xfrm rot="0">
            <a:off x="1736006" y="5271801"/>
            <a:ext cx="3227336" cy="1277167"/>
          </a:xfrm>
          <a:prstGeom prst="rect">
            <a:avLst/>
          </a:prstGeom>
        </p:spPr>
        <p:txBody>
          <a:bodyPr anchor="t" rtlCol="false" tIns="0" lIns="0" bIns="0" rIns="0">
            <a:spAutoFit/>
          </a:bodyPr>
          <a:lstStyle/>
          <a:p>
            <a:pPr algn="l" marL="0" indent="0" lvl="0">
              <a:lnSpc>
                <a:spcPts val="2054"/>
              </a:lnSpc>
              <a:spcBef>
                <a:spcPct val="0"/>
              </a:spcBef>
            </a:pPr>
            <a:r>
              <a:rPr lang="en-US" sz="1467">
                <a:solidFill>
                  <a:srgbClr val="A2A2A2"/>
                </a:solidFill>
                <a:latin typeface="Open Sauce Light"/>
                <a:ea typeface="Open Sauce Light"/>
                <a:cs typeface="Open Sauce Light"/>
                <a:sym typeface="Open Sauce Light"/>
              </a:rPr>
              <a:t>Keep your operating system, applications, and antivirus software up to date. Security patches protect against known vulnerabilities that attackers exploit.</a:t>
            </a:r>
          </a:p>
        </p:txBody>
      </p:sp>
      <p:sp>
        <p:nvSpPr>
          <p:cNvPr name="TextBox 20" id="20"/>
          <p:cNvSpPr txBox="true"/>
          <p:nvPr/>
        </p:nvSpPr>
        <p:spPr>
          <a:xfrm rot="0">
            <a:off x="2305339" y="1939512"/>
            <a:ext cx="2011897" cy="314729"/>
          </a:xfrm>
          <a:prstGeom prst="rect">
            <a:avLst/>
          </a:prstGeom>
        </p:spPr>
        <p:txBody>
          <a:bodyPr anchor="t" rtlCol="false" tIns="0" lIns="0" bIns="0" rIns="0">
            <a:spAutoFit/>
          </a:bodyPr>
          <a:lstStyle/>
          <a:p>
            <a:pPr algn="l" marL="0" indent="0" lvl="0">
              <a:lnSpc>
                <a:spcPts val="2619"/>
              </a:lnSpc>
              <a:spcBef>
                <a:spcPct val="0"/>
              </a:spcBef>
            </a:pPr>
            <a:r>
              <a:rPr lang="en-US" b="true" sz="1871">
                <a:solidFill>
                  <a:srgbClr val="DFC869"/>
                </a:solidFill>
                <a:latin typeface="Open Sauce Bold"/>
                <a:ea typeface="Open Sauce Bold"/>
                <a:cs typeface="Open Sauce Bold"/>
                <a:sym typeface="Open Sauce Bold"/>
              </a:rPr>
              <a:t>Verify Sender</a:t>
            </a:r>
          </a:p>
        </p:txBody>
      </p:sp>
      <p:sp>
        <p:nvSpPr>
          <p:cNvPr name="TextBox 21" id="21"/>
          <p:cNvSpPr txBox="true"/>
          <p:nvPr/>
        </p:nvSpPr>
        <p:spPr>
          <a:xfrm rot="0">
            <a:off x="6831449" y="1939512"/>
            <a:ext cx="2658003" cy="314729"/>
          </a:xfrm>
          <a:prstGeom prst="rect">
            <a:avLst/>
          </a:prstGeom>
        </p:spPr>
        <p:txBody>
          <a:bodyPr anchor="t" rtlCol="false" tIns="0" lIns="0" bIns="0" rIns="0">
            <a:spAutoFit/>
          </a:bodyPr>
          <a:lstStyle/>
          <a:p>
            <a:pPr algn="l" marL="0" indent="0" lvl="0">
              <a:lnSpc>
                <a:spcPts val="2619"/>
              </a:lnSpc>
              <a:spcBef>
                <a:spcPct val="0"/>
              </a:spcBef>
            </a:pPr>
            <a:r>
              <a:rPr lang="en-US" b="true" sz="1871">
                <a:solidFill>
                  <a:srgbClr val="DFC869"/>
                </a:solidFill>
                <a:latin typeface="Open Sauce Bold"/>
                <a:ea typeface="Open Sauce Bold"/>
                <a:cs typeface="Open Sauce Bold"/>
                <a:sym typeface="Open Sauce Bold"/>
              </a:rPr>
              <a:t>Enable MFA</a:t>
            </a:r>
          </a:p>
        </p:txBody>
      </p:sp>
      <p:sp>
        <p:nvSpPr>
          <p:cNvPr name="TextBox 22" id="22"/>
          <p:cNvSpPr txBox="true"/>
          <p:nvPr/>
        </p:nvSpPr>
        <p:spPr>
          <a:xfrm rot="0">
            <a:off x="2305339" y="4603091"/>
            <a:ext cx="2011897" cy="314729"/>
          </a:xfrm>
          <a:prstGeom prst="rect">
            <a:avLst/>
          </a:prstGeom>
        </p:spPr>
        <p:txBody>
          <a:bodyPr anchor="t" rtlCol="false" tIns="0" lIns="0" bIns="0" rIns="0">
            <a:spAutoFit/>
          </a:bodyPr>
          <a:lstStyle/>
          <a:p>
            <a:pPr algn="l" marL="0" indent="0" lvl="0">
              <a:lnSpc>
                <a:spcPts val="2619"/>
              </a:lnSpc>
              <a:spcBef>
                <a:spcPct val="0"/>
              </a:spcBef>
            </a:pPr>
            <a:r>
              <a:rPr lang="en-US" b="true" sz="1871">
                <a:solidFill>
                  <a:srgbClr val="DFC869"/>
                </a:solidFill>
                <a:latin typeface="Open Sauce Bold"/>
                <a:ea typeface="Open Sauce Bold"/>
                <a:cs typeface="Open Sauce Bold"/>
                <a:sym typeface="Open Sauce Bold"/>
              </a:rPr>
              <a:t>Update Software</a:t>
            </a:r>
          </a:p>
        </p:txBody>
      </p:sp>
      <p:sp>
        <p:nvSpPr>
          <p:cNvPr name="TextBox 23" id="23"/>
          <p:cNvSpPr txBox="true"/>
          <p:nvPr/>
        </p:nvSpPr>
        <p:spPr>
          <a:xfrm rot="0">
            <a:off x="1736006" y="7935380"/>
            <a:ext cx="3227336" cy="1019992"/>
          </a:xfrm>
          <a:prstGeom prst="rect">
            <a:avLst/>
          </a:prstGeom>
        </p:spPr>
        <p:txBody>
          <a:bodyPr anchor="t" rtlCol="false" tIns="0" lIns="0" bIns="0" rIns="0">
            <a:spAutoFit/>
          </a:bodyPr>
          <a:lstStyle/>
          <a:p>
            <a:pPr algn="l" marL="0" indent="0" lvl="0">
              <a:lnSpc>
                <a:spcPts val="2054"/>
              </a:lnSpc>
              <a:spcBef>
                <a:spcPct val="0"/>
              </a:spcBef>
            </a:pPr>
            <a:r>
              <a:rPr lang="en-US" sz="1467">
                <a:solidFill>
                  <a:srgbClr val="A2A2A2"/>
                </a:solidFill>
                <a:latin typeface="Open Sauce Light"/>
                <a:ea typeface="Open Sauce Light"/>
                <a:cs typeface="Open Sauce Light"/>
                <a:sym typeface="Open Sauce Light"/>
              </a:rPr>
              <a:t>Use strong, unique passwords for each account. Consider using a password manager to generate and store complex passwords securely.</a:t>
            </a:r>
          </a:p>
        </p:txBody>
      </p:sp>
      <p:sp>
        <p:nvSpPr>
          <p:cNvPr name="TextBox 24" id="24"/>
          <p:cNvSpPr txBox="true"/>
          <p:nvPr/>
        </p:nvSpPr>
        <p:spPr>
          <a:xfrm rot="0">
            <a:off x="2305339" y="7266670"/>
            <a:ext cx="2484337" cy="314729"/>
          </a:xfrm>
          <a:prstGeom prst="rect">
            <a:avLst/>
          </a:prstGeom>
        </p:spPr>
        <p:txBody>
          <a:bodyPr anchor="t" rtlCol="false" tIns="0" lIns="0" bIns="0" rIns="0">
            <a:spAutoFit/>
          </a:bodyPr>
          <a:lstStyle/>
          <a:p>
            <a:pPr algn="l" marL="0" indent="0" lvl="0">
              <a:lnSpc>
                <a:spcPts val="2619"/>
              </a:lnSpc>
              <a:spcBef>
                <a:spcPct val="0"/>
              </a:spcBef>
            </a:pPr>
            <a:r>
              <a:rPr lang="en-US" b="true" sz="1871">
                <a:solidFill>
                  <a:srgbClr val="DFC869"/>
                </a:solidFill>
                <a:latin typeface="Open Sauce Bold"/>
                <a:ea typeface="Open Sauce Bold"/>
                <a:cs typeface="Open Sauce Bold"/>
                <a:sym typeface="Open Sauce Bold"/>
              </a:rPr>
              <a:t>Strong Passwords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079354" y="1849739"/>
            <a:ext cx="8179946" cy="7408561"/>
            <a:chOff x="0" y="0"/>
            <a:chExt cx="1005678" cy="910841"/>
          </a:xfrm>
        </p:grpSpPr>
        <p:sp>
          <p:nvSpPr>
            <p:cNvPr name="Freeform 4" id="4"/>
            <p:cNvSpPr/>
            <p:nvPr/>
          </p:nvSpPr>
          <p:spPr>
            <a:xfrm flipH="false" flipV="false" rot="0">
              <a:off x="0" y="0"/>
              <a:ext cx="1005678" cy="910841"/>
            </a:xfrm>
            <a:custGeom>
              <a:avLst/>
              <a:gdLst/>
              <a:ahLst/>
              <a:cxnLst/>
              <a:rect r="r" b="b" t="t" l="l"/>
              <a:pathLst>
                <a:path h="910841" w="1005678">
                  <a:moveTo>
                    <a:pt x="49215" y="0"/>
                  </a:moveTo>
                  <a:lnTo>
                    <a:pt x="956463" y="0"/>
                  </a:lnTo>
                  <a:cubicBezTo>
                    <a:pt x="969516" y="0"/>
                    <a:pt x="982034" y="5185"/>
                    <a:pt x="991263" y="14415"/>
                  </a:cubicBezTo>
                  <a:cubicBezTo>
                    <a:pt x="1000493" y="23645"/>
                    <a:pt x="1005678" y="36163"/>
                    <a:pt x="1005678" y="49215"/>
                  </a:cubicBezTo>
                  <a:lnTo>
                    <a:pt x="1005678" y="861626"/>
                  </a:lnTo>
                  <a:cubicBezTo>
                    <a:pt x="1005678" y="874678"/>
                    <a:pt x="1000493" y="887196"/>
                    <a:pt x="991263" y="896426"/>
                  </a:cubicBezTo>
                  <a:cubicBezTo>
                    <a:pt x="982034" y="905656"/>
                    <a:pt x="969516" y="910841"/>
                    <a:pt x="956463" y="910841"/>
                  </a:cubicBezTo>
                  <a:lnTo>
                    <a:pt x="49215" y="910841"/>
                  </a:lnTo>
                  <a:cubicBezTo>
                    <a:pt x="36163" y="910841"/>
                    <a:pt x="23645" y="905656"/>
                    <a:pt x="14415" y="896426"/>
                  </a:cubicBezTo>
                  <a:cubicBezTo>
                    <a:pt x="5185" y="887196"/>
                    <a:pt x="0" y="874678"/>
                    <a:pt x="0" y="861626"/>
                  </a:cubicBezTo>
                  <a:lnTo>
                    <a:pt x="0" y="49215"/>
                  </a:lnTo>
                  <a:cubicBezTo>
                    <a:pt x="0" y="36163"/>
                    <a:pt x="5185" y="23645"/>
                    <a:pt x="14415" y="14415"/>
                  </a:cubicBezTo>
                  <a:cubicBezTo>
                    <a:pt x="23645" y="5185"/>
                    <a:pt x="36163" y="0"/>
                    <a:pt x="49215" y="0"/>
                  </a:cubicBezTo>
                  <a:close/>
                </a:path>
              </a:pathLst>
            </a:custGeom>
            <a:blipFill>
              <a:blip r:embed="rId4"/>
              <a:stretch>
                <a:fillRect l="-527" t="0" r="-527" b="0"/>
              </a:stretch>
            </a:blipFill>
          </p:spPr>
        </p:sp>
      </p:grpSp>
      <p:grpSp>
        <p:nvGrpSpPr>
          <p:cNvPr name="Group 5" id="5"/>
          <p:cNvGrpSpPr/>
          <p:nvPr/>
        </p:nvGrpSpPr>
        <p:grpSpPr>
          <a:xfrm rot="0">
            <a:off x="1303322" y="6824532"/>
            <a:ext cx="8797862" cy="2433768"/>
            <a:chOff x="0" y="0"/>
            <a:chExt cx="2317132" cy="640992"/>
          </a:xfrm>
        </p:grpSpPr>
        <p:sp>
          <p:nvSpPr>
            <p:cNvPr name="Freeform 6" id="6"/>
            <p:cNvSpPr/>
            <p:nvPr/>
          </p:nvSpPr>
          <p:spPr>
            <a:xfrm flipH="false" flipV="false" rot="0">
              <a:off x="0" y="0"/>
              <a:ext cx="2317133" cy="640992"/>
            </a:xfrm>
            <a:custGeom>
              <a:avLst/>
              <a:gdLst/>
              <a:ahLst/>
              <a:cxnLst/>
              <a:rect r="r" b="b" t="t" l="l"/>
              <a:pathLst>
                <a:path h="640992" w="2317133">
                  <a:moveTo>
                    <a:pt x="24639" y="0"/>
                  </a:moveTo>
                  <a:lnTo>
                    <a:pt x="2292493" y="0"/>
                  </a:lnTo>
                  <a:cubicBezTo>
                    <a:pt x="2306101" y="0"/>
                    <a:pt x="2317133" y="11031"/>
                    <a:pt x="2317133" y="24639"/>
                  </a:cubicBezTo>
                  <a:lnTo>
                    <a:pt x="2317133" y="616353"/>
                  </a:lnTo>
                  <a:cubicBezTo>
                    <a:pt x="2317133" y="629961"/>
                    <a:pt x="2306101" y="640992"/>
                    <a:pt x="2292493" y="640992"/>
                  </a:cubicBezTo>
                  <a:lnTo>
                    <a:pt x="24639" y="640992"/>
                  </a:lnTo>
                  <a:cubicBezTo>
                    <a:pt x="11031" y="640992"/>
                    <a:pt x="0" y="629961"/>
                    <a:pt x="0" y="616353"/>
                  </a:cubicBezTo>
                  <a:lnTo>
                    <a:pt x="0" y="24639"/>
                  </a:lnTo>
                  <a:cubicBezTo>
                    <a:pt x="0" y="11031"/>
                    <a:pt x="11031" y="0"/>
                    <a:pt x="24639" y="0"/>
                  </a:cubicBezTo>
                  <a:close/>
                </a:path>
              </a:pathLst>
            </a:custGeom>
            <a:gradFill rotWithShape="true">
              <a:gsLst>
                <a:gs pos="0">
                  <a:srgbClr val="EDD46F">
                    <a:alpha val="100000"/>
                  </a:srgbClr>
                </a:gs>
                <a:gs pos="100000">
                  <a:srgbClr val="726321">
                    <a:alpha val="100000"/>
                  </a:srgbClr>
                </a:gs>
              </a:gsLst>
              <a:lin ang="2700000"/>
            </a:gradFill>
          </p:spPr>
        </p:sp>
        <p:sp>
          <p:nvSpPr>
            <p:cNvPr name="TextBox 7" id="7"/>
            <p:cNvSpPr txBox="true"/>
            <p:nvPr/>
          </p:nvSpPr>
          <p:spPr>
            <a:xfrm>
              <a:off x="0" y="-28575"/>
              <a:ext cx="2317132" cy="669567"/>
            </a:xfrm>
            <a:prstGeom prst="rect">
              <a:avLst/>
            </a:prstGeom>
          </p:spPr>
          <p:txBody>
            <a:bodyPr anchor="ctr" rtlCol="false" tIns="50800" lIns="50800" bIns="50800" rIns="50800"/>
            <a:lstStyle/>
            <a:p>
              <a:pPr algn="ctr" marL="0" indent="0" lvl="0">
                <a:lnSpc>
                  <a:spcPts val="2196"/>
                </a:lnSpc>
              </a:pPr>
            </a:p>
          </p:txBody>
        </p:sp>
      </p:grpSp>
      <p:sp>
        <p:nvSpPr>
          <p:cNvPr name="Freeform 8" id="8"/>
          <p:cNvSpPr/>
          <p:nvPr/>
        </p:nvSpPr>
        <p:spPr>
          <a:xfrm flipH="false" flipV="false" rot="0">
            <a:off x="1691266" y="7165138"/>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9" id="9"/>
          <p:cNvSpPr/>
          <p:nvPr/>
        </p:nvSpPr>
        <p:spPr>
          <a:xfrm flipH="false" flipV="false" rot="0">
            <a:off x="1691266" y="7666463"/>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0" id="10"/>
          <p:cNvSpPr/>
          <p:nvPr/>
        </p:nvSpPr>
        <p:spPr>
          <a:xfrm flipH="false" flipV="false" rot="0">
            <a:off x="1691266" y="8167788"/>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91266" y="8669112"/>
            <a:ext cx="248581" cy="248581"/>
          </a:xfrm>
          <a:custGeom>
            <a:avLst/>
            <a:gdLst/>
            <a:ahLst/>
            <a:cxnLst/>
            <a:rect r="r" b="b" t="t" l="l"/>
            <a:pathLst>
              <a:path h="248581" w="248581">
                <a:moveTo>
                  <a:pt x="0" y="0"/>
                </a:moveTo>
                <a:lnTo>
                  <a:pt x="248581" y="0"/>
                </a:lnTo>
                <a:lnTo>
                  <a:pt x="248581" y="248582"/>
                </a:lnTo>
                <a:lnTo>
                  <a:pt x="0" y="2485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TextBox 12" id="12"/>
          <p:cNvSpPr txBox="true"/>
          <p:nvPr/>
        </p:nvSpPr>
        <p:spPr>
          <a:xfrm rot="0">
            <a:off x="1736006" y="918754"/>
            <a:ext cx="1818906" cy="544601"/>
          </a:xfrm>
          <a:prstGeom prst="rect">
            <a:avLst/>
          </a:prstGeom>
        </p:spPr>
        <p:txBody>
          <a:bodyPr anchor="t" rtlCol="false" tIns="0" lIns="0" bIns="0" rIns="0">
            <a:spAutoFit/>
          </a:bodyPr>
          <a:lstStyle/>
          <a:p>
            <a:pPr algn="l" marL="0" indent="0" lvl="0">
              <a:lnSpc>
                <a:spcPts val="2194"/>
              </a:lnSpc>
              <a:spcBef>
                <a:spcPct val="0"/>
              </a:spcBef>
            </a:pPr>
            <a:r>
              <a:rPr lang="en-US" sz="1567">
                <a:solidFill>
                  <a:srgbClr val="DDDDDD"/>
                </a:solidFill>
                <a:latin typeface="Open Sauce Light"/>
                <a:ea typeface="Open Sauce Light"/>
                <a:cs typeface="Open Sauce Light"/>
                <a:sym typeface="Open Sauce Light"/>
              </a:rPr>
              <a:t>Cybersecurity Training</a:t>
            </a:r>
          </a:p>
        </p:txBody>
      </p:sp>
      <p:sp>
        <p:nvSpPr>
          <p:cNvPr name="TextBox 13" id="13"/>
          <p:cNvSpPr txBox="true"/>
          <p:nvPr/>
        </p:nvSpPr>
        <p:spPr>
          <a:xfrm rot="0">
            <a:off x="15198136" y="918754"/>
            <a:ext cx="2061164" cy="264977"/>
          </a:xfrm>
          <a:prstGeom prst="rect">
            <a:avLst/>
          </a:prstGeom>
        </p:spPr>
        <p:txBody>
          <a:bodyPr anchor="t" rtlCol="false" tIns="0" lIns="0" bIns="0" rIns="0">
            <a:spAutoFit/>
          </a:bodyPr>
          <a:lstStyle/>
          <a:p>
            <a:pPr algn="r" marL="0" indent="0" lvl="0">
              <a:lnSpc>
                <a:spcPts val="2194"/>
              </a:lnSpc>
              <a:spcBef>
                <a:spcPct val="0"/>
              </a:spcBef>
            </a:pPr>
            <a:r>
              <a:rPr lang="en-US" sz="1567">
                <a:solidFill>
                  <a:srgbClr val="DDDDDD"/>
                </a:solidFill>
                <a:latin typeface="Open Sauce Light"/>
                <a:ea typeface="Open Sauce Light"/>
                <a:cs typeface="Open Sauce Light"/>
                <a:sym typeface="Open Sauce Light"/>
              </a:rPr>
              <a:t>September 19, 2026</a:t>
            </a:r>
          </a:p>
        </p:txBody>
      </p:sp>
      <p:sp>
        <p:nvSpPr>
          <p:cNvPr name="TextBox 14" id="14"/>
          <p:cNvSpPr txBox="true"/>
          <p:nvPr/>
        </p:nvSpPr>
        <p:spPr>
          <a:xfrm rot="0">
            <a:off x="1303322" y="2561456"/>
            <a:ext cx="7177847" cy="736239"/>
          </a:xfrm>
          <a:prstGeom prst="rect">
            <a:avLst/>
          </a:prstGeom>
        </p:spPr>
        <p:txBody>
          <a:bodyPr anchor="t" rtlCol="false" tIns="0" lIns="0" bIns="0" rIns="0">
            <a:spAutoFit/>
          </a:bodyPr>
          <a:lstStyle/>
          <a:p>
            <a:pPr algn="l" marL="0" indent="0" lvl="0">
              <a:lnSpc>
                <a:spcPts val="5995"/>
              </a:lnSpc>
              <a:spcBef>
                <a:spcPct val="0"/>
              </a:spcBef>
            </a:pPr>
            <a:r>
              <a:rPr lang="en-US" b="true" sz="4282">
                <a:solidFill>
                  <a:srgbClr val="DFC869"/>
                </a:solidFill>
                <a:latin typeface="Tomorrow Bold"/>
                <a:ea typeface="Tomorrow Bold"/>
                <a:cs typeface="Tomorrow Bold"/>
                <a:sym typeface="Tomorrow Bold"/>
              </a:rPr>
              <a:t>REAL-WORLD EXAMPLE 1</a:t>
            </a:r>
          </a:p>
        </p:txBody>
      </p:sp>
      <p:sp>
        <p:nvSpPr>
          <p:cNvPr name="TextBox 15" id="15"/>
          <p:cNvSpPr txBox="true"/>
          <p:nvPr/>
        </p:nvSpPr>
        <p:spPr>
          <a:xfrm rot="0">
            <a:off x="1303322" y="4213831"/>
            <a:ext cx="6720659" cy="192493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In 2024, a major Fortune 500 company fell victim to a sophisticated phishing attack. An employee received an email appearing to be from a trusted vendor, requesting urgent payment information. The attacker successfully compromised the system, leading to significant consequences.</a:t>
            </a:r>
          </a:p>
        </p:txBody>
      </p:sp>
      <p:sp>
        <p:nvSpPr>
          <p:cNvPr name="TextBox 16" id="16"/>
          <p:cNvSpPr txBox="true"/>
          <p:nvPr/>
        </p:nvSpPr>
        <p:spPr>
          <a:xfrm rot="0">
            <a:off x="2117457" y="7084534"/>
            <a:ext cx="7798586" cy="371730"/>
          </a:xfrm>
          <a:prstGeom prst="rect">
            <a:avLst/>
          </a:prstGeom>
        </p:spPr>
        <p:txBody>
          <a:bodyPr anchor="t" rtlCol="false" tIns="0" lIns="0" bIns="0" rIns="0">
            <a:spAutoFit/>
          </a:bodyPr>
          <a:lstStyle/>
          <a:p>
            <a:pPr algn="l" marL="0" indent="0" lvl="0">
              <a:lnSpc>
                <a:spcPts val="3135"/>
              </a:lnSpc>
              <a:spcBef>
                <a:spcPct val="0"/>
              </a:spcBef>
            </a:pPr>
            <a:r>
              <a:rPr lang="en-US" b="true" sz="2239">
                <a:solidFill>
                  <a:srgbClr val="000000"/>
                </a:solidFill>
                <a:latin typeface="Open Sauce Bold"/>
                <a:ea typeface="Open Sauce Bold"/>
                <a:cs typeface="Open Sauce Bold"/>
                <a:sym typeface="Open Sauce Bold"/>
              </a:rPr>
              <a:t>Data breach affecting over 500,000 customer records</a:t>
            </a:r>
          </a:p>
        </p:txBody>
      </p:sp>
      <p:sp>
        <p:nvSpPr>
          <p:cNvPr name="TextBox 17" id="17"/>
          <p:cNvSpPr txBox="true"/>
          <p:nvPr/>
        </p:nvSpPr>
        <p:spPr>
          <a:xfrm rot="0">
            <a:off x="2117457" y="7585858"/>
            <a:ext cx="7798586" cy="371730"/>
          </a:xfrm>
          <a:prstGeom prst="rect">
            <a:avLst/>
          </a:prstGeom>
        </p:spPr>
        <p:txBody>
          <a:bodyPr anchor="t" rtlCol="false" tIns="0" lIns="0" bIns="0" rIns="0">
            <a:spAutoFit/>
          </a:bodyPr>
          <a:lstStyle/>
          <a:p>
            <a:pPr algn="l" marL="0" indent="0" lvl="0">
              <a:lnSpc>
                <a:spcPts val="3135"/>
              </a:lnSpc>
              <a:spcBef>
                <a:spcPct val="0"/>
              </a:spcBef>
            </a:pPr>
            <a:r>
              <a:rPr lang="en-US" b="true" sz="2239">
                <a:solidFill>
                  <a:srgbClr val="000000"/>
                </a:solidFill>
                <a:latin typeface="Open Sauce Bold"/>
                <a:ea typeface="Open Sauce Bold"/>
                <a:cs typeface="Open Sauce Bold"/>
                <a:sym typeface="Open Sauce Bold"/>
              </a:rPr>
              <a:t>Financial loss exceeding $50 million in damages</a:t>
            </a:r>
          </a:p>
        </p:txBody>
      </p:sp>
      <p:sp>
        <p:nvSpPr>
          <p:cNvPr name="TextBox 18" id="18"/>
          <p:cNvSpPr txBox="true"/>
          <p:nvPr/>
        </p:nvSpPr>
        <p:spPr>
          <a:xfrm rot="0">
            <a:off x="2117457" y="8087183"/>
            <a:ext cx="7798586" cy="371730"/>
          </a:xfrm>
          <a:prstGeom prst="rect">
            <a:avLst/>
          </a:prstGeom>
        </p:spPr>
        <p:txBody>
          <a:bodyPr anchor="t" rtlCol="false" tIns="0" lIns="0" bIns="0" rIns="0">
            <a:spAutoFit/>
          </a:bodyPr>
          <a:lstStyle/>
          <a:p>
            <a:pPr algn="l" marL="0" indent="0" lvl="0">
              <a:lnSpc>
                <a:spcPts val="3135"/>
              </a:lnSpc>
              <a:spcBef>
                <a:spcPct val="0"/>
              </a:spcBef>
            </a:pPr>
            <a:r>
              <a:rPr lang="en-US" b="true" sz="2239">
                <a:solidFill>
                  <a:srgbClr val="000000"/>
                </a:solidFill>
                <a:latin typeface="Open Sauce Bold"/>
                <a:ea typeface="Open Sauce Bold"/>
                <a:cs typeface="Open Sauce Bold"/>
                <a:sym typeface="Open Sauce Bold"/>
              </a:rPr>
              <a:t>Severe reputational damage and lost customer trust</a:t>
            </a:r>
          </a:p>
        </p:txBody>
      </p:sp>
      <p:sp>
        <p:nvSpPr>
          <p:cNvPr name="TextBox 19" id="19"/>
          <p:cNvSpPr txBox="true"/>
          <p:nvPr/>
        </p:nvSpPr>
        <p:spPr>
          <a:xfrm rot="0">
            <a:off x="2117457" y="8588508"/>
            <a:ext cx="7798586" cy="371730"/>
          </a:xfrm>
          <a:prstGeom prst="rect">
            <a:avLst/>
          </a:prstGeom>
        </p:spPr>
        <p:txBody>
          <a:bodyPr anchor="t" rtlCol="false" tIns="0" lIns="0" bIns="0" rIns="0">
            <a:spAutoFit/>
          </a:bodyPr>
          <a:lstStyle/>
          <a:p>
            <a:pPr algn="l" marL="0" indent="0" lvl="0">
              <a:lnSpc>
                <a:spcPts val="3135"/>
              </a:lnSpc>
              <a:spcBef>
                <a:spcPct val="0"/>
              </a:spcBef>
            </a:pPr>
            <a:r>
              <a:rPr lang="en-US" b="true" sz="2239">
                <a:solidFill>
                  <a:srgbClr val="000000"/>
                </a:solidFill>
                <a:latin typeface="Open Sauce Bold"/>
                <a:ea typeface="Open Sauce Bold"/>
                <a:cs typeface="Open Sauce Bold"/>
                <a:sym typeface="Open Sauce Bold"/>
              </a:rPr>
              <a:t>Regulatory fines and ongoing legal consequences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275529" y="2394332"/>
            <a:ext cx="3437707" cy="6863968"/>
            <a:chOff x="0" y="0"/>
            <a:chExt cx="422647" cy="843886"/>
          </a:xfrm>
        </p:grpSpPr>
        <p:sp>
          <p:nvSpPr>
            <p:cNvPr name="Freeform 4" id="4"/>
            <p:cNvSpPr/>
            <p:nvPr/>
          </p:nvSpPr>
          <p:spPr>
            <a:xfrm flipH="false" flipV="false" rot="0">
              <a:off x="0" y="0"/>
              <a:ext cx="422647" cy="843886"/>
            </a:xfrm>
            <a:custGeom>
              <a:avLst/>
              <a:gdLst/>
              <a:ahLst/>
              <a:cxnLst/>
              <a:rect r="r" b="b" t="t" l="l"/>
              <a:pathLst>
                <a:path h="843886" w="422647">
                  <a:moveTo>
                    <a:pt x="96839" y="0"/>
                  </a:moveTo>
                  <a:lnTo>
                    <a:pt x="325808" y="0"/>
                  </a:lnTo>
                  <a:cubicBezTo>
                    <a:pt x="351491" y="0"/>
                    <a:pt x="376123" y="10203"/>
                    <a:pt x="394283" y="28363"/>
                  </a:cubicBezTo>
                  <a:cubicBezTo>
                    <a:pt x="412444" y="46524"/>
                    <a:pt x="422647" y="71155"/>
                    <a:pt x="422647" y="96839"/>
                  </a:cubicBezTo>
                  <a:lnTo>
                    <a:pt x="422647" y="747048"/>
                  </a:lnTo>
                  <a:cubicBezTo>
                    <a:pt x="422647" y="772731"/>
                    <a:pt x="412444" y="797362"/>
                    <a:pt x="394283" y="815523"/>
                  </a:cubicBezTo>
                  <a:cubicBezTo>
                    <a:pt x="376123" y="833684"/>
                    <a:pt x="351491" y="843886"/>
                    <a:pt x="325808" y="843886"/>
                  </a:cubicBezTo>
                  <a:lnTo>
                    <a:pt x="96839" y="843886"/>
                  </a:lnTo>
                  <a:cubicBezTo>
                    <a:pt x="71155" y="843886"/>
                    <a:pt x="46524" y="833684"/>
                    <a:pt x="28363" y="815523"/>
                  </a:cubicBezTo>
                  <a:cubicBezTo>
                    <a:pt x="10203" y="797362"/>
                    <a:pt x="0" y="772731"/>
                    <a:pt x="0" y="747048"/>
                  </a:cubicBezTo>
                  <a:lnTo>
                    <a:pt x="0" y="96839"/>
                  </a:lnTo>
                  <a:cubicBezTo>
                    <a:pt x="0" y="71155"/>
                    <a:pt x="10203" y="46524"/>
                    <a:pt x="28363" y="28363"/>
                  </a:cubicBezTo>
                  <a:cubicBezTo>
                    <a:pt x="46524" y="10203"/>
                    <a:pt x="71155" y="0"/>
                    <a:pt x="96839" y="0"/>
                  </a:cubicBezTo>
                  <a:close/>
                </a:path>
              </a:pathLst>
            </a:custGeom>
            <a:blipFill>
              <a:blip r:embed="rId4"/>
              <a:stretch>
                <a:fillRect l="-415" t="0" r="-415" b="0"/>
              </a:stretch>
            </a:blipFill>
          </p:spPr>
        </p:sp>
      </p:grpSp>
      <p:grpSp>
        <p:nvGrpSpPr>
          <p:cNvPr name="Group 5" id="5"/>
          <p:cNvGrpSpPr/>
          <p:nvPr/>
        </p:nvGrpSpPr>
        <p:grpSpPr>
          <a:xfrm rot="0">
            <a:off x="12082950" y="2849905"/>
            <a:ext cx="4792482" cy="2843061"/>
            <a:chOff x="0" y="0"/>
            <a:chExt cx="1262217" cy="748790"/>
          </a:xfrm>
        </p:grpSpPr>
        <p:sp>
          <p:nvSpPr>
            <p:cNvPr name="Freeform 6" id="6"/>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DFC869">
                    <a:alpha val="66500"/>
                  </a:srgbClr>
                </a:gs>
                <a:gs pos="100000">
                  <a:srgbClr val="000000">
                    <a:alpha val="0"/>
                  </a:srgbClr>
                </a:gs>
              </a:gsLst>
              <a:lin ang="2700000"/>
            </a:gradFill>
            <a:ln w="28575" cap="rnd">
              <a:gradFill>
                <a:gsLst>
                  <a:gs pos="0">
                    <a:srgbClr val="EDD46F">
                      <a:alpha val="100000"/>
                    </a:srgbClr>
                  </a:gs>
                  <a:gs pos="100000">
                    <a:srgbClr val="726321">
                      <a:alpha val="100000"/>
                    </a:srgbClr>
                  </a:gs>
                </a:gsLst>
                <a:lin ang="2700000"/>
              </a:gradFill>
              <a:prstDash val="solid"/>
              <a:round/>
            </a:ln>
          </p:spPr>
        </p:sp>
        <p:sp>
          <p:nvSpPr>
            <p:cNvPr name="TextBox 7" id="7"/>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pPr>
            </a:p>
          </p:txBody>
        </p:sp>
      </p:grpSp>
      <p:grpSp>
        <p:nvGrpSpPr>
          <p:cNvPr name="Group 8" id="8"/>
          <p:cNvGrpSpPr/>
          <p:nvPr/>
        </p:nvGrpSpPr>
        <p:grpSpPr>
          <a:xfrm rot="0">
            <a:off x="12082950" y="5959666"/>
            <a:ext cx="4792482" cy="2843061"/>
            <a:chOff x="0" y="0"/>
            <a:chExt cx="1262217" cy="748790"/>
          </a:xfrm>
        </p:grpSpPr>
        <p:sp>
          <p:nvSpPr>
            <p:cNvPr name="Freeform 9" id="9"/>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EDD46F">
                    <a:alpha val="100000"/>
                  </a:srgbClr>
                </a:gs>
                <a:gs pos="100000">
                  <a:srgbClr val="726321">
                    <a:alpha val="100000"/>
                  </a:srgbClr>
                </a:gs>
              </a:gsLst>
              <a:lin ang="2700000"/>
            </a:gradFill>
          </p:spPr>
        </p:sp>
        <p:sp>
          <p:nvSpPr>
            <p:cNvPr name="TextBox 10" id="10"/>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pPr>
            </a:p>
          </p:txBody>
        </p:sp>
      </p:grpSp>
      <p:sp>
        <p:nvSpPr>
          <p:cNvPr name="TextBox 11" id="11"/>
          <p:cNvSpPr txBox="true"/>
          <p:nvPr/>
        </p:nvSpPr>
        <p:spPr>
          <a:xfrm rot="0">
            <a:off x="12493067" y="4286776"/>
            <a:ext cx="3972247" cy="10562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DDDDDD"/>
                </a:solidFill>
                <a:latin typeface="Open Sauce Light"/>
                <a:ea typeface="Open Sauce Light"/>
                <a:cs typeface="Open Sauce Light"/>
                <a:sym typeface="Open Sauce Light"/>
              </a:rPr>
              <a:t>Check for HTTPS and valid security certificates. Even small URL differences can indicate a fake site designed to steal your credentials.</a:t>
            </a:r>
          </a:p>
        </p:txBody>
      </p:sp>
      <p:sp>
        <p:nvSpPr>
          <p:cNvPr name="Freeform 12" id="12"/>
          <p:cNvSpPr/>
          <p:nvPr/>
        </p:nvSpPr>
        <p:spPr>
          <a:xfrm flipH="false" flipV="false" rot="0">
            <a:off x="12493067" y="3390317"/>
            <a:ext cx="468897" cy="468897"/>
          </a:xfrm>
          <a:custGeom>
            <a:avLst/>
            <a:gdLst/>
            <a:ahLst/>
            <a:cxnLst/>
            <a:rect r="r" b="b" t="t" l="l"/>
            <a:pathLst>
              <a:path h="468897" w="468897">
                <a:moveTo>
                  <a:pt x="0" y="0"/>
                </a:moveTo>
                <a:lnTo>
                  <a:pt x="468897" y="0"/>
                </a:lnTo>
                <a:lnTo>
                  <a:pt x="468897" y="468896"/>
                </a:lnTo>
                <a:lnTo>
                  <a:pt x="0" y="4688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12493067" y="6500078"/>
            <a:ext cx="468897" cy="468897"/>
          </a:xfrm>
          <a:custGeom>
            <a:avLst/>
            <a:gdLst/>
            <a:ahLst/>
            <a:cxnLst/>
            <a:rect r="r" b="b" t="t" l="l"/>
            <a:pathLst>
              <a:path h="468897" w="468897">
                <a:moveTo>
                  <a:pt x="0" y="0"/>
                </a:moveTo>
                <a:lnTo>
                  <a:pt x="468897" y="0"/>
                </a:lnTo>
                <a:lnTo>
                  <a:pt x="468897" y="468897"/>
                </a:lnTo>
                <a:lnTo>
                  <a:pt x="0" y="4688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4" id="14"/>
          <p:cNvSpPr/>
          <p:nvPr/>
        </p:nvSpPr>
        <p:spPr>
          <a:xfrm flipH="false" flipV="false" rot="-5400000">
            <a:off x="6063294" y="6697915"/>
            <a:ext cx="4424472" cy="1078465"/>
          </a:xfrm>
          <a:custGeom>
            <a:avLst/>
            <a:gdLst/>
            <a:ahLst/>
            <a:cxnLst/>
            <a:rect r="r" b="b" t="t" l="l"/>
            <a:pathLst>
              <a:path h="1078465" w="4424472">
                <a:moveTo>
                  <a:pt x="0" y="0"/>
                </a:moveTo>
                <a:lnTo>
                  <a:pt x="4424471" y="0"/>
                </a:lnTo>
                <a:lnTo>
                  <a:pt x="4424471" y="1078465"/>
                </a:lnTo>
                <a:lnTo>
                  <a:pt x="0" y="1078465"/>
                </a:lnTo>
                <a:lnTo>
                  <a:pt x="0" y="0"/>
                </a:lnTo>
                <a:close/>
              </a:path>
            </a:pathLst>
          </a:custGeom>
          <a:blipFill>
            <a:blip r:embed="rId9"/>
            <a:stretch>
              <a:fillRect l="0" t="0" r="0" b="0"/>
            </a:stretch>
          </a:blipFill>
        </p:spPr>
      </p:sp>
      <p:sp>
        <p:nvSpPr>
          <p:cNvPr name="Freeform 15" id="15"/>
          <p:cNvSpPr/>
          <p:nvPr/>
        </p:nvSpPr>
        <p:spPr>
          <a:xfrm flipH="false" flipV="false" rot="-5400000">
            <a:off x="14668134" y="3699441"/>
            <a:ext cx="4424472" cy="1078465"/>
          </a:xfrm>
          <a:custGeom>
            <a:avLst/>
            <a:gdLst/>
            <a:ahLst/>
            <a:cxnLst/>
            <a:rect r="r" b="b" t="t" l="l"/>
            <a:pathLst>
              <a:path h="1078465" w="4424472">
                <a:moveTo>
                  <a:pt x="0" y="0"/>
                </a:moveTo>
                <a:lnTo>
                  <a:pt x="4424472" y="0"/>
                </a:lnTo>
                <a:lnTo>
                  <a:pt x="4424472" y="1078465"/>
                </a:lnTo>
                <a:lnTo>
                  <a:pt x="0" y="1078465"/>
                </a:lnTo>
                <a:lnTo>
                  <a:pt x="0" y="0"/>
                </a:lnTo>
                <a:close/>
              </a:path>
            </a:pathLst>
          </a:custGeom>
          <a:blipFill>
            <a:blip r:embed="rId9"/>
            <a:stretch>
              <a:fillRect l="0" t="0" r="0" b="0"/>
            </a:stretch>
          </a:blipFill>
        </p:spPr>
      </p:sp>
      <p:sp>
        <p:nvSpPr>
          <p:cNvPr name="TextBox 16" id="16"/>
          <p:cNvSpPr txBox="true"/>
          <p:nvPr/>
        </p:nvSpPr>
        <p:spPr>
          <a:xfrm rot="0">
            <a:off x="1736006" y="918754"/>
            <a:ext cx="1818906" cy="544601"/>
          </a:xfrm>
          <a:prstGeom prst="rect">
            <a:avLst/>
          </a:prstGeom>
        </p:spPr>
        <p:txBody>
          <a:bodyPr anchor="t" rtlCol="false" tIns="0" lIns="0" bIns="0" rIns="0">
            <a:spAutoFit/>
          </a:bodyPr>
          <a:lstStyle/>
          <a:p>
            <a:pPr algn="l" marL="0" indent="0" lvl="0">
              <a:lnSpc>
                <a:spcPts val="2194"/>
              </a:lnSpc>
              <a:spcBef>
                <a:spcPct val="0"/>
              </a:spcBef>
            </a:pPr>
            <a:r>
              <a:rPr lang="en-US" sz="1567">
                <a:solidFill>
                  <a:srgbClr val="DDDDDD"/>
                </a:solidFill>
                <a:latin typeface="Open Sauce Light"/>
                <a:ea typeface="Open Sauce Light"/>
                <a:cs typeface="Open Sauce Light"/>
                <a:sym typeface="Open Sauce Light"/>
              </a:rPr>
              <a:t>Cybersecurity Training</a:t>
            </a:r>
          </a:p>
        </p:txBody>
      </p:sp>
      <p:sp>
        <p:nvSpPr>
          <p:cNvPr name="TextBox 17" id="17"/>
          <p:cNvSpPr txBox="true"/>
          <p:nvPr/>
        </p:nvSpPr>
        <p:spPr>
          <a:xfrm rot="0">
            <a:off x="15198136" y="918754"/>
            <a:ext cx="2061164" cy="264977"/>
          </a:xfrm>
          <a:prstGeom prst="rect">
            <a:avLst/>
          </a:prstGeom>
        </p:spPr>
        <p:txBody>
          <a:bodyPr anchor="t" rtlCol="false" tIns="0" lIns="0" bIns="0" rIns="0">
            <a:spAutoFit/>
          </a:bodyPr>
          <a:lstStyle/>
          <a:p>
            <a:pPr algn="r" marL="0" indent="0" lvl="0">
              <a:lnSpc>
                <a:spcPts val="2194"/>
              </a:lnSpc>
              <a:spcBef>
                <a:spcPct val="0"/>
              </a:spcBef>
            </a:pPr>
            <a:r>
              <a:rPr lang="en-US" sz="1567">
                <a:solidFill>
                  <a:srgbClr val="DDDDDD"/>
                </a:solidFill>
                <a:latin typeface="Open Sauce Light"/>
                <a:ea typeface="Open Sauce Light"/>
                <a:cs typeface="Open Sauce Light"/>
                <a:sym typeface="Open Sauce Light"/>
              </a:rPr>
              <a:t>September</a:t>
            </a:r>
            <a:r>
              <a:rPr lang="en-US" sz="1567">
                <a:solidFill>
                  <a:srgbClr val="DDDDDD"/>
                </a:solidFill>
                <a:latin typeface="Open Sauce Light"/>
                <a:ea typeface="Open Sauce Light"/>
                <a:cs typeface="Open Sauce Light"/>
                <a:sym typeface="Open Sauce Light"/>
              </a:rPr>
              <a:t> 19, 2026</a:t>
            </a:r>
          </a:p>
        </p:txBody>
      </p:sp>
      <p:sp>
        <p:nvSpPr>
          <p:cNvPr name="TextBox 18" id="18"/>
          <p:cNvSpPr txBox="true"/>
          <p:nvPr/>
        </p:nvSpPr>
        <p:spPr>
          <a:xfrm rot="0">
            <a:off x="1303322" y="3993246"/>
            <a:ext cx="6122900" cy="669322"/>
          </a:xfrm>
          <a:prstGeom prst="rect">
            <a:avLst/>
          </a:prstGeom>
        </p:spPr>
        <p:txBody>
          <a:bodyPr anchor="t" rtlCol="false" tIns="0" lIns="0" bIns="0" rIns="0">
            <a:spAutoFit/>
          </a:bodyPr>
          <a:lstStyle/>
          <a:p>
            <a:pPr algn="l" marL="0" indent="0" lvl="0">
              <a:lnSpc>
                <a:spcPts val="5466"/>
              </a:lnSpc>
              <a:spcBef>
                <a:spcPct val="0"/>
              </a:spcBef>
            </a:pPr>
            <a:r>
              <a:rPr lang="en-US" b="true" sz="3904">
                <a:solidFill>
                  <a:srgbClr val="DFC869"/>
                </a:solidFill>
                <a:latin typeface="Tomorrow Bold"/>
                <a:ea typeface="Tomorrow Bold"/>
                <a:cs typeface="Tomorrow Bold"/>
                <a:sym typeface="Tomorrow Bold"/>
              </a:rPr>
              <a:t>WEBSITE</a:t>
            </a:r>
          </a:p>
        </p:txBody>
      </p:sp>
      <p:sp>
        <p:nvSpPr>
          <p:cNvPr name="TextBox 19" id="19"/>
          <p:cNvSpPr txBox="true"/>
          <p:nvPr/>
        </p:nvSpPr>
        <p:spPr>
          <a:xfrm rot="0">
            <a:off x="1303322" y="2147822"/>
            <a:ext cx="6122900" cy="662828"/>
          </a:xfrm>
          <a:prstGeom prst="rect">
            <a:avLst/>
          </a:prstGeom>
        </p:spPr>
        <p:txBody>
          <a:bodyPr anchor="t" rtlCol="false" tIns="0" lIns="0" bIns="0" rIns="0">
            <a:spAutoFit/>
          </a:bodyPr>
          <a:lstStyle/>
          <a:p>
            <a:pPr algn="l" marL="0" indent="0" lvl="0">
              <a:lnSpc>
                <a:spcPts val="5466"/>
              </a:lnSpc>
              <a:spcBef>
                <a:spcPct val="0"/>
              </a:spcBef>
            </a:pPr>
            <a:r>
              <a:rPr lang="en-US" b="true" sz="3904">
                <a:solidFill>
                  <a:srgbClr val="DFC869"/>
                </a:solidFill>
                <a:latin typeface="Tomorrow Bold"/>
                <a:ea typeface="Tomorrow Bold"/>
                <a:cs typeface="Tomorrow Bold"/>
                <a:sym typeface="Tomorrow Bold"/>
              </a:rPr>
              <a:t>REAL-WORLD EXAMPLE</a:t>
            </a:r>
          </a:p>
        </p:txBody>
      </p:sp>
      <p:sp>
        <p:nvSpPr>
          <p:cNvPr name="TextBox 20" id="20"/>
          <p:cNvSpPr txBox="true"/>
          <p:nvPr/>
        </p:nvSpPr>
        <p:spPr>
          <a:xfrm rot="0">
            <a:off x="1303322" y="3079793"/>
            <a:ext cx="6122900" cy="669322"/>
          </a:xfrm>
          <a:prstGeom prst="rect">
            <a:avLst/>
          </a:prstGeom>
        </p:spPr>
        <p:txBody>
          <a:bodyPr anchor="t" rtlCol="false" tIns="0" lIns="0" bIns="0" rIns="0">
            <a:spAutoFit/>
          </a:bodyPr>
          <a:lstStyle/>
          <a:p>
            <a:pPr algn="l" marL="0" indent="0" lvl="0">
              <a:lnSpc>
                <a:spcPts val="5466"/>
              </a:lnSpc>
              <a:spcBef>
                <a:spcPct val="0"/>
              </a:spcBef>
            </a:pPr>
            <a:r>
              <a:rPr lang="en-US" b="true" sz="3904">
                <a:solidFill>
                  <a:srgbClr val="FFFFFF"/>
                </a:solidFill>
                <a:latin typeface="Tomorrow Bold"/>
                <a:ea typeface="Tomorrow Bold"/>
                <a:cs typeface="Tomorrow Bold"/>
                <a:sym typeface="Tomorrow Bold"/>
              </a:rPr>
              <a:t>FAKE BANKING</a:t>
            </a:r>
          </a:p>
        </p:txBody>
      </p:sp>
      <p:sp>
        <p:nvSpPr>
          <p:cNvPr name="TextBox 21" id="21"/>
          <p:cNvSpPr txBox="true"/>
          <p:nvPr/>
        </p:nvSpPr>
        <p:spPr>
          <a:xfrm rot="0">
            <a:off x="1303322" y="5636097"/>
            <a:ext cx="5557139" cy="127723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A criminal group created a convincing replica of a legitimate bank's login page. The fake site used identical branding, logos, and layout to trick users into entering their credentials.</a:t>
            </a:r>
          </a:p>
        </p:txBody>
      </p:sp>
      <p:sp>
        <p:nvSpPr>
          <p:cNvPr name="TextBox 22" id="22"/>
          <p:cNvSpPr txBox="true"/>
          <p:nvPr/>
        </p:nvSpPr>
        <p:spPr>
          <a:xfrm rot="0">
            <a:off x="1303322" y="7657250"/>
            <a:ext cx="5557139" cy="127723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Over 50,000 users unknowingly entered their username, password, and account details into the fraudulent site. Many victims suffered financial losses, unauthorized transfers, and identity theft.</a:t>
            </a:r>
          </a:p>
        </p:txBody>
      </p:sp>
      <p:sp>
        <p:nvSpPr>
          <p:cNvPr name="TextBox 23" id="23"/>
          <p:cNvSpPr txBox="true"/>
          <p:nvPr/>
        </p:nvSpPr>
        <p:spPr>
          <a:xfrm rot="0">
            <a:off x="12493067" y="7396537"/>
            <a:ext cx="3972247" cy="10562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000000"/>
                </a:solidFill>
                <a:latin typeface="Open Sauce Light"/>
                <a:ea typeface="Open Sauce Light"/>
                <a:cs typeface="Open Sauce Light"/>
                <a:sym typeface="Open Sauce Light"/>
              </a:rPr>
              <a:t>Never click bank links from emails or messages. Always navigate directly to official banking websites by typing the URL yourself.</a:t>
            </a:r>
          </a:p>
        </p:txBody>
      </p:sp>
      <p:sp>
        <p:nvSpPr>
          <p:cNvPr name="TextBox 24" id="24"/>
          <p:cNvSpPr txBox="true"/>
          <p:nvPr/>
        </p:nvSpPr>
        <p:spPr>
          <a:xfrm rot="0">
            <a:off x="13194049" y="3152250"/>
            <a:ext cx="2143923" cy="877543"/>
          </a:xfrm>
          <a:prstGeom prst="rect">
            <a:avLst/>
          </a:prstGeom>
        </p:spPr>
        <p:txBody>
          <a:bodyPr anchor="t" rtlCol="false" tIns="0" lIns="0" bIns="0" rIns="0">
            <a:spAutoFit/>
          </a:bodyPr>
          <a:lstStyle/>
          <a:p>
            <a:pPr algn="l" marL="0" indent="0" lvl="0">
              <a:lnSpc>
                <a:spcPts val="3545"/>
              </a:lnSpc>
              <a:spcBef>
                <a:spcPct val="0"/>
              </a:spcBef>
            </a:pPr>
            <a:r>
              <a:rPr lang="en-US" b="true" sz="2532">
                <a:solidFill>
                  <a:srgbClr val="FFFFFF"/>
                </a:solidFill>
                <a:latin typeface="Open Sauce Bold"/>
                <a:ea typeface="Open Sauce Bold"/>
                <a:cs typeface="Open Sauce Bold"/>
                <a:sym typeface="Open Sauce Bold"/>
              </a:rPr>
              <a:t>Always verify the URL</a:t>
            </a:r>
          </a:p>
        </p:txBody>
      </p:sp>
      <p:sp>
        <p:nvSpPr>
          <p:cNvPr name="TextBox 25" id="25"/>
          <p:cNvSpPr txBox="true"/>
          <p:nvPr/>
        </p:nvSpPr>
        <p:spPr>
          <a:xfrm rot="0">
            <a:off x="13194049" y="6262012"/>
            <a:ext cx="2270789" cy="877543"/>
          </a:xfrm>
          <a:prstGeom prst="rect">
            <a:avLst/>
          </a:prstGeom>
        </p:spPr>
        <p:txBody>
          <a:bodyPr anchor="t" rtlCol="false" tIns="0" lIns="0" bIns="0" rIns="0">
            <a:spAutoFit/>
          </a:bodyPr>
          <a:lstStyle/>
          <a:p>
            <a:pPr algn="l" marL="0" indent="0" lvl="0">
              <a:lnSpc>
                <a:spcPts val="3545"/>
              </a:lnSpc>
              <a:spcBef>
                <a:spcPct val="0"/>
              </a:spcBef>
            </a:pPr>
            <a:r>
              <a:rPr lang="en-US" b="true" sz="2532">
                <a:solidFill>
                  <a:srgbClr val="000000"/>
                </a:solidFill>
                <a:latin typeface="Open Sauce Bold"/>
                <a:ea typeface="Open Sauce Bold"/>
                <a:cs typeface="Open Sauce Bold"/>
                <a:sym typeface="Open Sauce Bold"/>
              </a:rPr>
              <a:t>Bookmark official sites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275529" y="2394332"/>
            <a:ext cx="3437707" cy="6863968"/>
            <a:chOff x="0" y="0"/>
            <a:chExt cx="422647" cy="843886"/>
          </a:xfrm>
        </p:grpSpPr>
        <p:sp>
          <p:nvSpPr>
            <p:cNvPr name="Freeform 4" id="4"/>
            <p:cNvSpPr/>
            <p:nvPr/>
          </p:nvSpPr>
          <p:spPr>
            <a:xfrm flipH="false" flipV="false" rot="0">
              <a:off x="0" y="0"/>
              <a:ext cx="422647" cy="843886"/>
            </a:xfrm>
            <a:custGeom>
              <a:avLst/>
              <a:gdLst/>
              <a:ahLst/>
              <a:cxnLst/>
              <a:rect r="r" b="b" t="t" l="l"/>
              <a:pathLst>
                <a:path h="843886" w="422647">
                  <a:moveTo>
                    <a:pt x="96839" y="0"/>
                  </a:moveTo>
                  <a:lnTo>
                    <a:pt x="325808" y="0"/>
                  </a:lnTo>
                  <a:cubicBezTo>
                    <a:pt x="351491" y="0"/>
                    <a:pt x="376123" y="10203"/>
                    <a:pt x="394283" y="28363"/>
                  </a:cubicBezTo>
                  <a:cubicBezTo>
                    <a:pt x="412444" y="46524"/>
                    <a:pt x="422647" y="71155"/>
                    <a:pt x="422647" y="96839"/>
                  </a:cubicBezTo>
                  <a:lnTo>
                    <a:pt x="422647" y="747048"/>
                  </a:lnTo>
                  <a:cubicBezTo>
                    <a:pt x="422647" y="772731"/>
                    <a:pt x="412444" y="797362"/>
                    <a:pt x="394283" y="815523"/>
                  </a:cubicBezTo>
                  <a:cubicBezTo>
                    <a:pt x="376123" y="833684"/>
                    <a:pt x="351491" y="843886"/>
                    <a:pt x="325808" y="843886"/>
                  </a:cubicBezTo>
                  <a:lnTo>
                    <a:pt x="96839" y="843886"/>
                  </a:lnTo>
                  <a:cubicBezTo>
                    <a:pt x="71155" y="843886"/>
                    <a:pt x="46524" y="833684"/>
                    <a:pt x="28363" y="815523"/>
                  </a:cubicBezTo>
                  <a:cubicBezTo>
                    <a:pt x="10203" y="797362"/>
                    <a:pt x="0" y="772731"/>
                    <a:pt x="0" y="747048"/>
                  </a:cubicBezTo>
                  <a:lnTo>
                    <a:pt x="0" y="96839"/>
                  </a:lnTo>
                  <a:cubicBezTo>
                    <a:pt x="0" y="71155"/>
                    <a:pt x="10203" y="46524"/>
                    <a:pt x="28363" y="28363"/>
                  </a:cubicBezTo>
                  <a:cubicBezTo>
                    <a:pt x="46524" y="10203"/>
                    <a:pt x="71155" y="0"/>
                    <a:pt x="96839" y="0"/>
                  </a:cubicBezTo>
                  <a:close/>
                </a:path>
              </a:pathLst>
            </a:custGeom>
            <a:blipFill>
              <a:blip r:embed="rId4"/>
              <a:stretch>
                <a:fillRect l="-415" t="0" r="-415" b="0"/>
              </a:stretch>
            </a:blipFill>
          </p:spPr>
        </p:sp>
      </p:grpSp>
      <p:grpSp>
        <p:nvGrpSpPr>
          <p:cNvPr name="Group 5" id="5"/>
          <p:cNvGrpSpPr/>
          <p:nvPr/>
        </p:nvGrpSpPr>
        <p:grpSpPr>
          <a:xfrm rot="0">
            <a:off x="12082950" y="2849905"/>
            <a:ext cx="4792482" cy="2843061"/>
            <a:chOff x="0" y="0"/>
            <a:chExt cx="1262217" cy="748790"/>
          </a:xfrm>
        </p:grpSpPr>
        <p:sp>
          <p:nvSpPr>
            <p:cNvPr name="Freeform 6" id="6"/>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DFC869">
                    <a:alpha val="66500"/>
                  </a:srgbClr>
                </a:gs>
                <a:gs pos="100000">
                  <a:srgbClr val="000000">
                    <a:alpha val="0"/>
                  </a:srgbClr>
                </a:gs>
              </a:gsLst>
              <a:lin ang="2700000"/>
            </a:gradFill>
            <a:ln w="28575" cap="rnd">
              <a:gradFill>
                <a:gsLst>
                  <a:gs pos="0">
                    <a:srgbClr val="EDD46F">
                      <a:alpha val="100000"/>
                    </a:srgbClr>
                  </a:gs>
                  <a:gs pos="100000">
                    <a:srgbClr val="726321">
                      <a:alpha val="100000"/>
                    </a:srgbClr>
                  </a:gs>
                </a:gsLst>
                <a:lin ang="2700000"/>
              </a:gradFill>
              <a:prstDash val="solid"/>
              <a:round/>
            </a:ln>
          </p:spPr>
        </p:sp>
        <p:sp>
          <p:nvSpPr>
            <p:cNvPr name="TextBox 7" id="7"/>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pPr>
            </a:p>
          </p:txBody>
        </p:sp>
      </p:grpSp>
      <p:grpSp>
        <p:nvGrpSpPr>
          <p:cNvPr name="Group 8" id="8"/>
          <p:cNvGrpSpPr/>
          <p:nvPr/>
        </p:nvGrpSpPr>
        <p:grpSpPr>
          <a:xfrm rot="0">
            <a:off x="12082950" y="5959666"/>
            <a:ext cx="4792482" cy="2843061"/>
            <a:chOff x="0" y="0"/>
            <a:chExt cx="1262217" cy="748790"/>
          </a:xfrm>
        </p:grpSpPr>
        <p:sp>
          <p:nvSpPr>
            <p:cNvPr name="Freeform 9" id="9"/>
            <p:cNvSpPr/>
            <p:nvPr/>
          </p:nvSpPr>
          <p:spPr>
            <a:xfrm flipH="false" flipV="false" rot="0">
              <a:off x="0" y="0"/>
              <a:ext cx="1262217" cy="748790"/>
            </a:xfrm>
            <a:custGeom>
              <a:avLst/>
              <a:gdLst/>
              <a:ahLst/>
              <a:cxnLst/>
              <a:rect r="r" b="b" t="t" l="l"/>
              <a:pathLst>
                <a:path h="748790" w="1262217">
                  <a:moveTo>
                    <a:pt x="45232" y="0"/>
                  </a:moveTo>
                  <a:lnTo>
                    <a:pt x="1216985" y="0"/>
                  </a:lnTo>
                  <a:cubicBezTo>
                    <a:pt x="1241966" y="0"/>
                    <a:pt x="1262217" y="20251"/>
                    <a:pt x="1262217" y="45232"/>
                  </a:cubicBezTo>
                  <a:lnTo>
                    <a:pt x="1262217" y="703558"/>
                  </a:lnTo>
                  <a:cubicBezTo>
                    <a:pt x="1262217" y="728539"/>
                    <a:pt x="1241966" y="748790"/>
                    <a:pt x="1216985" y="748790"/>
                  </a:cubicBezTo>
                  <a:lnTo>
                    <a:pt x="45232" y="748790"/>
                  </a:lnTo>
                  <a:cubicBezTo>
                    <a:pt x="20251" y="748790"/>
                    <a:pt x="0" y="728539"/>
                    <a:pt x="0" y="703558"/>
                  </a:cubicBezTo>
                  <a:lnTo>
                    <a:pt x="0" y="45232"/>
                  </a:lnTo>
                  <a:cubicBezTo>
                    <a:pt x="0" y="20251"/>
                    <a:pt x="20251" y="0"/>
                    <a:pt x="45232" y="0"/>
                  </a:cubicBezTo>
                  <a:close/>
                </a:path>
              </a:pathLst>
            </a:custGeom>
            <a:gradFill rotWithShape="true">
              <a:gsLst>
                <a:gs pos="0">
                  <a:srgbClr val="EDD46F">
                    <a:alpha val="100000"/>
                  </a:srgbClr>
                </a:gs>
                <a:gs pos="100000">
                  <a:srgbClr val="726321">
                    <a:alpha val="100000"/>
                  </a:srgbClr>
                </a:gs>
              </a:gsLst>
              <a:lin ang="2700000"/>
            </a:gradFill>
          </p:spPr>
        </p:sp>
        <p:sp>
          <p:nvSpPr>
            <p:cNvPr name="TextBox 10" id="10"/>
            <p:cNvSpPr txBox="true"/>
            <p:nvPr/>
          </p:nvSpPr>
          <p:spPr>
            <a:xfrm>
              <a:off x="0" y="-28575"/>
              <a:ext cx="1262217" cy="777365"/>
            </a:xfrm>
            <a:prstGeom prst="rect">
              <a:avLst/>
            </a:prstGeom>
          </p:spPr>
          <p:txBody>
            <a:bodyPr anchor="ctr" rtlCol="false" tIns="50800" lIns="50800" bIns="50800" rIns="50800"/>
            <a:lstStyle/>
            <a:p>
              <a:pPr algn="ctr" marL="0" indent="0" lvl="0">
                <a:lnSpc>
                  <a:spcPts val="2196"/>
                </a:lnSpc>
              </a:pPr>
            </a:p>
          </p:txBody>
        </p:sp>
      </p:grpSp>
      <p:sp>
        <p:nvSpPr>
          <p:cNvPr name="TextBox 11" id="11"/>
          <p:cNvSpPr txBox="true"/>
          <p:nvPr/>
        </p:nvSpPr>
        <p:spPr>
          <a:xfrm rot="0">
            <a:off x="12493067" y="4286776"/>
            <a:ext cx="3972247" cy="7895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DDDDDD"/>
                </a:solidFill>
                <a:latin typeface="Open Sauce Light"/>
                <a:ea typeface="Open Sauce Light"/>
                <a:cs typeface="Open Sauce Light"/>
                <a:sym typeface="Open Sauce Light"/>
              </a:rPr>
              <a:t>Links redirect to fake login pages that look identical to Microsoft sites but capture your credentials when entered.</a:t>
            </a:r>
          </a:p>
        </p:txBody>
      </p:sp>
      <p:sp>
        <p:nvSpPr>
          <p:cNvPr name="Freeform 12" id="12"/>
          <p:cNvSpPr/>
          <p:nvPr/>
        </p:nvSpPr>
        <p:spPr>
          <a:xfrm flipH="false" flipV="false" rot="0">
            <a:off x="12493067" y="3390317"/>
            <a:ext cx="468897" cy="468897"/>
          </a:xfrm>
          <a:custGeom>
            <a:avLst/>
            <a:gdLst/>
            <a:ahLst/>
            <a:cxnLst/>
            <a:rect r="r" b="b" t="t" l="l"/>
            <a:pathLst>
              <a:path h="468897" w="468897">
                <a:moveTo>
                  <a:pt x="0" y="0"/>
                </a:moveTo>
                <a:lnTo>
                  <a:pt x="468897" y="0"/>
                </a:lnTo>
                <a:lnTo>
                  <a:pt x="468897" y="468896"/>
                </a:lnTo>
                <a:lnTo>
                  <a:pt x="0" y="4688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3" id="13"/>
          <p:cNvSpPr/>
          <p:nvPr/>
        </p:nvSpPr>
        <p:spPr>
          <a:xfrm flipH="false" flipV="false" rot="0">
            <a:off x="12493067" y="6500078"/>
            <a:ext cx="468897" cy="468897"/>
          </a:xfrm>
          <a:custGeom>
            <a:avLst/>
            <a:gdLst/>
            <a:ahLst/>
            <a:cxnLst/>
            <a:rect r="r" b="b" t="t" l="l"/>
            <a:pathLst>
              <a:path h="468897" w="468897">
                <a:moveTo>
                  <a:pt x="0" y="0"/>
                </a:moveTo>
                <a:lnTo>
                  <a:pt x="468897" y="0"/>
                </a:lnTo>
                <a:lnTo>
                  <a:pt x="468897" y="468897"/>
                </a:lnTo>
                <a:lnTo>
                  <a:pt x="0" y="4688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14" id="14"/>
          <p:cNvSpPr/>
          <p:nvPr/>
        </p:nvSpPr>
        <p:spPr>
          <a:xfrm flipH="false" flipV="false" rot="-5400000">
            <a:off x="6063294" y="6697915"/>
            <a:ext cx="4424472" cy="1078465"/>
          </a:xfrm>
          <a:custGeom>
            <a:avLst/>
            <a:gdLst/>
            <a:ahLst/>
            <a:cxnLst/>
            <a:rect r="r" b="b" t="t" l="l"/>
            <a:pathLst>
              <a:path h="1078465" w="4424472">
                <a:moveTo>
                  <a:pt x="0" y="0"/>
                </a:moveTo>
                <a:lnTo>
                  <a:pt x="4424471" y="0"/>
                </a:lnTo>
                <a:lnTo>
                  <a:pt x="4424471" y="1078465"/>
                </a:lnTo>
                <a:lnTo>
                  <a:pt x="0" y="1078465"/>
                </a:lnTo>
                <a:lnTo>
                  <a:pt x="0" y="0"/>
                </a:lnTo>
                <a:close/>
              </a:path>
            </a:pathLst>
          </a:custGeom>
          <a:blipFill>
            <a:blip r:embed="rId9"/>
            <a:stretch>
              <a:fillRect l="0" t="0" r="0" b="0"/>
            </a:stretch>
          </a:blipFill>
        </p:spPr>
      </p:sp>
      <p:sp>
        <p:nvSpPr>
          <p:cNvPr name="Freeform 15" id="15"/>
          <p:cNvSpPr/>
          <p:nvPr/>
        </p:nvSpPr>
        <p:spPr>
          <a:xfrm flipH="false" flipV="false" rot="-5400000">
            <a:off x="14668134" y="3699441"/>
            <a:ext cx="4424472" cy="1078465"/>
          </a:xfrm>
          <a:custGeom>
            <a:avLst/>
            <a:gdLst/>
            <a:ahLst/>
            <a:cxnLst/>
            <a:rect r="r" b="b" t="t" l="l"/>
            <a:pathLst>
              <a:path h="1078465" w="4424472">
                <a:moveTo>
                  <a:pt x="0" y="0"/>
                </a:moveTo>
                <a:lnTo>
                  <a:pt x="4424472" y="0"/>
                </a:lnTo>
                <a:lnTo>
                  <a:pt x="4424472" y="1078465"/>
                </a:lnTo>
                <a:lnTo>
                  <a:pt x="0" y="1078465"/>
                </a:lnTo>
                <a:lnTo>
                  <a:pt x="0" y="0"/>
                </a:lnTo>
                <a:close/>
              </a:path>
            </a:pathLst>
          </a:custGeom>
          <a:blipFill>
            <a:blip r:embed="rId9"/>
            <a:stretch>
              <a:fillRect l="0" t="0" r="0" b="0"/>
            </a:stretch>
          </a:blipFill>
        </p:spPr>
      </p:sp>
      <p:sp>
        <p:nvSpPr>
          <p:cNvPr name="TextBox 16" id="16"/>
          <p:cNvSpPr txBox="true"/>
          <p:nvPr/>
        </p:nvSpPr>
        <p:spPr>
          <a:xfrm rot="0">
            <a:off x="1736006" y="918754"/>
            <a:ext cx="1818906" cy="544601"/>
          </a:xfrm>
          <a:prstGeom prst="rect">
            <a:avLst/>
          </a:prstGeom>
        </p:spPr>
        <p:txBody>
          <a:bodyPr anchor="t" rtlCol="false" tIns="0" lIns="0" bIns="0" rIns="0">
            <a:spAutoFit/>
          </a:bodyPr>
          <a:lstStyle/>
          <a:p>
            <a:pPr algn="l" marL="0" indent="0" lvl="0">
              <a:lnSpc>
                <a:spcPts val="2194"/>
              </a:lnSpc>
              <a:spcBef>
                <a:spcPct val="0"/>
              </a:spcBef>
            </a:pPr>
            <a:r>
              <a:rPr lang="en-US" sz="1567">
                <a:solidFill>
                  <a:srgbClr val="DDDDDD"/>
                </a:solidFill>
                <a:latin typeface="Open Sauce Light"/>
                <a:ea typeface="Open Sauce Light"/>
                <a:cs typeface="Open Sauce Light"/>
                <a:sym typeface="Open Sauce Light"/>
              </a:rPr>
              <a:t>Cybersecurity Training</a:t>
            </a:r>
          </a:p>
        </p:txBody>
      </p:sp>
      <p:sp>
        <p:nvSpPr>
          <p:cNvPr name="TextBox 17" id="17"/>
          <p:cNvSpPr txBox="true"/>
          <p:nvPr/>
        </p:nvSpPr>
        <p:spPr>
          <a:xfrm rot="0">
            <a:off x="15198136" y="918754"/>
            <a:ext cx="2061164" cy="264977"/>
          </a:xfrm>
          <a:prstGeom prst="rect">
            <a:avLst/>
          </a:prstGeom>
        </p:spPr>
        <p:txBody>
          <a:bodyPr anchor="t" rtlCol="false" tIns="0" lIns="0" bIns="0" rIns="0">
            <a:spAutoFit/>
          </a:bodyPr>
          <a:lstStyle/>
          <a:p>
            <a:pPr algn="r" marL="0" indent="0" lvl="0">
              <a:lnSpc>
                <a:spcPts val="2194"/>
              </a:lnSpc>
              <a:spcBef>
                <a:spcPct val="0"/>
              </a:spcBef>
            </a:pPr>
            <a:r>
              <a:rPr lang="en-US" sz="1567">
                <a:solidFill>
                  <a:srgbClr val="DDDDDD"/>
                </a:solidFill>
                <a:latin typeface="Open Sauce Light"/>
                <a:ea typeface="Open Sauce Light"/>
                <a:cs typeface="Open Sauce Light"/>
                <a:sym typeface="Open Sauce Light"/>
              </a:rPr>
              <a:t>September</a:t>
            </a:r>
            <a:r>
              <a:rPr lang="en-US" sz="1567">
                <a:solidFill>
                  <a:srgbClr val="DDDDDD"/>
                </a:solidFill>
                <a:latin typeface="Open Sauce Light"/>
                <a:ea typeface="Open Sauce Light"/>
                <a:cs typeface="Open Sauce Light"/>
                <a:sym typeface="Open Sauce Light"/>
              </a:rPr>
              <a:t> 19, 2026</a:t>
            </a:r>
          </a:p>
        </p:txBody>
      </p:sp>
      <p:sp>
        <p:nvSpPr>
          <p:cNvPr name="TextBox 18" id="18"/>
          <p:cNvSpPr txBox="true"/>
          <p:nvPr/>
        </p:nvSpPr>
        <p:spPr>
          <a:xfrm rot="0">
            <a:off x="1303322" y="4002771"/>
            <a:ext cx="6122900" cy="1144778"/>
          </a:xfrm>
          <a:prstGeom prst="rect">
            <a:avLst/>
          </a:prstGeom>
        </p:spPr>
        <p:txBody>
          <a:bodyPr anchor="t" rtlCol="false" tIns="0" lIns="0" bIns="0" rIns="0">
            <a:spAutoFit/>
          </a:bodyPr>
          <a:lstStyle/>
          <a:p>
            <a:pPr algn="l" marL="0" indent="0" lvl="0">
              <a:lnSpc>
                <a:spcPts val="4583"/>
              </a:lnSpc>
              <a:spcBef>
                <a:spcPct val="0"/>
              </a:spcBef>
            </a:pPr>
            <a:r>
              <a:rPr lang="en-US" b="true" sz="3274">
                <a:solidFill>
                  <a:srgbClr val="DFC869"/>
                </a:solidFill>
                <a:latin typeface="Tomorrow Bold"/>
                <a:ea typeface="Tomorrow Bold"/>
                <a:cs typeface="Tomorrow Bold"/>
                <a:sym typeface="Tomorrow Bold"/>
              </a:rPr>
              <a:t>MICROSOFT PHISHING EMAIL</a:t>
            </a:r>
          </a:p>
        </p:txBody>
      </p:sp>
      <p:sp>
        <p:nvSpPr>
          <p:cNvPr name="TextBox 19" id="19"/>
          <p:cNvSpPr txBox="true"/>
          <p:nvPr/>
        </p:nvSpPr>
        <p:spPr>
          <a:xfrm rot="0">
            <a:off x="1303322" y="2157347"/>
            <a:ext cx="6122900" cy="564535"/>
          </a:xfrm>
          <a:prstGeom prst="rect">
            <a:avLst/>
          </a:prstGeom>
        </p:spPr>
        <p:txBody>
          <a:bodyPr anchor="t" rtlCol="false" tIns="0" lIns="0" bIns="0" rIns="0">
            <a:spAutoFit/>
          </a:bodyPr>
          <a:lstStyle/>
          <a:p>
            <a:pPr algn="l" marL="0" indent="0" lvl="0">
              <a:lnSpc>
                <a:spcPts val="4583"/>
              </a:lnSpc>
              <a:spcBef>
                <a:spcPct val="0"/>
              </a:spcBef>
            </a:pPr>
            <a:r>
              <a:rPr lang="en-US" b="true" sz="3274">
                <a:solidFill>
                  <a:srgbClr val="DFC869"/>
                </a:solidFill>
                <a:latin typeface="Tomorrow Bold"/>
                <a:ea typeface="Tomorrow Bold"/>
                <a:cs typeface="Tomorrow Bold"/>
                <a:sym typeface="Tomorrow Bold"/>
              </a:rPr>
              <a:t>REAL-WORLD</a:t>
            </a:r>
          </a:p>
        </p:txBody>
      </p:sp>
      <p:sp>
        <p:nvSpPr>
          <p:cNvPr name="TextBox 20" id="20"/>
          <p:cNvSpPr txBox="true"/>
          <p:nvPr/>
        </p:nvSpPr>
        <p:spPr>
          <a:xfrm rot="0">
            <a:off x="1303322" y="3089318"/>
            <a:ext cx="6122900" cy="564144"/>
          </a:xfrm>
          <a:prstGeom prst="rect">
            <a:avLst/>
          </a:prstGeom>
        </p:spPr>
        <p:txBody>
          <a:bodyPr anchor="t" rtlCol="false" tIns="0" lIns="0" bIns="0" rIns="0">
            <a:spAutoFit/>
          </a:bodyPr>
          <a:lstStyle/>
          <a:p>
            <a:pPr algn="l" marL="0" indent="0" lvl="0">
              <a:lnSpc>
                <a:spcPts val="4583"/>
              </a:lnSpc>
              <a:spcBef>
                <a:spcPct val="0"/>
              </a:spcBef>
            </a:pPr>
            <a:r>
              <a:rPr lang="en-US" b="true" sz="3274">
                <a:solidFill>
                  <a:srgbClr val="FFFFFF"/>
                </a:solidFill>
                <a:latin typeface="Tomorrow Bold"/>
                <a:ea typeface="Tomorrow Bold"/>
                <a:cs typeface="Tomorrow Bold"/>
                <a:sym typeface="Tomorrow Bold"/>
              </a:rPr>
              <a:t>EXAMPLE 3 —</a:t>
            </a:r>
          </a:p>
        </p:txBody>
      </p:sp>
      <p:sp>
        <p:nvSpPr>
          <p:cNvPr name="TextBox 21" id="21"/>
          <p:cNvSpPr txBox="true"/>
          <p:nvPr/>
        </p:nvSpPr>
        <p:spPr>
          <a:xfrm rot="0">
            <a:off x="1303322" y="5636097"/>
            <a:ext cx="5557139" cy="160108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This phishing email pretends to be from Microsoft, targeting users with urgent language about account security. Attackers use spoofed Microsoft branding and logos to appear legitimate and gain trust.</a:t>
            </a:r>
          </a:p>
        </p:txBody>
      </p:sp>
      <p:sp>
        <p:nvSpPr>
          <p:cNvPr name="TextBox 22" id="22"/>
          <p:cNvSpPr txBox="true"/>
          <p:nvPr/>
        </p:nvSpPr>
        <p:spPr>
          <a:xfrm rot="0">
            <a:off x="1303322" y="7657250"/>
            <a:ext cx="5557139" cy="160108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Even trusted brands can be faked. Always verify sender email addresses, check for suspicious links before clicking, and never enter credentials in response to unexpected emails claiming urgent action is needed.</a:t>
            </a:r>
          </a:p>
        </p:txBody>
      </p:sp>
      <p:sp>
        <p:nvSpPr>
          <p:cNvPr name="TextBox 23" id="23"/>
          <p:cNvSpPr txBox="true"/>
          <p:nvPr/>
        </p:nvSpPr>
        <p:spPr>
          <a:xfrm rot="0">
            <a:off x="12493067" y="7396537"/>
            <a:ext cx="3972247" cy="1056248"/>
          </a:xfrm>
          <a:prstGeom prst="rect">
            <a:avLst/>
          </a:prstGeom>
        </p:spPr>
        <p:txBody>
          <a:bodyPr anchor="t" rtlCol="false" tIns="0" lIns="0" bIns="0" rIns="0">
            <a:spAutoFit/>
          </a:bodyPr>
          <a:lstStyle/>
          <a:p>
            <a:pPr algn="l" marL="0" indent="0" lvl="0">
              <a:lnSpc>
                <a:spcPts val="2156"/>
              </a:lnSpc>
              <a:spcBef>
                <a:spcPct val="0"/>
              </a:spcBef>
            </a:pPr>
            <a:r>
              <a:rPr lang="en-US" sz="1540">
                <a:solidFill>
                  <a:srgbClr val="000000"/>
                </a:solidFill>
                <a:latin typeface="Open Sauce Light"/>
                <a:ea typeface="Open Sauce Light"/>
                <a:cs typeface="Open Sauce Light"/>
                <a:sym typeface="Open Sauce Light"/>
              </a:rPr>
              <a:t>Attackers copy Microsoft logos and design elements to appear authentic. The sender address often contains subtle misspellings.</a:t>
            </a:r>
          </a:p>
        </p:txBody>
      </p:sp>
      <p:sp>
        <p:nvSpPr>
          <p:cNvPr name="TextBox 24" id="24"/>
          <p:cNvSpPr txBox="true"/>
          <p:nvPr/>
        </p:nvSpPr>
        <p:spPr>
          <a:xfrm rot="0">
            <a:off x="13194049" y="3161775"/>
            <a:ext cx="2143923" cy="887926"/>
          </a:xfrm>
          <a:prstGeom prst="rect">
            <a:avLst/>
          </a:prstGeom>
        </p:spPr>
        <p:txBody>
          <a:bodyPr anchor="t" rtlCol="false" tIns="0" lIns="0" bIns="0" rIns="0">
            <a:spAutoFit/>
          </a:bodyPr>
          <a:lstStyle/>
          <a:p>
            <a:pPr algn="l" marL="0" indent="0" lvl="0">
              <a:lnSpc>
                <a:spcPts val="3680"/>
              </a:lnSpc>
              <a:spcBef>
                <a:spcPct val="0"/>
              </a:spcBef>
            </a:pPr>
            <a:r>
              <a:rPr lang="en-US" b="true" sz="2628">
                <a:solidFill>
                  <a:srgbClr val="FFFFFF"/>
                </a:solidFill>
                <a:latin typeface="Open Sauce Bold"/>
                <a:ea typeface="Open Sauce Bold"/>
                <a:cs typeface="Open Sauce Bold"/>
                <a:sym typeface="Open Sauce Bold"/>
              </a:rPr>
              <a:t>Suspicious Links</a:t>
            </a:r>
          </a:p>
        </p:txBody>
      </p:sp>
      <p:sp>
        <p:nvSpPr>
          <p:cNvPr name="TextBox 25" id="25"/>
          <p:cNvSpPr txBox="true"/>
          <p:nvPr/>
        </p:nvSpPr>
        <p:spPr>
          <a:xfrm rot="0">
            <a:off x="13194049" y="6271537"/>
            <a:ext cx="2270789" cy="887926"/>
          </a:xfrm>
          <a:prstGeom prst="rect">
            <a:avLst/>
          </a:prstGeom>
        </p:spPr>
        <p:txBody>
          <a:bodyPr anchor="t" rtlCol="false" tIns="0" lIns="0" bIns="0" rIns="0">
            <a:spAutoFit/>
          </a:bodyPr>
          <a:lstStyle/>
          <a:p>
            <a:pPr algn="l" marL="0" indent="0" lvl="0">
              <a:lnSpc>
                <a:spcPts val="3680"/>
              </a:lnSpc>
              <a:spcBef>
                <a:spcPct val="0"/>
              </a:spcBef>
            </a:pPr>
            <a:r>
              <a:rPr lang="en-US" b="true" sz="2628">
                <a:solidFill>
                  <a:srgbClr val="000000"/>
                </a:solidFill>
                <a:latin typeface="Open Sauce Bold"/>
                <a:ea typeface="Open Sauce Bold"/>
                <a:cs typeface="Open Sauce Bold"/>
                <a:sym typeface="Open Sauce Bold"/>
              </a:rPr>
              <a:t>Spoofed Branding</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079354" y="1849739"/>
            <a:ext cx="8179946" cy="7408561"/>
            <a:chOff x="0" y="0"/>
            <a:chExt cx="1005678" cy="910841"/>
          </a:xfrm>
        </p:grpSpPr>
        <p:sp>
          <p:nvSpPr>
            <p:cNvPr name="Freeform 4" id="4"/>
            <p:cNvSpPr/>
            <p:nvPr/>
          </p:nvSpPr>
          <p:spPr>
            <a:xfrm flipH="false" flipV="false" rot="0">
              <a:off x="0" y="0"/>
              <a:ext cx="1005678" cy="910841"/>
            </a:xfrm>
            <a:custGeom>
              <a:avLst/>
              <a:gdLst/>
              <a:ahLst/>
              <a:cxnLst/>
              <a:rect r="r" b="b" t="t" l="l"/>
              <a:pathLst>
                <a:path h="910841" w="1005678">
                  <a:moveTo>
                    <a:pt x="49215" y="0"/>
                  </a:moveTo>
                  <a:lnTo>
                    <a:pt x="956463" y="0"/>
                  </a:lnTo>
                  <a:cubicBezTo>
                    <a:pt x="969516" y="0"/>
                    <a:pt x="982034" y="5185"/>
                    <a:pt x="991263" y="14415"/>
                  </a:cubicBezTo>
                  <a:cubicBezTo>
                    <a:pt x="1000493" y="23645"/>
                    <a:pt x="1005678" y="36163"/>
                    <a:pt x="1005678" y="49215"/>
                  </a:cubicBezTo>
                  <a:lnTo>
                    <a:pt x="1005678" y="861626"/>
                  </a:lnTo>
                  <a:cubicBezTo>
                    <a:pt x="1005678" y="874678"/>
                    <a:pt x="1000493" y="887196"/>
                    <a:pt x="991263" y="896426"/>
                  </a:cubicBezTo>
                  <a:cubicBezTo>
                    <a:pt x="982034" y="905656"/>
                    <a:pt x="969516" y="910841"/>
                    <a:pt x="956463" y="910841"/>
                  </a:cubicBezTo>
                  <a:lnTo>
                    <a:pt x="49215" y="910841"/>
                  </a:lnTo>
                  <a:cubicBezTo>
                    <a:pt x="36163" y="910841"/>
                    <a:pt x="23645" y="905656"/>
                    <a:pt x="14415" y="896426"/>
                  </a:cubicBezTo>
                  <a:cubicBezTo>
                    <a:pt x="5185" y="887196"/>
                    <a:pt x="0" y="874678"/>
                    <a:pt x="0" y="861626"/>
                  </a:cubicBezTo>
                  <a:lnTo>
                    <a:pt x="0" y="49215"/>
                  </a:lnTo>
                  <a:cubicBezTo>
                    <a:pt x="0" y="36163"/>
                    <a:pt x="5185" y="23645"/>
                    <a:pt x="14415" y="14415"/>
                  </a:cubicBezTo>
                  <a:cubicBezTo>
                    <a:pt x="23645" y="5185"/>
                    <a:pt x="36163" y="0"/>
                    <a:pt x="49215" y="0"/>
                  </a:cubicBezTo>
                  <a:close/>
                </a:path>
              </a:pathLst>
            </a:custGeom>
            <a:blipFill>
              <a:blip r:embed="rId4"/>
              <a:stretch>
                <a:fillRect l="-527" t="0" r="-527" b="0"/>
              </a:stretch>
            </a:blipFill>
          </p:spPr>
        </p:sp>
      </p:grpSp>
      <p:grpSp>
        <p:nvGrpSpPr>
          <p:cNvPr name="Group 5" id="5"/>
          <p:cNvGrpSpPr/>
          <p:nvPr/>
        </p:nvGrpSpPr>
        <p:grpSpPr>
          <a:xfrm rot="0">
            <a:off x="1303322" y="6549636"/>
            <a:ext cx="8797862" cy="2433768"/>
            <a:chOff x="0" y="0"/>
            <a:chExt cx="2317132" cy="640992"/>
          </a:xfrm>
        </p:grpSpPr>
        <p:sp>
          <p:nvSpPr>
            <p:cNvPr name="Freeform 6" id="6"/>
            <p:cNvSpPr/>
            <p:nvPr/>
          </p:nvSpPr>
          <p:spPr>
            <a:xfrm flipH="false" flipV="false" rot="0">
              <a:off x="0" y="0"/>
              <a:ext cx="2317133" cy="640992"/>
            </a:xfrm>
            <a:custGeom>
              <a:avLst/>
              <a:gdLst/>
              <a:ahLst/>
              <a:cxnLst/>
              <a:rect r="r" b="b" t="t" l="l"/>
              <a:pathLst>
                <a:path h="640992" w="2317133">
                  <a:moveTo>
                    <a:pt x="24639" y="0"/>
                  </a:moveTo>
                  <a:lnTo>
                    <a:pt x="2292493" y="0"/>
                  </a:lnTo>
                  <a:cubicBezTo>
                    <a:pt x="2306101" y="0"/>
                    <a:pt x="2317133" y="11031"/>
                    <a:pt x="2317133" y="24639"/>
                  </a:cubicBezTo>
                  <a:lnTo>
                    <a:pt x="2317133" y="616353"/>
                  </a:lnTo>
                  <a:cubicBezTo>
                    <a:pt x="2317133" y="629961"/>
                    <a:pt x="2306101" y="640992"/>
                    <a:pt x="2292493" y="640992"/>
                  </a:cubicBezTo>
                  <a:lnTo>
                    <a:pt x="24639" y="640992"/>
                  </a:lnTo>
                  <a:cubicBezTo>
                    <a:pt x="11031" y="640992"/>
                    <a:pt x="0" y="629961"/>
                    <a:pt x="0" y="616353"/>
                  </a:cubicBezTo>
                  <a:lnTo>
                    <a:pt x="0" y="24639"/>
                  </a:lnTo>
                  <a:cubicBezTo>
                    <a:pt x="0" y="11031"/>
                    <a:pt x="11031" y="0"/>
                    <a:pt x="24639" y="0"/>
                  </a:cubicBezTo>
                  <a:close/>
                </a:path>
              </a:pathLst>
            </a:custGeom>
            <a:gradFill rotWithShape="true">
              <a:gsLst>
                <a:gs pos="0">
                  <a:srgbClr val="EDD46F">
                    <a:alpha val="100000"/>
                  </a:srgbClr>
                </a:gs>
                <a:gs pos="100000">
                  <a:srgbClr val="726321">
                    <a:alpha val="100000"/>
                  </a:srgbClr>
                </a:gs>
              </a:gsLst>
              <a:lin ang="2700000"/>
            </a:gradFill>
          </p:spPr>
        </p:sp>
        <p:sp>
          <p:nvSpPr>
            <p:cNvPr name="TextBox 7" id="7"/>
            <p:cNvSpPr txBox="true"/>
            <p:nvPr/>
          </p:nvSpPr>
          <p:spPr>
            <a:xfrm>
              <a:off x="0" y="-28575"/>
              <a:ext cx="2317132" cy="669567"/>
            </a:xfrm>
            <a:prstGeom prst="rect">
              <a:avLst/>
            </a:prstGeom>
          </p:spPr>
          <p:txBody>
            <a:bodyPr anchor="ctr" rtlCol="false" tIns="50800" lIns="50800" bIns="50800" rIns="50800"/>
            <a:lstStyle/>
            <a:p>
              <a:pPr algn="ctr" marL="0" indent="0" lvl="0">
                <a:lnSpc>
                  <a:spcPts val="2196"/>
                </a:lnSpc>
              </a:pPr>
            </a:p>
          </p:txBody>
        </p:sp>
      </p:grpSp>
      <p:sp>
        <p:nvSpPr>
          <p:cNvPr name="Freeform 8" id="8"/>
          <p:cNvSpPr/>
          <p:nvPr/>
        </p:nvSpPr>
        <p:spPr>
          <a:xfrm flipH="false" flipV="false" rot="0">
            <a:off x="1691266" y="7165138"/>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9" id="9"/>
          <p:cNvSpPr/>
          <p:nvPr/>
        </p:nvSpPr>
        <p:spPr>
          <a:xfrm flipH="false" flipV="false" rot="0">
            <a:off x="1691266" y="7666463"/>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0" id="10"/>
          <p:cNvSpPr/>
          <p:nvPr/>
        </p:nvSpPr>
        <p:spPr>
          <a:xfrm flipH="false" flipV="false" rot="0">
            <a:off x="1691266" y="8167788"/>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5400000">
            <a:off x="13862779" y="4444689"/>
            <a:ext cx="6793042" cy="1655804"/>
          </a:xfrm>
          <a:custGeom>
            <a:avLst/>
            <a:gdLst/>
            <a:ahLst/>
            <a:cxnLst/>
            <a:rect r="r" b="b" t="t" l="l"/>
            <a:pathLst>
              <a:path h="1655804" w="6793042">
                <a:moveTo>
                  <a:pt x="0" y="0"/>
                </a:moveTo>
                <a:lnTo>
                  <a:pt x="6793042" y="0"/>
                </a:lnTo>
                <a:lnTo>
                  <a:pt x="6793042" y="1655804"/>
                </a:lnTo>
                <a:lnTo>
                  <a:pt x="0" y="1655804"/>
                </a:lnTo>
                <a:lnTo>
                  <a:pt x="0" y="0"/>
                </a:lnTo>
                <a:close/>
              </a:path>
            </a:pathLst>
          </a:custGeom>
          <a:blipFill>
            <a:blip r:embed="rId7"/>
            <a:stretch>
              <a:fillRect l="0" t="0" r="0" b="0"/>
            </a:stretch>
          </a:blipFill>
        </p:spPr>
      </p:sp>
      <p:sp>
        <p:nvSpPr>
          <p:cNvPr name="Freeform 12" id="12"/>
          <p:cNvSpPr/>
          <p:nvPr/>
        </p:nvSpPr>
        <p:spPr>
          <a:xfrm flipH="false" flipV="false" rot="-5400000">
            <a:off x="-3396521" y="5996630"/>
            <a:ext cx="6793042" cy="1655804"/>
          </a:xfrm>
          <a:custGeom>
            <a:avLst/>
            <a:gdLst/>
            <a:ahLst/>
            <a:cxnLst/>
            <a:rect r="r" b="b" t="t" l="l"/>
            <a:pathLst>
              <a:path h="1655804" w="6793042">
                <a:moveTo>
                  <a:pt x="0" y="0"/>
                </a:moveTo>
                <a:lnTo>
                  <a:pt x="6793042" y="0"/>
                </a:lnTo>
                <a:lnTo>
                  <a:pt x="6793042" y="1655804"/>
                </a:lnTo>
                <a:lnTo>
                  <a:pt x="0" y="1655804"/>
                </a:lnTo>
                <a:lnTo>
                  <a:pt x="0" y="0"/>
                </a:lnTo>
                <a:close/>
              </a:path>
            </a:pathLst>
          </a:custGeom>
          <a:blipFill>
            <a:blip r:embed="rId7"/>
            <a:stretch>
              <a:fillRect l="0" t="0" r="0" b="0"/>
            </a:stretch>
          </a:blipFill>
        </p:spPr>
      </p:sp>
      <p:sp>
        <p:nvSpPr>
          <p:cNvPr name="TextBox 13" id="13"/>
          <p:cNvSpPr txBox="true"/>
          <p:nvPr/>
        </p:nvSpPr>
        <p:spPr>
          <a:xfrm rot="0">
            <a:off x="1736006" y="918754"/>
            <a:ext cx="1818906" cy="544601"/>
          </a:xfrm>
          <a:prstGeom prst="rect">
            <a:avLst/>
          </a:prstGeom>
        </p:spPr>
        <p:txBody>
          <a:bodyPr anchor="t" rtlCol="false" tIns="0" lIns="0" bIns="0" rIns="0">
            <a:spAutoFit/>
          </a:bodyPr>
          <a:lstStyle/>
          <a:p>
            <a:pPr algn="l" marL="0" indent="0" lvl="0">
              <a:lnSpc>
                <a:spcPts val="2194"/>
              </a:lnSpc>
              <a:spcBef>
                <a:spcPct val="0"/>
              </a:spcBef>
            </a:pPr>
            <a:r>
              <a:rPr lang="en-US" sz="1567">
                <a:solidFill>
                  <a:srgbClr val="DDDDDD"/>
                </a:solidFill>
                <a:latin typeface="Open Sauce Light"/>
                <a:ea typeface="Open Sauce Light"/>
                <a:cs typeface="Open Sauce Light"/>
                <a:sym typeface="Open Sauce Light"/>
              </a:rPr>
              <a:t>Cybersecurity Training</a:t>
            </a:r>
          </a:p>
        </p:txBody>
      </p:sp>
      <p:sp>
        <p:nvSpPr>
          <p:cNvPr name="TextBox 14" id="14"/>
          <p:cNvSpPr txBox="true"/>
          <p:nvPr/>
        </p:nvSpPr>
        <p:spPr>
          <a:xfrm rot="0">
            <a:off x="15198136" y="918754"/>
            <a:ext cx="2061164" cy="264977"/>
          </a:xfrm>
          <a:prstGeom prst="rect">
            <a:avLst/>
          </a:prstGeom>
        </p:spPr>
        <p:txBody>
          <a:bodyPr anchor="t" rtlCol="false" tIns="0" lIns="0" bIns="0" rIns="0">
            <a:spAutoFit/>
          </a:bodyPr>
          <a:lstStyle/>
          <a:p>
            <a:pPr algn="r" marL="0" indent="0" lvl="0">
              <a:lnSpc>
                <a:spcPts val="2194"/>
              </a:lnSpc>
              <a:spcBef>
                <a:spcPct val="0"/>
              </a:spcBef>
            </a:pPr>
            <a:r>
              <a:rPr lang="en-US" sz="1567">
                <a:solidFill>
                  <a:srgbClr val="DDDDDD"/>
                </a:solidFill>
                <a:latin typeface="Open Sauce Light"/>
                <a:ea typeface="Open Sauce Light"/>
                <a:cs typeface="Open Sauce Light"/>
                <a:sym typeface="Open Sauce Light"/>
              </a:rPr>
              <a:t>September 19, 2026</a:t>
            </a:r>
          </a:p>
        </p:txBody>
      </p:sp>
      <p:sp>
        <p:nvSpPr>
          <p:cNvPr name="TextBox 15" id="15"/>
          <p:cNvSpPr txBox="true"/>
          <p:nvPr/>
        </p:nvSpPr>
        <p:spPr>
          <a:xfrm rot="0">
            <a:off x="1303322" y="2532881"/>
            <a:ext cx="7177847" cy="975252"/>
          </a:xfrm>
          <a:prstGeom prst="rect">
            <a:avLst/>
          </a:prstGeom>
        </p:spPr>
        <p:txBody>
          <a:bodyPr anchor="t" rtlCol="false" tIns="0" lIns="0" bIns="0" rIns="0">
            <a:spAutoFit/>
          </a:bodyPr>
          <a:lstStyle/>
          <a:p>
            <a:pPr algn="l" marL="0" indent="0" lvl="0">
              <a:lnSpc>
                <a:spcPts val="7936"/>
              </a:lnSpc>
              <a:spcBef>
                <a:spcPct val="0"/>
              </a:spcBef>
            </a:pPr>
            <a:r>
              <a:rPr lang="en-US" b="true" sz="5668">
                <a:solidFill>
                  <a:srgbClr val="DFC869"/>
                </a:solidFill>
                <a:latin typeface="Tomorrow Bold"/>
                <a:ea typeface="Tomorrow Bold"/>
                <a:cs typeface="Tomorrow Bold"/>
                <a:sym typeface="Tomorrow Bold"/>
              </a:rPr>
              <a:t>INTERACTIVE QUIZ</a:t>
            </a:r>
          </a:p>
        </p:txBody>
      </p:sp>
      <p:sp>
        <p:nvSpPr>
          <p:cNvPr name="TextBox 16" id="16"/>
          <p:cNvSpPr txBox="true"/>
          <p:nvPr/>
        </p:nvSpPr>
        <p:spPr>
          <a:xfrm rot="0">
            <a:off x="1303322" y="4213831"/>
            <a:ext cx="6720659" cy="1277233"/>
          </a:xfrm>
          <a:prstGeom prst="rect">
            <a:avLst/>
          </a:prstGeom>
        </p:spPr>
        <p:txBody>
          <a:bodyPr anchor="t" rtlCol="false" tIns="0" lIns="0" bIns="0" rIns="0">
            <a:spAutoFit/>
          </a:bodyPr>
          <a:lstStyle/>
          <a:p>
            <a:pPr algn="l" marL="0" indent="0" lvl="0">
              <a:lnSpc>
                <a:spcPts val="2576"/>
              </a:lnSpc>
              <a:spcBef>
                <a:spcPct val="0"/>
              </a:spcBef>
            </a:pPr>
            <a:r>
              <a:rPr lang="en-US" sz="1840">
                <a:solidFill>
                  <a:srgbClr val="A2A2A2"/>
                </a:solidFill>
                <a:latin typeface="Open Sauce Light"/>
                <a:ea typeface="Open Sauce Light"/>
                <a:cs typeface="Open Sauce Light"/>
                <a:sym typeface="Open Sauce Light"/>
              </a:rPr>
              <a:t>Test your phishing awareness knowledge with these questions. Choose the best answer for each question. Take your time and think carefully about what you've learned in this training session.</a:t>
            </a:r>
          </a:p>
        </p:txBody>
      </p:sp>
      <p:sp>
        <p:nvSpPr>
          <p:cNvPr name="TextBox 17" id="17"/>
          <p:cNvSpPr txBox="true"/>
          <p:nvPr/>
        </p:nvSpPr>
        <p:spPr>
          <a:xfrm rot="0">
            <a:off x="2117457" y="7084534"/>
            <a:ext cx="7798586" cy="323223"/>
          </a:xfrm>
          <a:prstGeom prst="rect">
            <a:avLst/>
          </a:prstGeom>
        </p:spPr>
        <p:txBody>
          <a:bodyPr anchor="t" rtlCol="false" tIns="0" lIns="0" bIns="0" rIns="0">
            <a:spAutoFit/>
          </a:bodyPr>
          <a:lstStyle/>
          <a:p>
            <a:pPr algn="l" marL="0" indent="0" lvl="0">
              <a:lnSpc>
                <a:spcPts val="2659"/>
              </a:lnSpc>
              <a:spcBef>
                <a:spcPct val="0"/>
              </a:spcBef>
            </a:pPr>
            <a:r>
              <a:rPr lang="en-US" b="true" sz="1899">
                <a:solidFill>
                  <a:srgbClr val="000000"/>
                </a:solidFill>
                <a:latin typeface="Open Sauce Bold"/>
                <a:ea typeface="Open Sauce Bold"/>
                <a:cs typeface="Open Sauce Bold"/>
                <a:sym typeface="Open Sauce Bold"/>
              </a:rPr>
              <a:t>Which is NOT a common phishing email indicator?</a:t>
            </a:r>
          </a:p>
        </p:txBody>
      </p:sp>
      <p:sp>
        <p:nvSpPr>
          <p:cNvPr name="TextBox 18" id="18"/>
          <p:cNvSpPr txBox="true"/>
          <p:nvPr/>
        </p:nvSpPr>
        <p:spPr>
          <a:xfrm rot="0">
            <a:off x="2117457" y="7585858"/>
            <a:ext cx="7798586" cy="323223"/>
          </a:xfrm>
          <a:prstGeom prst="rect">
            <a:avLst/>
          </a:prstGeom>
        </p:spPr>
        <p:txBody>
          <a:bodyPr anchor="t" rtlCol="false" tIns="0" lIns="0" bIns="0" rIns="0">
            <a:spAutoFit/>
          </a:bodyPr>
          <a:lstStyle/>
          <a:p>
            <a:pPr algn="l" marL="0" indent="0" lvl="0">
              <a:lnSpc>
                <a:spcPts val="2659"/>
              </a:lnSpc>
              <a:spcBef>
                <a:spcPct val="0"/>
              </a:spcBef>
            </a:pPr>
            <a:r>
              <a:rPr lang="en-US" b="true" sz="1899">
                <a:solidFill>
                  <a:srgbClr val="000000"/>
                </a:solidFill>
                <a:latin typeface="Open Sauce Bold"/>
                <a:ea typeface="Open Sauce Bold"/>
                <a:cs typeface="Open Sauce Bold"/>
                <a:sym typeface="Open Sauce Bold"/>
              </a:rPr>
              <a:t>True or False: Emails from unknown senders are always phishing.</a:t>
            </a:r>
          </a:p>
        </p:txBody>
      </p:sp>
      <p:sp>
        <p:nvSpPr>
          <p:cNvPr name="TextBox 19" id="19"/>
          <p:cNvSpPr txBox="true"/>
          <p:nvPr/>
        </p:nvSpPr>
        <p:spPr>
          <a:xfrm rot="0">
            <a:off x="2117457" y="8087183"/>
            <a:ext cx="7798586" cy="323223"/>
          </a:xfrm>
          <a:prstGeom prst="rect">
            <a:avLst/>
          </a:prstGeom>
        </p:spPr>
        <p:txBody>
          <a:bodyPr anchor="t" rtlCol="false" tIns="0" lIns="0" bIns="0" rIns="0">
            <a:spAutoFit/>
          </a:bodyPr>
          <a:lstStyle/>
          <a:p>
            <a:pPr algn="l" marL="0" indent="0" lvl="0">
              <a:lnSpc>
                <a:spcPts val="2659"/>
              </a:lnSpc>
              <a:spcBef>
                <a:spcPct val="0"/>
              </a:spcBef>
            </a:pPr>
            <a:r>
              <a:rPr lang="en-US" b="true" sz="1899">
                <a:solidFill>
                  <a:srgbClr val="000000"/>
                </a:solidFill>
                <a:latin typeface="Open Sauce Bold"/>
                <a:ea typeface="Open Sauce Bold"/>
                <a:cs typeface="Open Sauce Bold"/>
                <a:sym typeface="Open Sauce Bold"/>
              </a:rPr>
              <a:t>What is the safest response to a suspicious email?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100000">
              <a:srgbClr val="1A1403">
                <a:alpha val="100000"/>
              </a:srgbClr>
            </a:gs>
          </a:gsLst>
          <a:lin ang="0"/>
        </a:gradFill>
      </p:bgPr>
    </p:bg>
    <p:spTree>
      <p:nvGrpSpPr>
        <p:cNvPr id="1" name=""/>
        <p:cNvGrpSpPr/>
        <p:nvPr/>
      </p:nvGrpSpPr>
      <p:grpSpPr>
        <a:xfrm>
          <a:off x="0" y="0"/>
          <a:ext cx="0" cy="0"/>
          <a:chOff x="0" y="0"/>
          <a:chExt cx="0" cy="0"/>
        </a:xfrm>
      </p:grpSpPr>
      <p:sp>
        <p:nvSpPr>
          <p:cNvPr name="Freeform 2" id="2"/>
          <p:cNvSpPr/>
          <p:nvPr/>
        </p:nvSpPr>
        <p:spPr>
          <a:xfrm flipH="false" flipV="false" rot="0">
            <a:off x="1028700" y="841176"/>
            <a:ext cx="549245" cy="450381"/>
          </a:xfrm>
          <a:custGeom>
            <a:avLst/>
            <a:gdLst/>
            <a:ahLst/>
            <a:cxnLst/>
            <a:rect r="r" b="b" t="t" l="l"/>
            <a:pathLst>
              <a:path h="450381" w="549245">
                <a:moveTo>
                  <a:pt x="0" y="0"/>
                </a:moveTo>
                <a:lnTo>
                  <a:pt x="549245" y="0"/>
                </a:lnTo>
                <a:lnTo>
                  <a:pt x="549245" y="450380"/>
                </a:lnTo>
                <a:lnTo>
                  <a:pt x="0" y="45038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9079354" y="1849739"/>
            <a:ext cx="8179946" cy="7408561"/>
            <a:chOff x="0" y="0"/>
            <a:chExt cx="1005678" cy="910841"/>
          </a:xfrm>
        </p:grpSpPr>
        <p:sp>
          <p:nvSpPr>
            <p:cNvPr name="Freeform 4" id="4"/>
            <p:cNvSpPr/>
            <p:nvPr/>
          </p:nvSpPr>
          <p:spPr>
            <a:xfrm flipH="false" flipV="false" rot="0">
              <a:off x="0" y="0"/>
              <a:ext cx="1005678" cy="910841"/>
            </a:xfrm>
            <a:custGeom>
              <a:avLst/>
              <a:gdLst/>
              <a:ahLst/>
              <a:cxnLst/>
              <a:rect r="r" b="b" t="t" l="l"/>
              <a:pathLst>
                <a:path h="910841" w="1005678">
                  <a:moveTo>
                    <a:pt x="49215" y="0"/>
                  </a:moveTo>
                  <a:lnTo>
                    <a:pt x="956463" y="0"/>
                  </a:lnTo>
                  <a:cubicBezTo>
                    <a:pt x="969516" y="0"/>
                    <a:pt x="982034" y="5185"/>
                    <a:pt x="991263" y="14415"/>
                  </a:cubicBezTo>
                  <a:cubicBezTo>
                    <a:pt x="1000493" y="23645"/>
                    <a:pt x="1005678" y="36163"/>
                    <a:pt x="1005678" y="49215"/>
                  </a:cubicBezTo>
                  <a:lnTo>
                    <a:pt x="1005678" y="861626"/>
                  </a:lnTo>
                  <a:cubicBezTo>
                    <a:pt x="1005678" y="874678"/>
                    <a:pt x="1000493" y="887196"/>
                    <a:pt x="991263" y="896426"/>
                  </a:cubicBezTo>
                  <a:cubicBezTo>
                    <a:pt x="982034" y="905656"/>
                    <a:pt x="969516" y="910841"/>
                    <a:pt x="956463" y="910841"/>
                  </a:cubicBezTo>
                  <a:lnTo>
                    <a:pt x="49215" y="910841"/>
                  </a:lnTo>
                  <a:cubicBezTo>
                    <a:pt x="36163" y="910841"/>
                    <a:pt x="23645" y="905656"/>
                    <a:pt x="14415" y="896426"/>
                  </a:cubicBezTo>
                  <a:cubicBezTo>
                    <a:pt x="5185" y="887196"/>
                    <a:pt x="0" y="874678"/>
                    <a:pt x="0" y="861626"/>
                  </a:cubicBezTo>
                  <a:lnTo>
                    <a:pt x="0" y="49215"/>
                  </a:lnTo>
                  <a:cubicBezTo>
                    <a:pt x="0" y="36163"/>
                    <a:pt x="5185" y="23645"/>
                    <a:pt x="14415" y="14415"/>
                  </a:cubicBezTo>
                  <a:cubicBezTo>
                    <a:pt x="23645" y="5185"/>
                    <a:pt x="36163" y="0"/>
                    <a:pt x="49215" y="0"/>
                  </a:cubicBezTo>
                  <a:close/>
                </a:path>
              </a:pathLst>
            </a:custGeom>
            <a:blipFill>
              <a:blip r:embed="rId4"/>
              <a:stretch>
                <a:fillRect l="-527" t="0" r="-527" b="0"/>
              </a:stretch>
            </a:blipFill>
          </p:spPr>
        </p:sp>
      </p:grpSp>
      <p:grpSp>
        <p:nvGrpSpPr>
          <p:cNvPr name="Group 5" id="5"/>
          <p:cNvGrpSpPr/>
          <p:nvPr/>
        </p:nvGrpSpPr>
        <p:grpSpPr>
          <a:xfrm rot="0">
            <a:off x="1303322" y="6824532"/>
            <a:ext cx="8797862" cy="2433768"/>
            <a:chOff x="0" y="0"/>
            <a:chExt cx="2317132" cy="640992"/>
          </a:xfrm>
        </p:grpSpPr>
        <p:sp>
          <p:nvSpPr>
            <p:cNvPr name="Freeform 6" id="6"/>
            <p:cNvSpPr/>
            <p:nvPr/>
          </p:nvSpPr>
          <p:spPr>
            <a:xfrm flipH="false" flipV="false" rot="0">
              <a:off x="0" y="0"/>
              <a:ext cx="2317133" cy="640992"/>
            </a:xfrm>
            <a:custGeom>
              <a:avLst/>
              <a:gdLst/>
              <a:ahLst/>
              <a:cxnLst/>
              <a:rect r="r" b="b" t="t" l="l"/>
              <a:pathLst>
                <a:path h="640992" w="2317133">
                  <a:moveTo>
                    <a:pt x="24639" y="0"/>
                  </a:moveTo>
                  <a:lnTo>
                    <a:pt x="2292493" y="0"/>
                  </a:lnTo>
                  <a:cubicBezTo>
                    <a:pt x="2306101" y="0"/>
                    <a:pt x="2317133" y="11031"/>
                    <a:pt x="2317133" y="24639"/>
                  </a:cubicBezTo>
                  <a:lnTo>
                    <a:pt x="2317133" y="616353"/>
                  </a:lnTo>
                  <a:cubicBezTo>
                    <a:pt x="2317133" y="629961"/>
                    <a:pt x="2306101" y="640992"/>
                    <a:pt x="2292493" y="640992"/>
                  </a:cubicBezTo>
                  <a:lnTo>
                    <a:pt x="24639" y="640992"/>
                  </a:lnTo>
                  <a:cubicBezTo>
                    <a:pt x="11031" y="640992"/>
                    <a:pt x="0" y="629961"/>
                    <a:pt x="0" y="616353"/>
                  </a:cubicBezTo>
                  <a:lnTo>
                    <a:pt x="0" y="24639"/>
                  </a:lnTo>
                  <a:cubicBezTo>
                    <a:pt x="0" y="11031"/>
                    <a:pt x="11031" y="0"/>
                    <a:pt x="24639" y="0"/>
                  </a:cubicBezTo>
                  <a:close/>
                </a:path>
              </a:pathLst>
            </a:custGeom>
            <a:gradFill rotWithShape="true">
              <a:gsLst>
                <a:gs pos="0">
                  <a:srgbClr val="EDD46F">
                    <a:alpha val="100000"/>
                  </a:srgbClr>
                </a:gs>
                <a:gs pos="100000">
                  <a:srgbClr val="726321">
                    <a:alpha val="100000"/>
                  </a:srgbClr>
                </a:gs>
              </a:gsLst>
              <a:lin ang="2700000"/>
            </a:gradFill>
          </p:spPr>
        </p:sp>
        <p:sp>
          <p:nvSpPr>
            <p:cNvPr name="TextBox 7" id="7"/>
            <p:cNvSpPr txBox="true"/>
            <p:nvPr/>
          </p:nvSpPr>
          <p:spPr>
            <a:xfrm>
              <a:off x="0" y="-28575"/>
              <a:ext cx="2317132" cy="669567"/>
            </a:xfrm>
            <a:prstGeom prst="rect">
              <a:avLst/>
            </a:prstGeom>
          </p:spPr>
          <p:txBody>
            <a:bodyPr anchor="ctr" rtlCol="false" tIns="50800" lIns="50800" bIns="50800" rIns="50800"/>
            <a:lstStyle/>
            <a:p>
              <a:pPr algn="ctr" marL="0" indent="0" lvl="0">
                <a:lnSpc>
                  <a:spcPts val="2196"/>
                </a:lnSpc>
              </a:pPr>
            </a:p>
          </p:txBody>
        </p:sp>
      </p:grpSp>
      <p:sp>
        <p:nvSpPr>
          <p:cNvPr name="Freeform 8" id="8"/>
          <p:cNvSpPr/>
          <p:nvPr/>
        </p:nvSpPr>
        <p:spPr>
          <a:xfrm flipH="false" flipV="false" rot="0">
            <a:off x="1691266" y="7165138"/>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9" id="9"/>
          <p:cNvSpPr/>
          <p:nvPr/>
        </p:nvSpPr>
        <p:spPr>
          <a:xfrm flipH="false" flipV="false" rot="0">
            <a:off x="1691266" y="7666463"/>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0" id="10"/>
          <p:cNvSpPr/>
          <p:nvPr/>
        </p:nvSpPr>
        <p:spPr>
          <a:xfrm flipH="false" flipV="false" rot="0">
            <a:off x="1691266" y="8167788"/>
            <a:ext cx="248581" cy="248581"/>
          </a:xfrm>
          <a:custGeom>
            <a:avLst/>
            <a:gdLst/>
            <a:ahLst/>
            <a:cxnLst/>
            <a:rect r="r" b="b" t="t" l="l"/>
            <a:pathLst>
              <a:path h="248581" w="248581">
                <a:moveTo>
                  <a:pt x="0" y="0"/>
                </a:moveTo>
                <a:lnTo>
                  <a:pt x="248581" y="0"/>
                </a:lnTo>
                <a:lnTo>
                  <a:pt x="248581" y="248581"/>
                </a:lnTo>
                <a:lnTo>
                  <a:pt x="0" y="24858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1" id="11"/>
          <p:cNvSpPr/>
          <p:nvPr/>
        </p:nvSpPr>
        <p:spPr>
          <a:xfrm flipH="false" flipV="false" rot="0">
            <a:off x="1691266" y="8669112"/>
            <a:ext cx="248581" cy="248581"/>
          </a:xfrm>
          <a:custGeom>
            <a:avLst/>
            <a:gdLst/>
            <a:ahLst/>
            <a:cxnLst/>
            <a:rect r="r" b="b" t="t" l="l"/>
            <a:pathLst>
              <a:path h="248581" w="248581">
                <a:moveTo>
                  <a:pt x="0" y="0"/>
                </a:moveTo>
                <a:lnTo>
                  <a:pt x="248581" y="0"/>
                </a:lnTo>
                <a:lnTo>
                  <a:pt x="248581" y="248582"/>
                </a:lnTo>
                <a:lnTo>
                  <a:pt x="0" y="24858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12" id="12"/>
          <p:cNvSpPr/>
          <p:nvPr/>
        </p:nvSpPr>
        <p:spPr>
          <a:xfrm flipH="false" flipV="false" rot="-5400000">
            <a:off x="13862779" y="4444689"/>
            <a:ext cx="6793042" cy="1655804"/>
          </a:xfrm>
          <a:custGeom>
            <a:avLst/>
            <a:gdLst/>
            <a:ahLst/>
            <a:cxnLst/>
            <a:rect r="r" b="b" t="t" l="l"/>
            <a:pathLst>
              <a:path h="1655804" w="6793042">
                <a:moveTo>
                  <a:pt x="0" y="0"/>
                </a:moveTo>
                <a:lnTo>
                  <a:pt x="6793042" y="0"/>
                </a:lnTo>
                <a:lnTo>
                  <a:pt x="6793042" y="1655804"/>
                </a:lnTo>
                <a:lnTo>
                  <a:pt x="0" y="1655804"/>
                </a:lnTo>
                <a:lnTo>
                  <a:pt x="0" y="0"/>
                </a:lnTo>
                <a:close/>
              </a:path>
            </a:pathLst>
          </a:custGeom>
          <a:blipFill>
            <a:blip r:embed="rId7"/>
            <a:stretch>
              <a:fillRect l="0" t="0" r="0" b="0"/>
            </a:stretch>
          </a:blipFill>
        </p:spPr>
      </p:sp>
      <p:sp>
        <p:nvSpPr>
          <p:cNvPr name="Freeform 13" id="13"/>
          <p:cNvSpPr/>
          <p:nvPr/>
        </p:nvSpPr>
        <p:spPr>
          <a:xfrm flipH="false" flipV="false" rot="-5400000">
            <a:off x="-3396521" y="5996630"/>
            <a:ext cx="6793042" cy="1655804"/>
          </a:xfrm>
          <a:custGeom>
            <a:avLst/>
            <a:gdLst/>
            <a:ahLst/>
            <a:cxnLst/>
            <a:rect r="r" b="b" t="t" l="l"/>
            <a:pathLst>
              <a:path h="1655804" w="6793042">
                <a:moveTo>
                  <a:pt x="0" y="0"/>
                </a:moveTo>
                <a:lnTo>
                  <a:pt x="6793042" y="0"/>
                </a:lnTo>
                <a:lnTo>
                  <a:pt x="6793042" y="1655804"/>
                </a:lnTo>
                <a:lnTo>
                  <a:pt x="0" y="1655804"/>
                </a:lnTo>
                <a:lnTo>
                  <a:pt x="0" y="0"/>
                </a:lnTo>
                <a:close/>
              </a:path>
            </a:pathLst>
          </a:custGeom>
          <a:blipFill>
            <a:blip r:embed="rId7"/>
            <a:stretch>
              <a:fillRect l="0" t="0" r="0" b="0"/>
            </a:stretch>
          </a:blipFill>
        </p:spPr>
      </p:sp>
      <p:sp>
        <p:nvSpPr>
          <p:cNvPr name="TextBox 14" id="14"/>
          <p:cNvSpPr txBox="true"/>
          <p:nvPr/>
        </p:nvSpPr>
        <p:spPr>
          <a:xfrm rot="0">
            <a:off x="1736006" y="928279"/>
            <a:ext cx="1818906" cy="201015"/>
          </a:xfrm>
          <a:prstGeom prst="rect">
            <a:avLst/>
          </a:prstGeom>
        </p:spPr>
        <p:txBody>
          <a:bodyPr anchor="t" rtlCol="false" tIns="0" lIns="0" bIns="0" rIns="0">
            <a:spAutoFit/>
          </a:bodyPr>
          <a:lstStyle/>
          <a:p>
            <a:pPr algn="l" marL="0" indent="0" lvl="0">
              <a:lnSpc>
                <a:spcPts val="1680"/>
              </a:lnSpc>
              <a:spcBef>
                <a:spcPct val="0"/>
              </a:spcBef>
            </a:pPr>
            <a:r>
              <a:rPr lang="en-US" sz="1200">
                <a:solidFill>
                  <a:srgbClr val="DDDDDD"/>
                </a:solidFill>
                <a:latin typeface="Open Sauce Light"/>
                <a:ea typeface="Open Sauce Light"/>
                <a:cs typeface="Open Sauce Light"/>
                <a:sym typeface="Open Sauce Light"/>
              </a:rPr>
              <a:t>Cybersecurity Training</a:t>
            </a:r>
          </a:p>
        </p:txBody>
      </p:sp>
      <p:sp>
        <p:nvSpPr>
          <p:cNvPr name="TextBox 15" id="15"/>
          <p:cNvSpPr txBox="true"/>
          <p:nvPr/>
        </p:nvSpPr>
        <p:spPr>
          <a:xfrm rot="0">
            <a:off x="15198136" y="928279"/>
            <a:ext cx="2061164" cy="198120"/>
          </a:xfrm>
          <a:prstGeom prst="rect">
            <a:avLst/>
          </a:prstGeom>
        </p:spPr>
        <p:txBody>
          <a:bodyPr anchor="t" rtlCol="false" tIns="0" lIns="0" bIns="0" rIns="0">
            <a:spAutoFit/>
          </a:bodyPr>
          <a:lstStyle/>
          <a:p>
            <a:pPr algn="r" marL="0" indent="0" lvl="0">
              <a:lnSpc>
                <a:spcPts val="1679"/>
              </a:lnSpc>
              <a:spcBef>
                <a:spcPct val="0"/>
              </a:spcBef>
            </a:pPr>
            <a:r>
              <a:rPr lang="en-US" sz="1200">
                <a:solidFill>
                  <a:srgbClr val="DDDDDD"/>
                </a:solidFill>
                <a:latin typeface="Open Sauce Light"/>
                <a:ea typeface="Open Sauce Light"/>
                <a:cs typeface="Open Sauce Light"/>
                <a:sym typeface="Open Sauce Light"/>
              </a:rPr>
              <a:t>September 19, 2026</a:t>
            </a:r>
          </a:p>
        </p:txBody>
      </p:sp>
      <p:sp>
        <p:nvSpPr>
          <p:cNvPr name="TextBox 16" id="16"/>
          <p:cNvSpPr txBox="true"/>
          <p:nvPr/>
        </p:nvSpPr>
        <p:spPr>
          <a:xfrm rot="0">
            <a:off x="1303322" y="2580506"/>
            <a:ext cx="7177847" cy="1144778"/>
          </a:xfrm>
          <a:prstGeom prst="rect">
            <a:avLst/>
          </a:prstGeom>
        </p:spPr>
        <p:txBody>
          <a:bodyPr anchor="t" rtlCol="false" tIns="0" lIns="0" bIns="0" rIns="0">
            <a:spAutoFit/>
          </a:bodyPr>
          <a:lstStyle/>
          <a:p>
            <a:pPr algn="l" marL="0" indent="0" lvl="0">
              <a:lnSpc>
                <a:spcPts val="4583"/>
              </a:lnSpc>
              <a:spcBef>
                <a:spcPct val="0"/>
              </a:spcBef>
            </a:pPr>
            <a:r>
              <a:rPr lang="en-US" b="true" sz="3274">
                <a:solidFill>
                  <a:srgbClr val="DFC869"/>
                </a:solidFill>
                <a:latin typeface="Tomorrow Bold"/>
                <a:ea typeface="Tomorrow Bold"/>
                <a:cs typeface="Tomorrow Bold"/>
                <a:sym typeface="Tomorrow Bold"/>
              </a:rPr>
              <a:t>INTERACTIVE QUIZ — QUESTIONS SET 2</a:t>
            </a:r>
          </a:p>
        </p:txBody>
      </p:sp>
      <p:sp>
        <p:nvSpPr>
          <p:cNvPr name="TextBox 17" id="17"/>
          <p:cNvSpPr txBox="true"/>
          <p:nvPr/>
        </p:nvSpPr>
        <p:spPr>
          <a:xfrm rot="0">
            <a:off x="1303322" y="4223356"/>
            <a:ext cx="6720659" cy="726224"/>
          </a:xfrm>
          <a:prstGeom prst="rect">
            <a:avLst/>
          </a:prstGeom>
        </p:spPr>
        <p:txBody>
          <a:bodyPr anchor="t" rtlCol="false" tIns="0" lIns="0" bIns="0" rIns="0">
            <a:spAutoFit/>
          </a:bodyPr>
          <a:lstStyle/>
          <a:p>
            <a:pPr algn="l" marL="0" indent="0" lvl="0">
              <a:lnSpc>
                <a:spcPts val="1971"/>
              </a:lnSpc>
              <a:spcBef>
                <a:spcPct val="0"/>
              </a:spcBef>
            </a:pPr>
            <a:r>
              <a:rPr lang="en-US" sz="1408">
                <a:solidFill>
                  <a:srgbClr val="A2A2A2"/>
                </a:solidFill>
                <a:latin typeface="Open Sauce Light"/>
                <a:ea typeface="Open Sauce Light"/>
                <a:cs typeface="Open Sauce Light"/>
                <a:sym typeface="Open Sauce Light"/>
              </a:rPr>
              <a:t>Test your knowledge of identifying fake websites and safe browsing practices. Select the best answer for each question. Take your time to think through each scenario carefully.</a:t>
            </a:r>
          </a:p>
        </p:txBody>
      </p:sp>
      <p:sp>
        <p:nvSpPr>
          <p:cNvPr name="TextBox 18" id="18"/>
          <p:cNvSpPr txBox="true"/>
          <p:nvPr/>
        </p:nvSpPr>
        <p:spPr>
          <a:xfrm rot="0">
            <a:off x="2117457" y="7094059"/>
            <a:ext cx="7798586" cy="207158"/>
          </a:xfrm>
          <a:prstGeom prst="rect">
            <a:avLst/>
          </a:prstGeom>
        </p:spPr>
        <p:txBody>
          <a:bodyPr anchor="t" rtlCol="false" tIns="0" lIns="0" bIns="0" rIns="0">
            <a:spAutoFit/>
          </a:bodyPr>
          <a:lstStyle/>
          <a:p>
            <a:pPr algn="l" marL="0" indent="0" lvl="0">
              <a:lnSpc>
                <a:spcPts val="1706"/>
              </a:lnSpc>
              <a:spcBef>
                <a:spcPct val="0"/>
              </a:spcBef>
            </a:pPr>
            <a:r>
              <a:rPr lang="en-US" b="true" sz="1219">
                <a:solidFill>
                  <a:srgbClr val="000000"/>
                </a:solidFill>
                <a:latin typeface="Open Sauce Bold"/>
                <a:ea typeface="Open Sauce Bold"/>
                <a:cs typeface="Open Sauce Bold"/>
                <a:sym typeface="Open Sauce Bold"/>
              </a:rPr>
              <a:t>What should you check to verify a website's legitimacy?</a:t>
            </a:r>
          </a:p>
        </p:txBody>
      </p:sp>
      <p:sp>
        <p:nvSpPr>
          <p:cNvPr name="TextBox 19" id="19"/>
          <p:cNvSpPr txBox="true"/>
          <p:nvPr/>
        </p:nvSpPr>
        <p:spPr>
          <a:xfrm rot="0">
            <a:off x="2117457" y="7595383"/>
            <a:ext cx="7798586" cy="207158"/>
          </a:xfrm>
          <a:prstGeom prst="rect">
            <a:avLst/>
          </a:prstGeom>
        </p:spPr>
        <p:txBody>
          <a:bodyPr anchor="t" rtlCol="false" tIns="0" lIns="0" bIns="0" rIns="0">
            <a:spAutoFit/>
          </a:bodyPr>
          <a:lstStyle/>
          <a:p>
            <a:pPr algn="l" marL="0" indent="0" lvl="0">
              <a:lnSpc>
                <a:spcPts val="1706"/>
              </a:lnSpc>
              <a:spcBef>
                <a:spcPct val="0"/>
              </a:spcBef>
            </a:pPr>
            <a:r>
              <a:rPr lang="en-US" b="true" sz="1219">
                <a:solidFill>
                  <a:srgbClr val="000000"/>
                </a:solidFill>
                <a:latin typeface="Open Sauce Bold"/>
                <a:ea typeface="Open Sauce Bold"/>
                <a:cs typeface="Open Sauce Bold"/>
                <a:sym typeface="Open Sauce Bold"/>
              </a:rPr>
              <a:t>Which of the following URL patterns is most suspicious?</a:t>
            </a:r>
          </a:p>
        </p:txBody>
      </p:sp>
      <p:sp>
        <p:nvSpPr>
          <p:cNvPr name="TextBox 20" id="20"/>
          <p:cNvSpPr txBox="true"/>
          <p:nvPr/>
        </p:nvSpPr>
        <p:spPr>
          <a:xfrm rot="0">
            <a:off x="2117457" y="8096708"/>
            <a:ext cx="7798586" cy="207158"/>
          </a:xfrm>
          <a:prstGeom prst="rect">
            <a:avLst/>
          </a:prstGeom>
        </p:spPr>
        <p:txBody>
          <a:bodyPr anchor="t" rtlCol="false" tIns="0" lIns="0" bIns="0" rIns="0">
            <a:spAutoFit/>
          </a:bodyPr>
          <a:lstStyle/>
          <a:p>
            <a:pPr algn="l" marL="0" indent="0" lvl="0">
              <a:lnSpc>
                <a:spcPts val="1706"/>
              </a:lnSpc>
              <a:spcBef>
                <a:spcPct val="0"/>
              </a:spcBef>
            </a:pPr>
            <a:r>
              <a:rPr lang="en-US" b="true" sz="1219">
                <a:solidFill>
                  <a:srgbClr val="000000"/>
                </a:solidFill>
                <a:latin typeface="Open Sauce Bold"/>
                <a:ea typeface="Open Sauce Bold"/>
                <a:cs typeface="Open Sauce Bold"/>
                <a:sym typeface="Open Sauce Bold"/>
              </a:rPr>
              <a:t>What is the BEST response when a website asks for sensitive data unexpectedly?</a:t>
            </a:r>
          </a:p>
        </p:txBody>
      </p:sp>
      <p:sp>
        <p:nvSpPr>
          <p:cNvPr name="TextBox 21" id="21"/>
          <p:cNvSpPr txBox="true"/>
          <p:nvPr/>
        </p:nvSpPr>
        <p:spPr>
          <a:xfrm rot="0">
            <a:off x="2117457" y="8598033"/>
            <a:ext cx="7798586" cy="207158"/>
          </a:xfrm>
          <a:prstGeom prst="rect">
            <a:avLst/>
          </a:prstGeom>
        </p:spPr>
        <p:txBody>
          <a:bodyPr anchor="t" rtlCol="false" tIns="0" lIns="0" bIns="0" rIns="0">
            <a:spAutoFit/>
          </a:bodyPr>
          <a:lstStyle/>
          <a:p>
            <a:pPr algn="l" marL="0" indent="0" lvl="0">
              <a:lnSpc>
                <a:spcPts val="1706"/>
              </a:lnSpc>
              <a:spcBef>
                <a:spcPct val="0"/>
              </a:spcBef>
            </a:pPr>
            <a:r>
              <a:rPr lang="en-US" b="true" sz="1219">
                <a:solidFill>
                  <a:srgbClr val="000000"/>
                </a:solidFill>
                <a:latin typeface="Open Sauce Bold"/>
                <a:ea typeface="Open Sauce Bold"/>
                <a:cs typeface="Open Sauce Bold"/>
                <a:sym typeface="Open Sauce Bold"/>
              </a:rPr>
              <a:t>True or False: A website with HTTPS is always safe and legitimate.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 r="0" b="-555"/>
            </a:stretch>
          </a:blipFill>
        </p:spPr>
      </p:sp>
      <p:grpSp>
        <p:nvGrpSpPr>
          <p:cNvPr name="Group 3" id="3"/>
          <p:cNvGrpSpPr/>
          <p:nvPr/>
        </p:nvGrpSpPr>
        <p:grpSpPr>
          <a:xfrm rot="0">
            <a:off x="0" y="110181"/>
            <a:ext cx="11303092" cy="10287000"/>
            <a:chOff x="0" y="0"/>
            <a:chExt cx="2976946" cy="2709333"/>
          </a:xfrm>
        </p:grpSpPr>
        <p:sp>
          <p:nvSpPr>
            <p:cNvPr name="Freeform 4" id="4"/>
            <p:cNvSpPr/>
            <p:nvPr/>
          </p:nvSpPr>
          <p:spPr>
            <a:xfrm flipH="false" flipV="false" rot="0">
              <a:off x="0" y="0"/>
              <a:ext cx="2976946" cy="2709333"/>
            </a:xfrm>
            <a:custGeom>
              <a:avLst/>
              <a:gdLst/>
              <a:ahLst/>
              <a:cxnLst/>
              <a:rect r="r" b="b" t="t" l="l"/>
              <a:pathLst>
                <a:path h="2709333" w="2976946">
                  <a:moveTo>
                    <a:pt x="0" y="0"/>
                  </a:moveTo>
                  <a:lnTo>
                    <a:pt x="2976946" y="0"/>
                  </a:lnTo>
                  <a:lnTo>
                    <a:pt x="2976946" y="2709333"/>
                  </a:lnTo>
                  <a:lnTo>
                    <a:pt x="0" y="2709333"/>
                  </a:lnTo>
                  <a:close/>
                </a:path>
              </a:pathLst>
            </a:custGeom>
            <a:gradFill rotWithShape="true">
              <a:gsLst>
                <a:gs pos="0">
                  <a:srgbClr val="000000">
                    <a:alpha val="70000"/>
                  </a:srgbClr>
                </a:gs>
                <a:gs pos="100000">
                  <a:srgbClr val="000000">
                    <a:alpha val="0"/>
                  </a:srgbClr>
                </a:gs>
              </a:gsLst>
              <a:lin ang="0"/>
            </a:gradFill>
          </p:spPr>
        </p:sp>
        <p:sp>
          <p:nvSpPr>
            <p:cNvPr name="TextBox 5" id="5"/>
            <p:cNvSpPr txBox="true"/>
            <p:nvPr/>
          </p:nvSpPr>
          <p:spPr>
            <a:xfrm>
              <a:off x="0" y="-38100"/>
              <a:ext cx="2976946" cy="274743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6" id="6"/>
          <p:cNvSpPr/>
          <p:nvPr/>
        </p:nvSpPr>
        <p:spPr>
          <a:xfrm>
            <a:off x="1028700" y="8789644"/>
            <a:ext cx="16230600" cy="0"/>
          </a:xfrm>
          <a:prstGeom prst="line">
            <a:avLst/>
          </a:prstGeom>
          <a:ln cap="flat" w="28575">
            <a:gradFill>
              <a:gsLst>
                <a:gs pos="0">
                  <a:srgbClr val="FFFFFF">
                    <a:alpha val="100000"/>
                  </a:srgbClr>
                </a:gs>
                <a:gs pos="100000">
                  <a:srgbClr val="EDD46F">
                    <a:alpha val="100000"/>
                  </a:srgbClr>
                </a:gs>
              </a:gsLst>
              <a:lin ang="0"/>
            </a:gradFill>
            <a:prstDash val="solid"/>
            <a:headEnd type="none" len="sm" w="sm"/>
            <a:tailEnd type="none" len="sm" w="sm"/>
          </a:ln>
        </p:spPr>
      </p:sp>
      <p:sp>
        <p:nvSpPr>
          <p:cNvPr name="Freeform 7" id="7"/>
          <p:cNvSpPr/>
          <p:nvPr/>
        </p:nvSpPr>
        <p:spPr>
          <a:xfrm flipH="false" flipV="false" rot="0">
            <a:off x="1075680" y="806069"/>
            <a:ext cx="431972" cy="508467"/>
          </a:xfrm>
          <a:custGeom>
            <a:avLst/>
            <a:gdLst/>
            <a:ahLst/>
            <a:cxnLst/>
            <a:rect r="r" b="b" t="t" l="l"/>
            <a:pathLst>
              <a:path h="508467" w="431972">
                <a:moveTo>
                  <a:pt x="0" y="0"/>
                </a:moveTo>
                <a:lnTo>
                  <a:pt x="431972" y="0"/>
                </a:lnTo>
                <a:lnTo>
                  <a:pt x="431972" y="508467"/>
                </a:lnTo>
                <a:lnTo>
                  <a:pt x="0" y="508467"/>
                </a:lnTo>
                <a:lnTo>
                  <a:pt x="0" y="0"/>
                </a:lnTo>
                <a:close/>
              </a:path>
            </a:pathLst>
          </a:custGeom>
          <a:blipFill>
            <a:blip r:embed="rId3"/>
            <a:stretch>
              <a:fillRect l="0" t="0" r="0" b="0"/>
            </a:stretch>
          </a:blipFill>
        </p:spPr>
      </p:sp>
      <p:grpSp>
        <p:nvGrpSpPr>
          <p:cNvPr name="Group 8" id="8"/>
          <p:cNvGrpSpPr/>
          <p:nvPr/>
        </p:nvGrpSpPr>
        <p:grpSpPr>
          <a:xfrm rot="0">
            <a:off x="17034934" y="-1304251"/>
            <a:ext cx="1671476" cy="8299445"/>
            <a:chOff x="0" y="0"/>
            <a:chExt cx="440224" cy="2185862"/>
          </a:xfrm>
        </p:grpSpPr>
        <p:sp>
          <p:nvSpPr>
            <p:cNvPr name="Freeform 9" id="9"/>
            <p:cNvSpPr/>
            <p:nvPr/>
          </p:nvSpPr>
          <p:spPr>
            <a:xfrm flipH="false" flipV="false" rot="0">
              <a:off x="0" y="0"/>
              <a:ext cx="440224" cy="2185862"/>
            </a:xfrm>
            <a:custGeom>
              <a:avLst/>
              <a:gdLst/>
              <a:ahLst/>
              <a:cxnLst/>
              <a:rect r="r" b="b" t="t" l="l"/>
              <a:pathLst>
                <a:path h="2185862" w="440224">
                  <a:moveTo>
                    <a:pt x="166744" y="0"/>
                  </a:moveTo>
                  <a:lnTo>
                    <a:pt x="273480" y="0"/>
                  </a:lnTo>
                  <a:cubicBezTo>
                    <a:pt x="365570" y="0"/>
                    <a:pt x="440224" y="74654"/>
                    <a:pt x="440224" y="166744"/>
                  </a:cubicBezTo>
                  <a:lnTo>
                    <a:pt x="440224" y="2019118"/>
                  </a:lnTo>
                  <a:cubicBezTo>
                    <a:pt x="440224" y="2111208"/>
                    <a:pt x="365570" y="2185862"/>
                    <a:pt x="273480" y="2185862"/>
                  </a:cubicBezTo>
                  <a:lnTo>
                    <a:pt x="166744" y="2185862"/>
                  </a:lnTo>
                  <a:cubicBezTo>
                    <a:pt x="74654" y="2185862"/>
                    <a:pt x="0" y="2111208"/>
                    <a:pt x="0" y="2019118"/>
                  </a:cubicBezTo>
                  <a:lnTo>
                    <a:pt x="0" y="166744"/>
                  </a:lnTo>
                  <a:cubicBezTo>
                    <a:pt x="0" y="74654"/>
                    <a:pt x="74654" y="0"/>
                    <a:pt x="166744" y="0"/>
                  </a:cubicBezTo>
                  <a:close/>
                </a:path>
              </a:pathLst>
            </a:custGeom>
            <a:gradFill rotWithShape="true">
              <a:gsLst>
                <a:gs pos="0">
                  <a:srgbClr val="EDD46F">
                    <a:alpha val="100000"/>
                  </a:srgbClr>
                </a:gs>
                <a:gs pos="100000">
                  <a:srgbClr val="000000">
                    <a:alpha val="0"/>
                  </a:srgbClr>
                </a:gs>
              </a:gsLst>
              <a:lin ang="2700000"/>
            </a:gradFill>
          </p:spPr>
        </p:sp>
        <p:sp>
          <p:nvSpPr>
            <p:cNvPr name="TextBox 10" id="10"/>
            <p:cNvSpPr txBox="true"/>
            <p:nvPr/>
          </p:nvSpPr>
          <p:spPr>
            <a:xfrm>
              <a:off x="0" y="-38100"/>
              <a:ext cx="440224" cy="2223962"/>
            </a:xfrm>
            <a:prstGeom prst="rect">
              <a:avLst/>
            </a:prstGeom>
          </p:spPr>
          <p:txBody>
            <a:bodyPr anchor="ctr" rtlCol="false" tIns="50800" lIns="50800" bIns="50800" rIns="50800"/>
            <a:lstStyle/>
            <a:p>
              <a:pPr algn="ctr" marL="0" indent="0" lvl="0">
                <a:lnSpc>
                  <a:spcPts val="2710"/>
                </a:lnSpc>
              </a:pPr>
            </a:p>
          </p:txBody>
        </p:sp>
      </p:grpSp>
      <p:grpSp>
        <p:nvGrpSpPr>
          <p:cNvPr name="Group 11" id="11"/>
          <p:cNvGrpSpPr/>
          <p:nvPr/>
        </p:nvGrpSpPr>
        <p:grpSpPr>
          <a:xfrm rot="0">
            <a:off x="16087177" y="-1304251"/>
            <a:ext cx="676332" cy="8299445"/>
            <a:chOff x="0" y="0"/>
            <a:chExt cx="178128" cy="2185862"/>
          </a:xfrm>
        </p:grpSpPr>
        <p:sp>
          <p:nvSpPr>
            <p:cNvPr name="Freeform 12" id="12"/>
            <p:cNvSpPr/>
            <p:nvPr/>
          </p:nvSpPr>
          <p:spPr>
            <a:xfrm flipH="false" flipV="false" rot="0">
              <a:off x="0" y="0"/>
              <a:ext cx="178128" cy="2185862"/>
            </a:xfrm>
            <a:custGeom>
              <a:avLst/>
              <a:gdLst/>
              <a:ahLst/>
              <a:cxnLst/>
              <a:rect r="r" b="b" t="t" l="l"/>
              <a:pathLst>
                <a:path h="2185862" w="178128">
                  <a:moveTo>
                    <a:pt x="89064" y="0"/>
                  </a:moveTo>
                  <a:lnTo>
                    <a:pt x="89064" y="0"/>
                  </a:lnTo>
                  <a:cubicBezTo>
                    <a:pt x="138253" y="0"/>
                    <a:pt x="178128" y="39875"/>
                    <a:pt x="178128" y="89064"/>
                  </a:cubicBezTo>
                  <a:lnTo>
                    <a:pt x="178128" y="2096798"/>
                  </a:lnTo>
                  <a:cubicBezTo>
                    <a:pt x="178128" y="2145987"/>
                    <a:pt x="138253" y="2185862"/>
                    <a:pt x="89064" y="2185862"/>
                  </a:cubicBezTo>
                  <a:lnTo>
                    <a:pt x="89064" y="2185862"/>
                  </a:lnTo>
                  <a:cubicBezTo>
                    <a:pt x="65443" y="2185862"/>
                    <a:pt x="42789" y="2176479"/>
                    <a:pt x="26086" y="2159776"/>
                  </a:cubicBezTo>
                  <a:cubicBezTo>
                    <a:pt x="9384" y="2143073"/>
                    <a:pt x="0" y="2120419"/>
                    <a:pt x="0" y="2096798"/>
                  </a:cubicBezTo>
                  <a:lnTo>
                    <a:pt x="0" y="89064"/>
                  </a:lnTo>
                  <a:cubicBezTo>
                    <a:pt x="0" y="65443"/>
                    <a:pt x="9384" y="42789"/>
                    <a:pt x="26086" y="26086"/>
                  </a:cubicBezTo>
                  <a:cubicBezTo>
                    <a:pt x="42789" y="9384"/>
                    <a:pt x="65443" y="0"/>
                    <a:pt x="89064" y="0"/>
                  </a:cubicBezTo>
                  <a:close/>
                </a:path>
              </a:pathLst>
            </a:custGeom>
            <a:gradFill rotWithShape="true">
              <a:gsLst>
                <a:gs pos="0">
                  <a:srgbClr val="EDD46F">
                    <a:alpha val="100000"/>
                  </a:srgbClr>
                </a:gs>
                <a:gs pos="100000">
                  <a:srgbClr val="000000">
                    <a:alpha val="0"/>
                  </a:srgbClr>
                </a:gs>
              </a:gsLst>
              <a:lin ang="2700000"/>
            </a:gradFill>
          </p:spPr>
        </p:sp>
        <p:sp>
          <p:nvSpPr>
            <p:cNvPr name="TextBox 13" id="13"/>
            <p:cNvSpPr txBox="true"/>
            <p:nvPr/>
          </p:nvSpPr>
          <p:spPr>
            <a:xfrm>
              <a:off x="0" y="-38100"/>
              <a:ext cx="178128" cy="2223962"/>
            </a:xfrm>
            <a:prstGeom prst="rect">
              <a:avLst/>
            </a:prstGeom>
          </p:spPr>
          <p:txBody>
            <a:bodyPr anchor="ctr" rtlCol="false" tIns="50800" lIns="50800" bIns="50800" rIns="50800"/>
            <a:lstStyle/>
            <a:p>
              <a:pPr algn="ctr" marL="0" indent="0" lvl="0">
                <a:lnSpc>
                  <a:spcPts val="2710"/>
                </a:lnSpc>
              </a:pPr>
            </a:p>
          </p:txBody>
        </p:sp>
      </p:grpSp>
      <p:sp>
        <p:nvSpPr>
          <p:cNvPr name="Freeform 14" id="14"/>
          <p:cNvSpPr/>
          <p:nvPr/>
        </p:nvSpPr>
        <p:spPr>
          <a:xfrm flipH="false" flipV="false" rot="0">
            <a:off x="13648950" y="7051207"/>
            <a:ext cx="1292348" cy="684944"/>
          </a:xfrm>
          <a:custGeom>
            <a:avLst/>
            <a:gdLst/>
            <a:ahLst/>
            <a:cxnLst/>
            <a:rect r="r" b="b" t="t" l="l"/>
            <a:pathLst>
              <a:path h="684944" w="1292348">
                <a:moveTo>
                  <a:pt x="0" y="0"/>
                </a:moveTo>
                <a:lnTo>
                  <a:pt x="1292348" y="0"/>
                </a:lnTo>
                <a:lnTo>
                  <a:pt x="1292348" y="684945"/>
                </a:lnTo>
                <a:lnTo>
                  <a:pt x="0" y="684945"/>
                </a:lnTo>
                <a:lnTo>
                  <a:pt x="0" y="0"/>
                </a:lnTo>
                <a:close/>
              </a:path>
            </a:pathLst>
          </a:custGeom>
          <a:blipFill>
            <a:blip r:embed="rId4">
              <a:alphaModFix amt="44999"/>
              <a:extLst>
                <a:ext uri="{96DAC541-7B7A-43D3-8B79-37D633B846F1}">
                  <asvg:svgBlip xmlns:asvg="http://schemas.microsoft.com/office/drawing/2016/SVG/main" r:embed="rId5"/>
                </a:ext>
              </a:extLst>
            </a:blip>
            <a:stretch>
              <a:fillRect l="0" t="0" r="0" b="0"/>
            </a:stretch>
          </a:blipFill>
        </p:spPr>
      </p:sp>
      <p:sp>
        <p:nvSpPr>
          <p:cNvPr name="Freeform 15" id="15"/>
          <p:cNvSpPr/>
          <p:nvPr/>
        </p:nvSpPr>
        <p:spPr>
          <a:xfrm flipH="false" flipV="false" rot="-5400000">
            <a:off x="13204443" y="-545400"/>
            <a:ext cx="5765468" cy="1405333"/>
          </a:xfrm>
          <a:custGeom>
            <a:avLst/>
            <a:gdLst/>
            <a:ahLst/>
            <a:cxnLst/>
            <a:rect r="r" b="b" t="t" l="l"/>
            <a:pathLst>
              <a:path h="1405333" w="5765468">
                <a:moveTo>
                  <a:pt x="0" y="0"/>
                </a:moveTo>
                <a:lnTo>
                  <a:pt x="5765468" y="0"/>
                </a:lnTo>
                <a:lnTo>
                  <a:pt x="5765468" y="1405333"/>
                </a:lnTo>
                <a:lnTo>
                  <a:pt x="0" y="1405333"/>
                </a:lnTo>
                <a:lnTo>
                  <a:pt x="0" y="0"/>
                </a:lnTo>
                <a:close/>
              </a:path>
            </a:pathLst>
          </a:custGeom>
          <a:blipFill>
            <a:blip r:embed="rId6"/>
            <a:stretch>
              <a:fillRect l="0" t="0" r="0" b="0"/>
            </a:stretch>
          </a:blipFill>
        </p:spPr>
      </p:sp>
      <p:sp>
        <p:nvSpPr>
          <p:cNvPr name="Freeform 16" id="16"/>
          <p:cNvSpPr/>
          <p:nvPr/>
        </p:nvSpPr>
        <p:spPr>
          <a:xfrm flipH="false" flipV="false" rot="-5400000">
            <a:off x="14822698" y="6038175"/>
            <a:ext cx="4424472" cy="1078465"/>
          </a:xfrm>
          <a:custGeom>
            <a:avLst/>
            <a:gdLst/>
            <a:ahLst/>
            <a:cxnLst/>
            <a:rect r="r" b="b" t="t" l="l"/>
            <a:pathLst>
              <a:path h="1078465" w="4424472">
                <a:moveTo>
                  <a:pt x="0" y="0"/>
                </a:moveTo>
                <a:lnTo>
                  <a:pt x="4424472" y="0"/>
                </a:lnTo>
                <a:lnTo>
                  <a:pt x="4424472" y="1078465"/>
                </a:lnTo>
                <a:lnTo>
                  <a:pt x="0" y="1078465"/>
                </a:lnTo>
                <a:lnTo>
                  <a:pt x="0" y="0"/>
                </a:lnTo>
                <a:close/>
              </a:path>
            </a:pathLst>
          </a:custGeom>
          <a:blipFill>
            <a:blip r:embed="rId6"/>
            <a:stretch>
              <a:fillRect l="0" t="0" r="0" b="0"/>
            </a:stretch>
          </a:blipFill>
        </p:spPr>
      </p:sp>
      <p:sp>
        <p:nvSpPr>
          <p:cNvPr name="Freeform 17" id="17"/>
          <p:cNvSpPr/>
          <p:nvPr/>
        </p:nvSpPr>
        <p:spPr>
          <a:xfrm flipH="false" flipV="false" rot="-5400000">
            <a:off x="-4220308" y="3621937"/>
            <a:ext cx="8440615" cy="2057400"/>
          </a:xfrm>
          <a:custGeom>
            <a:avLst/>
            <a:gdLst/>
            <a:ahLst/>
            <a:cxnLst/>
            <a:rect r="r" b="b" t="t" l="l"/>
            <a:pathLst>
              <a:path h="2057400" w="8440615">
                <a:moveTo>
                  <a:pt x="0" y="0"/>
                </a:moveTo>
                <a:lnTo>
                  <a:pt x="8440616" y="0"/>
                </a:lnTo>
                <a:lnTo>
                  <a:pt x="8440616" y="2057400"/>
                </a:lnTo>
                <a:lnTo>
                  <a:pt x="0" y="2057400"/>
                </a:lnTo>
                <a:lnTo>
                  <a:pt x="0" y="0"/>
                </a:lnTo>
                <a:close/>
              </a:path>
            </a:pathLst>
          </a:custGeom>
          <a:blipFill>
            <a:blip r:embed="rId6"/>
            <a:stretch>
              <a:fillRect l="0" t="0" r="0" b="0"/>
            </a:stretch>
          </a:blipFill>
        </p:spPr>
      </p:sp>
      <p:grpSp>
        <p:nvGrpSpPr>
          <p:cNvPr name="Group 18" id="18"/>
          <p:cNvGrpSpPr/>
          <p:nvPr/>
        </p:nvGrpSpPr>
        <p:grpSpPr>
          <a:xfrm rot="0">
            <a:off x="1531322" y="6603672"/>
            <a:ext cx="470836" cy="47083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C869"/>
            </a:solidFill>
          </p:spPr>
        </p:sp>
        <p:sp>
          <p:nvSpPr>
            <p:cNvPr name="TextBox 20" id="20"/>
            <p:cNvSpPr txBox="true"/>
            <p:nvPr/>
          </p:nvSpPr>
          <p:spPr>
            <a:xfrm>
              <a:off x="76200" y="38100"/>
              <a:ext cx="660400" cy="698500"/>
            </a:xfrm>
            <a:prstGeom prst="rect">
              <a:avLst/>
            </a:prstGeom>
          </p:spPr>
          <p:txBody>
            <a:bodyPr anchor="ctr" rtlCol="false" tIns="30145" lIns="30145" bIns="30145" rIns="30145"/>
            <a:lstStyle/>
            <a:p>
              <a:pPr algn="ctr" marL="0" indent="0" lvl="0">
                <a:lnSpc>
                  <a:spcPts val="2659"/>
                </a:lnSpc>
                <a:spcBef>
                  <a:spcPct val="0"/>
                </a:spcBef>
              </a:pPr>
            </a:p>
          </p:txBody>
        </p:sp>
      </p:grpSp>
      <p:sp>
        <p:nvSpPr>
          <p:cNvPr name="Freeform 21" id="21"/>
          <p:cNvSpPr/>
          <p:nvPr/>
        </p:nvSpPr>
        <p:spPr>
          <a:xfrm flipH="false" flipV="false" rot="0">
            <a:off x="1595315" y="6731588"/>
            <a:ext cx="341405" cy="238469"/>
          </a:xfrm>
          <a:custGeom>
            <a:avLst/>
            <a:gdLst/>
            <a:ahLst/>
            <a:cxnLst/>
            <a:rect r="r" b="b" t="t" l="l"/>
            <a:pathLst>
              <a:path h="238469" w="341405">
                <a:moveTo>
                  <a:pt x="0" y="0"/>
                </a:moveTo>
                <a:lnTo>
                  <a:pt x="341405" y="0"/>
                </a:lnTo>
                <a:lnTo>
                  <a:pt x="341405" y="238469"/>
                </a:lnTo>
                <a:lnTo>
                  <a:pt x="0" y="238469"/>
                </a:lnTo>
                <a:lnTo>
                  <a:pt x="0" y="0"/>
                </a:lnTo>
                <a:close/>
              </a:path>
            </a:pathLst>
          </a:custGeom>
          <a:blipFill>
            <a:blip r:embed="rId7"/>
            <a:stretch>
              <a:fillRect l="0" t="0" r="0" b="0"/>
            </a:stretch>
          </a:blipFill>
          <a:ln cap="sq">
            <a:noFill/>
            <a:prstDash val="solid"/>
            <a:miter/>
          </a:ln>
        </p:spPr>
      </p:sp>
      <p:grpSp>
        <p:nvGrpSpPr>
          <p:cNvPr name="Group 22" id="22"/>
          <p:cNvGrpSpPr/>
          <p:nvPr/>
        </p:nvGrpSpPr>
        <p:grpSpPr>
          <a:xfrm rot="0">
            <a:off x="1531322" y="7278952"/>
            <a:ext cx="470836" cy="470836"/>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DFC869"/>
            </a:solidFill>
          </p:spPr>
        </p:sp>
        <p:sp>
          <p:nvSpPr>
            <p:cNvPr name="TextBox 24" id="24"/>
            <p:cNvSpPr txBox="true"/>
            <p:nvPr/>
          </p:nvSpPr>
          <p:spPr>
            <a:xfrm>
              <a:off x="76200" y="38100"/>
              <a:ext cx="660400" cy="698500"/>
            </a:xfrm>
            <a:prstGeom prst="rect">
              <a:avLst/>
            </a:prstGeom>
          </p:spPr>
          <p:txBody>
            <a:bodyPr anchor="ctr" rtlCol="false" tIns="30145" lIns="30145" bIns="30145" rIns="30145"/>
            <a:lstStyle/>
            <a:p>
              <a:pPr algn="ctr" marL="0" indent="0" lvl="0">
                <a:lnSpc>
                  <a:spcPts val="2659"/>
                </a:lnSpc>
                <a:spcBef>
                  <a:spcPct val="0"/>
                </a:spcBef>
              </a:pPr>
            </a:p>
          </p:txBody>
        </p:sp>
      </p:grpSp>
      <p:sp>
        <p:nvSpPr>
          <p:cNvPr name="Freeform 25" id="25"/>
          <p:cNvSpPr/>
          <p:nvPr/>
        </p:nvSpPr>
        <p:spPr>
          <a:xfrm flipH="false" flipV="false" rot="0">
            <a:off x="1628776" y="7350865"/>
            <a:ext cx="273107" cy="339315"/>
          </a:xfrm>
          <a:custGeom>
            <a:avLst/>
            <a:gdLst/>
            <a:ahLst/>
            <a:cxnLst/>
            <a:rect r="r" b="b" t="t" l="l"/>
            <a:pathLst>
              <a:path h="339315" w="273107">
                <a:moveTo>
                  <a:pt x="0" y="0"/>
                </a:moveTo>
                <a:lnTo>
                  <a:pt x="273107" y="0"/>
                </a:lnTo>
                <a:lnTo>
                  <a:pt x="273107" y="339315"/>
                </a:lnTo>
                <a:lnTo>
                  <a:pt x="0" y="339315"/>
                </a:lnTo>
                <a:lnTo>
                  <a:pt x="0" y="0"/>
                </a:lnTo>
                <a:close/>
              </a:path>
            </a:pathLst>
          </a:custGeom>
          <a:blipFill>
            <a:blip r:embed="rId8"/>
            <a:stretch>
              <a:fillRect l="0" t="0" r="0" b="0"/>
            </a:stretch>
          </a:blipFill>
        </p:spPr>
      </p:sp>
      <p:sp>
        <p:nvSpPr>
          <p:cNvPr name="TextBox 26" id="26"/>
          <p:cNvSpPr txBox="true"/>
          <p:nvPr/>
        </p:nvSpPr>
        <p:spPr>
          <a:xfrm rot="0">
            <a:off x="1531322" y="2638767"/>
            <a:ext cx="9159371" cy="1559018"/>
          </a:xfrm>
          <a:prstGeom prst="rect">
            <a:avLst/>
          </a:prstGeom>
        </p:spPr>
        <p:txBody>
          <a:bodyPr anchor="t" rtlCol="false" tIns="0" lIns="0" bIns="0" rIns="0">
            <a:spAutoFit/>
          </a:bodyPr>
          <a:lstStyle/>
          <a:p>
            <a:pPr algn="l" marL="0" indent="0" lvl="0">
              <a:lnSpc>
                <a:spcPts val="12791"/>
              </a:lnSpc>
              <a:spcBef>
                <a:spcPct val="0"/>
              </a:spcBef>
            </a:pPr>
            <a:r>
              <a:rPr lang="en-US" b="true" sz="9136">
                <a:solidFill>
                  <a:srgbClr val="DFC869"/>
                </a:solidFill>
                <a:latin typeface="Tomorrow Bold"/>
                <a:ea typeface="Tomorrow Bold"/>
                <a:cs typeface="Tomorrow Bold"/>
                <a:sym typeface="Tomorrow Bold"/>
              </a:rPr>
              <a:t>THANK YOU</a:t>
            </a:r>
          </a:p>
        </p:txBody>
      </p:sp>
      <p:sp>
        <p:nvSpPr>
          <p:cNvPr name="TextBox 27" id="27"/>
          <p:cNvSpPr txBox="true"/>
          <p:nvPr/>
        </p:nvSpPr>
        <p:spPr>
          <a:xfrm rot="0">
            <a:off x="1531322" y="3932985"/>
            <a:ext cx="12117628" cy="1320696"/>
          </a:xfrm>
          <a:prstGeom prst="rect">
            <a:avLst/>
          </a:prstGeom>
        </p:spPr>
        <p:txBody>
          <a:bodyPr anchor="t" rtlCol="false" tIns="0" lIns="0" bIns="0" rIns="0">
            <a:spAutoFit/>
          </a:bodyPr>
          <a:lstStyle/>
          <a:p>
            <a:pPr algn="l" marL="0" indent="0" lvl="0">
              <a:lnSpc>
                <a:spcPts val="10770"/>
              </a:lnSpc>
              <a:spcBef>
                <a:spcPct val="0"/>
              </a:spcBef>
            </a:pPr>
            <a:r>
              <a:rPr lang="en-US" sz="7692">
                <a:solidFill>
                  <a:srgbClr val="FFFFFF"/>
                </a:solidFill>
                <a:latin typeface="Tomorrow"/>
                <a:ea typeface="Tomorrow"/>
                <a:cs typeface="Tomorrow"/>
                <a:sym typeface="Tomorrow"/>
              </a:rPr>
              <a:t>FOR YOUR ATTENTION</a:t>
            </a:r>
          </a:p>
        </p:txBody>
      </p:sp>
      <p:sp>
        <p:nvSpPr>
          <p:cNvPr name="TextBox 28" id="28"/>
          <p:cNvSpPr txBox="true"/>
          <p:nvPr/>
        </p:nvSpPr>
        <p:spPr>
          <a:xfrm rot="0">
            <a:off x="2170476" y="7327019"/>
            <a:ext cx="5053051" cy="302180"/>
          </a:xfrm>
          <a:prstGeom prst="rect">
            <a:avLst/>
          </a:prstGeom>
        </p:spPr>
        <p:txBody>
          <a:bodyPr anchor="t" rtlCol="false" tIns="0" lIns="0" bIns="0" rIns="0">
            <a:spAutoFit/>
          </a:bodyPr>
          <a:lstStyle/>
          <a:p>
            <a:pPr algn="l" marL="0" indent="0" lvl="0">
              <a:lnSpc>
                <a:spcPts val="2529"/>
              </a:lnSpc>
              <a:spcBef>
                <a:spcPct val="0"/>
              </a:spcBef>
            </a:pPr>
            <a:r>
              <a:rPr lang="en-US" sz="1806">
                <a:solidFill>
                  <a:srgbClr val="FFFFFF"/>
                </a:solidFill>
                <a:latin typeface="Open Sauce Light"/>
                <a:ea typeface="Open Sauce Light"/>
                <a:cs typeface="Open Sauce Light"/>
                <a:sym typeface="Open Sauce Light"/>
              </a:rPr>
              <a:t>www.codealpha.tech</a:t>
            </a:r>
          </a:p>
        </p:txBody>
      </p:sp>
      <p:sp>
        <p:nvSpPr>
          <p:cNvPr name="TextBox 29" id="29"/>
          <p:cNvSpPr txBox="true"/>
          <p:nvPr/>
        </p:nvSpPr>
        <p:spPr>
          <a:xfrm rot="0">
            <a:off x="2170476" y="6651740"/>
            <a:ext cx="5053051" cy="302180"/>
          </a:xfrm>
          <a:prstGeom prst="rect">
            <a:avLst/>
          </a:prstGeom>
        </p:spPr>
        <p:txBody>
          <a:bodyPr anchor="t" rtlCol="false" tIns="0" lIns="0" bIns="0" rIns="0">
            <a:spAutoFit/>
          </a:bodyPr>
          <a:lstStyle/>
          <a:p>
            <a:pPr algn="l" marL="0" indent="0" lvl="0">
              <a:lnSpc>
                <a:spcPts val="2529"/>
              </a:lnSpc>
              <a:spcBef>
                <a:spcPct val="0"/>
              </a:spcBef>
            </a:pPr>
            <a:r>
              <a:rPr lang="en-US" sz="1806">
                <a:solidFill>
                  <a:srgbClr val="FFFFFF"/>
                </a:solidFill>
                <a:latin typeface="Open Sauce Light"/>
                <a:ea typeface="Open Sauce Light"/>
                <a:cs typeface="Open Sauce Light"/>
                <a:sym typeface="Open Sauce Light"/>
              </a:rPr>
              <a:t>promiseanthony3953@gmail.com</a:t>
            </a:r>
          </a:p>
        </p:txBody>
      </p:sp>
      <p:sp>
        <p:nvSpPr>
          <p:cNvPr name="TextBox 30" id="30"/>
          <p:cNvSpPr txBox="true"/>
          <p:nvPr/>
        </p:nvSpPr>
        <p:spPr>
          <a:xfrm rot="0">
            <a:off x="1028700" y="9360024"/>
            <a:ext cx="1414611" cy="210306"/>
          </a:xfrm>
          <a:prstGeom prst="rect">
            <a:avLst/>
          </a:prstGeom>
        </p:spPr>
        <p:txBody>
          <a:bodyPr anchor="t" rtlCol="false" tIns="0" lIns="0" bIns="0" rIns="0">
            <a:spAutoFit/>
          </a:bodyPr>
          <a:lstStyle/>
          <a:p>
            <a:pPr algn="l" marL="0" indent="0" lvl="0">
              <a:lnSpc>
                <a:spcPts val="1679"/>
              </a:lnSpc>
              <a:spcBef>
                <a:spcPct val="0"/>
              </a:spcBef>
            </a:pPr>
            <a:r>
              <a:rPr lang="en-US" sz="1199">
                <a:solidFill>
                  <a:srgbClr val="DDDDDD"/>
                </a:solidFill>
                <a:latin typeface="Open Sauce Light"/>
                <a:ea typeface="Open Sauce Light"/>
                <a:cs typeface="Open Sauce Light"/>
                <a:sym typeface="Open Sauce Light"/>
              </a:rPr>
              <a:t>Presented by:</a:t>
            </a:r>
          </a:p>
        </p:txBody>
      </p:sp>
      <p:sp>
        <p:nvSpPr>
          <p:cNvPr name="TextBox 31" id="31"/>
          <p:cNvSpPr txBox="true"/>
          <p:nvPr/>
        </p:nvSpPr>
        <p:spPr>
          <a:xfrm rot="0">
            <a:off x="1736006" y="928279"/>
            <a:ext cx="1818906" cy="233380"/>
          </a:xfrm>
          <a:prstGeom prst="rect">
            <a:avLst/>
          </a:prstGeom>
        </p:spPr>
        <p:txBody>
          <a:bodyPr anchor="t" rtlCol="false" tIns="0" lIns="0" bIns="0" rIns="0">
            <a:spAutoFit/>
          </a:bodyPr>
          <a:lstStyle/>
          <a:p>
            <a:pPr algn="l" marL="0" indent="0" lvl="0">
              <a:lnSpc>
                <a:spcPts val="1981"/>
              </a:lnSpc>
              <a:spcBef>
                <a:spcPct val="0"/>
              </a:spcBef>
            </a:pPr>
            <a:r>
              <a:rPr lang="en-US" sz="1415">
                <a:solidFill>
                  <a:srgbClr val="DDDDDD"/>
                </a:solidFill>
                <a:latin typeface="Open Sauce Light"/>
                <a:ea typeface="Open Sauce Light"/>
                <a:cs typeface="Open Sauce Light"/>
                <a:sym typeface="Open Sauce Light"/>
              </a:rPr>
              <a:t>Cybersecurity Team</a:t>
            </a:r>
          </a:p>
        </p:txBody>
      </p:sp>
      <p:sp>
        <p:nvSpPr>
          <p:cNvPr name="TextBox 32" id="32"/>
          <p:cNvSpPr txBox="true"/>
          <p:nvPr/>
        </p:nvSpPr>
        <p:spPr>
          <a:xfrm rot="0">
            <a:off x="1028700" y="9817981"/>
            <a:ext cx="2664910" cy="289015"/>
          </a:xfrm>
          <a:prstGeom prst="rect">
            <a:avLst/>
          </a:prstGeom>
        </p:spPr>
        <p:txBody>
          <a:bodyPr anchor="t" rtlCol="false" tIns="0" lIns="0" bIns="0" rIns="0">
            <a:spAutoFit/>
          </a:bodyPr>
          <a:lstStyle/>
          <a:p>
            <a:pPr algn="l" marL="0" indent="0" lvl="0">
              <a:lnSpc>
                <a:spcPts val="2445"/>
              </a:lnSpc>
              <a:spcBef>
                <a:spcPct val="0"/>
              </a:spcBef>
            </a:pPr>
            <a:r>
              <a:rPr lang="en-US" b="true" sz="1746">
                <a:solidFill>
                  <a:srgbClr val="DFC869"/>
                </a:solidFill>
                <a:latin typeface="Open Sauce Medium"/>
                <a:ea typeface="Open Sauce Medium"/>
                <a:cs typeface="Open Sauce Medium"/>
                <a:sym typeface="Open Sauce Medium"/>
              </a:rPr>
              <a:t>Stay Alert, Stay Safe!</a:t>
            </a:r>
          </a:p>
        </p:txBody>
      </p:sp>
      <p:sp>
        <p:nvSpPr>
          <p:cNvPr name="TextBox 33" id="33"/>
          <p:cNvSpPr txBox="true"/>
          <p:nvPr/>
        </p:nvSpPr>
        <p:spPr>
          <a:xfrm rot="0">
            <a:off x="13805433" y="9314061"/>
            <a:ext cx="3453867" cy="289015"/>
          </a:xfrm>
          <a:prstGeom prst="rect">
            <a:avLst/>
          </a:prstGeom>
        </p:spPr>
        <p:txBody>
          <a:bodyPr anchor="t" rtlCol="false" tIns="0" lIns="0" bIns="0" rIns="0">
            <a:spAutoFit/>
          </a:bodyPr>
          <a:lstStyle/>
          <a:p>
            <a:pPr algn="r" marL="0" indent="0" lvl="0">
              <a:lnSpc>
                <a:spcPts val="2445"/>
              </a:lnSpc>
              <a:spcBef>
                <a:spcPct val="0"/>
              </a:spcBef>
            </a:pPr>
            <a:r>
              <a:rPr lang="en-US" b="true" sz="1746">
                <a:solidFill>
                  <a:srgbClr val="DDDDDD"/>
                </a:solidFill>
                <a:latin typeface="Open Sauce Medium"/>
                <a:ea typeface="Open Sauce Medium"/>
                <a:cs typeface="Open Sauce Medium"/>
                <a:sym typeface="Open Sauce Medium"/>
              </a:rPr>
              <a:t>19 September 2026</a:t>
            </a:r>
          </a:p>
        </p:txBody>
      </p:sp>
      <p:sp>
        <p:nvSpPr>
          <p:cNvPr name="TextBox 34" id="34"/>
          <p:cNvSpPr txBox="true"/>
          <p:nvPr/>
        </p:nvSpPr>
        <p:spPr>
          <a:xfrm rot="0">
            <a:off x="2106954" y="9338127"/>
            <a:ext cx="1586657" cy="264949"/>
          </a:xfrm>
          <a:prstGeom prst="rect">
            <a:avLst/>
          </a:prstGeom>
        </p:spPr>
        <p:txBody>
          <a:bodyPr anchor="t" rtlCol="false" tIns="0" lIns="0" bIns="0" rIns="0">
            <a:spAutoFit/>
          </a:bodyPr>
          <a:lstStyle/>
          <a:p>
            <a:pPr algn="ctr">
              <a:lnSpc>
                <a:spcPts val="2196"/>
              </a:lnSpc>
              <a:spcBef>
                <a:spcPct val="0"/>
              </a:spcBef>
            </a:pPr>
            <a:r>
              <a:rPr lang="en-US" sz="1568">
                <a:solidFill>
                  <a:srgbClr val="FFFFFF"/>
                </a:solidFill>
                <a:latin typeface="Open Sauce Light"/>
                <a:ea typeface="Open Sauce Light"/>
                <a:cs typeface="Open Sauce Light"/>
                <a:sym typeface="Open Sauce Light"/>
              </a:rPr>
              <a:t>Promise Anthony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DAHVptgQsk4</dc:identifier>
  <dcterms:modified xsi:type="dcterms:W3CDTF">2011-08-01T06:04:30Z</dcterms:modified>
  <cp:revision>1</cp:revision>
  <dc:title>Phishing Awareness and Cybersecurity Training Overview</dc:title>
</cp:coreProperties>
</file>